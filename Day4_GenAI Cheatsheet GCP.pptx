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70" r:id="rId3"/>
    <p:sldId id="271" r:id="rId4"/>
    <p:sldId id="280" r:id="rId5"/>
    <p:sldId id="285" r:id="rId6"/>
    <p:sldId id="272" r:id="rId7"/>
    <p:sldId id="281" r:id="rId8"/>
    <p:sldId id="286" r:id="rId9"/>
    <p:sldId id="273" r:id="rId10"/>
    <p:sldId id="282" r:id="rId11"/>
    <p:sldId id="283" r:id="rId12"/>
    <p:sldId id="284" r:id="rId13"/>
    <p:sldId id="287" r:id="rId14"/>
    <p:sldId id="262" r:id="rId15"/>
    <p:sldId id="275" r:id="rId16"/>
    <p:sldId id="276" r:id="rId17"/>
    <p:sldId id="277" r:id="rId18"/>
    <p:sldId id="278" r:id="rId19"/>
    <p:sldId id="2147475904" r:id="rId20"/>
    <p:sldId id="288" r:id="rId21"/>
    <p:sldId id="279" r:id="rId22"/>
    <p:sldId id="260" r:id="rId23"/>
    <p:sldId id="274" r:id="rId24"/>
    <p:sldId id="2147475910" r:id="rId25"/>
    <p:sldId id="2147475911" r:id="rId26"/>
    <p:sldId id="2147475912" r:id="rId27"/>
    <p:sldId id="2147475913" r:id="rId28"/>
    <p:sldId id="2147475914" r:id="rId29"/>
    <p:sldId id="289" r:id="rId30"/>
    <p:sldId id="290" r:id="rId31"/>
    <p:sldId id="291" r:id="rId32"/>
    <p:sldId id="292" r:id="rId33"/>
    <p:sldId id="258" r:id="rId34"/>
    <p:sldId id="261" r:id="rId35"/>
    <p:sldId id="259" r:id="rId36"/>
    <p:sldId id="257" r:id="rId37"/>
    <p:sldId id="304" r:id="rId38"/>
    <p:sldId id="2147475909" r:id="rId39"/>
    <p:sldId id="268" r:id="rId40"/>
    <p:sldId id="302" r:id="rId41"/>
    <p:sldId id="30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85" d="100"/>
          <a:sy n="85" d="100"/>
        </p:scale>
        <p:origin x="309"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A7D6B3-3628-4508-8BB6-19DB0779EC13}" type="datetimeFigureOut">
              <a:rPr lang="en-IN" smtClean="0"/>
              <a:t>27-11-2025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525949-BB4E-49C7-83C3-AF80D06BC2B7}" type="slidenum">
              <a:rPr lang="en-IN" smtClean="0"/>
              <a:t>‹#›</a:t>
            </a:fld>
            <a:endParaRPr lang="en-IN"/>
          </a:p>
        </p:txBody>
      </p:sp>
    </p:spTree>
    <p:extLst>
      <p:ext uri="{BB962C8B-B14F-4D97-AF65-F5344CB8AC3E}">
        <p14:creationId xmlns:p14="http://schemas.microsoft.com/office/powerpoint/2010/main" val="2200857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AEE46-C64B-8F64-6D42-2D1D8B42CE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227C2-B4C5-EEDC-1775-25CB2201D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9D29C-271D-5AF7-5076-5368A2A108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1FD589-53FB-5E93-9869-0DD0B70E280A}"/>
              </a:ext>
            </a:extLst>
          </p:cNvPr>
          <p:cNvSpPr>
            <a:spLocks noGrp="1"/>
          </p:cNvSpPr>
          <p:nvPr>
            <p:ph type="sldNum" sz="quarter" idx="5"/>
          </p:nvPr>
        </p:nvSpPr>
        <p:spPr/>
        <p:txBody>
          <a:bodyPr/>
          <a:lstStyle/>
          <a:p>
            <a:fld id="{C4DE95D4-B6D6-466A-8DF0-84602B5F49F6}" type="slidenum">
              <a:rPr lang="en-IN" smtClean="0"/>
              <a:t>19</a:t>
            </a:fld>
            <a:endParaRPr lang="en-IN"/>
          </a:p>
        </p:txBody>
      </p:sp>
    </p:spTree>
    <p:extLst>
      <p:ext uri="{BB962C8B-B14F-4D97-AF65-F5344CB8AC3E}">
        <p14:creationId xmlns:p14="http://schemas.microsoft.com/office/powerpoint/2010/main" val="38336197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746893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8792778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67727-CC95-15D6-42A2-8261C5AD5F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AC8F7E-B8AC-3BA1-AC6B-62F08BA943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0F2527-D4E5-465A-305D-8E8BD3DF5EF0}"/>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5" name="Footer Placeholder 4">
            <a:extLst>
              <a:ext uri="{FF2B5EF4-FFF2-40B4-BE49-F238E27FC236}">
                <a16:creationId xmlns:a16="http://schemas.microsoft.com/office/drawing/2014/main" id="{067AF657-C157-9A1C-7B97-83165B804A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BD53D4-AE3D-250A-E9AA-45E3C7708DC9}"/>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2075305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A98BE-9C5A-C386-C374-B045D331B6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878A80-21A6-E039-B870-4FFA94B056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757DE8-A5AD-0FFB-73BC-498EDEEAD0E4}"/>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5" name="Footer Placeholder 4">
            <a:extLst>
              <a:ext uri="{FF2B5EF4-FFF2-40B4-BE49-F238E27FC236}">
                <a16:creationId xmlns:a16="http://schemas.microsoft.com/office/drawing/2014/main" id="{6E05BE06-ABCC-A26D-BAA5-4B73C1744D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B737E6-15EF-FB15-CB8E-9815BF60F7D1}"/>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1964804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AEEB7-50A3-2109-A288-FB938A0E60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A7F05F-8A07-B031-AB22-A02648EA9C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658B1C-8CD5-522D-2F3B-DF2D6CBADA7A}"/>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5" name="Footer Placeholder 4">
            <a:extLst>
              <a:ext uri="{FF2B5EF4-FFF2-40B4-BE49-F238E27FC236}">
                <a16:creationId xmlns:a16="http://schemas.microsoft.com/office/drawing/2014/main" id="{E9305DCA-4401-3914-3D48-9F89AC2193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A6EC5F-E87F-51FA-184C-CAB1564E98A8}"/>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71187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7D2B-1215-B9E4-2BC1-8220F94C57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0902EC-B649-9151-34E7-9A3B0506F5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679F74-AF36-BE52-90AC-F23F048C54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03D645-6C0A-2B77-01E5-ED9C6CF799E0}"/>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6" name="Footer Placeholder 5">
            <a:extLst>
              <a:ext uri="{FF2B5EF4-FFF2-40B4-BE49-F238E27FC236}">
                <a16:creationId xmlns:a16="http://schemas.microsoft.com/office/drawing/2014/main" id="{0C90F81C-1111-2EE8-F86B-0C23A3B9D2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4EE69D-5EF4-F56A-2E73-F16A3DEBB80B}"/>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2316660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BB3F-8993-5799-520E-84B76C3ACD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243D24-D2B8-9F03-6EE0-244A2A116F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372677-C7AC-AECD-93E3-E78D7AD5FB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05D976-8154-F597-E15A-A57868D106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2DFEA1-D831-9670-58A3-895882B75D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A57D25-6B89-08B3-D208-2F79C5878B54}"/>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8" name="Footer Placeholder 7">
            <a:extLst>
              <a:ext uri="{FF2B5EF4-FFF2-40B4-BE49-F238E27FC236}">
                <a16:creationId xmlns:a16="http://schemas.microsoft.com/office/drawing/2014/main" id="{BD5CD2FF-8C88-7B90-1C98-065A129DEF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F13C62-4527-F290-CC70-0580C883C559}"/>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2036796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B0AE-F125-ADA5-FF34-A5C956F725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2CA481-6AEF-743D-DD17-191F90565708}"/>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4" name="Footer Placeholder 3">
            <a:extLst>
              <a:ext uri="{FF2B5EF4-FFF2-40B4-BE49-F238E27FC236}">
                <a16:creationId xmlns:a16="http://schemas.microsoft.com/office/drawing/2014/main" id="{7FF475C8-B555-4370-D45D-67204C5D98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909E1EE-B5A2-FDF2-B731-8971E00724B0}"/>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602898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F408E3-5390-2018-1036-5E235BC1F7DE}"/>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3" name="Footer Placeholder 2">
            <a:extLst>
              <a:ext uri="{FF2B5EF4-FFF2-40B4-BE49-F238E27FC236}">
                <a16:creationId xmlns:a16="http://schemas.microsoft.com/office/drawing/2014/main" id="{9824C5A4-6919-DCC4-0318-91090D1169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120009-2146-EDA5-A990-DBE93F3D491F}"/>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3607757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48AEB-ACF6-AC65-727A-DBD1591CEA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A2E787-512E-6768-344A-B7E2F32C9C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57BA6D-C6CF-A874-E509-DAFDE5CB69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E2D2B-85C6-C0B3-4E78-3B43FCB6275C}"/>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6" name="Footer Placeholder 5">
            <a:extLst>
              <a:ext uri="{FF2B5EF4-FFF2-40B4-BE49-F238E27FC236}">
                <a16:creationId xmlns:a16="http://schemas.microsoft.com/office/drawing/2014/main" id="{70704F05-B586-FF31-5D7A-573D1F05F2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3A5B9F-5DDA-86C4-1CEF-FFB8CAF1A5A3}"/>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36950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1B7A-269F-6F38-0B53-180401150A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BAA424-7411-4CB3-E80D-BBD48B9300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9D10D6-75A8-CC45-5F31-E1835A0AFE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BF2381-0525-89A0-C66E-8D93E63F686C}"/>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6" name="Footer Placeholder 5">
            <a:extLst>
              <a:ext uri="{FF2B5EF4-FFF2-40B4-BE49-F238E27FC236}">
                <a16:creationId xmlns:a16="http://schemas.microsoft.com/office/drawing/2014/main" id="{A16007F4-5ED7-27EA-C7B2-FB6B38AC11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C89F0A-B40C-5955-58D5-45B11FEF24EE}"/>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1302062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4AB7-362C-B057-EABF-4F77D34F34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023F72-29C4-5DCF-C442-378BAC7568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14B14D-2CFC-45DD-6B37-D127329A7DB0}"/>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5" name="Footer Placeholder 4">
            <a:extLst>
              <a:ext uri="{FF2B5EF4-FFF2-40B4-BE49-F238E27FC236}">
                <a16:creationId xmlns:a16="http://schemas.microsoft.com/office/drawing/2014/main" id="{83DEF709-D62B-AF09-4D24-EB40C694D9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7101B0-EEFC-B64E-3742-66DB2FD29049}"/>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1042058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147643-871B-AC38-1852-E3D39D70FD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D6A6A9-D559-CB6C-3C99-468FE73636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A7A80F-040D-2C49-A9C8-74C98BE7806D}"/>
              </a:ext>
            </a:extLst>
          </p:cNvPr>
          <p:cNvSpPr>
            <a:spLocks noGrp="1"/>
          </p:cNvSpPr>
          <p:nvPr>
            <p:ph type="dt" sz="half" idx="10"/>
          </p:nvPr>
        </p:nvSpPr>
        <p:spPr/>
        <p:txBody>
          <a:bodyPr/>
          <a:lstStyle/>
          <a:p>
            <a:fld id="{85FB2D97-47AA-4EF7-B82A-23981CD84BAB}" type="datetimeFigureOut">
              <a:rPr lang="en-IN" smtClean="0"/>
              <a:t>27-11-2025</a:t>
            </a:fld>
            <a:endParaRPr lang="en-IN"/>
          </a:p>
        </p:txBody>
      </p:sp>
      <p:sp>
        <p:nvSpPr>
          <p:cNvPr id="5" name="Footer Placeholder 4">
            <a:extLst>
              <a:ext uri="{FF2B5EF4-FFF2-40B4-BE49-F238E27FC236}">
                <a16:creationId xmlns:a16="http://schemas.microsoft.com/office/drawing/2014/main" id="{5E55AB94-6E60-115E-6DD4-B80CEDCF4C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261781-A47A-6FC8-14F3-BDCE20DDD11A}"/>
              </a:ext>
            </a:extLst>
          </p:cNvPr>
          <p:cNvSpPr>
            <a:spLocks noGrp="1"/>
          </p:cNvSpPr>
          <p:nvPr>
            <p:ph type="sldNum" sz="quarter" idx="12"/>
          </p:nvPr>
        </p:nvSpPr>
        <p:spPr/>
        <p:txBody>
          <a:bodyPr/>
          <a:lstStyle/>
          <a:p>
            <a:fld id="{8B7C0907-9A99-4312-AAE8-36183ED7FB68}" type="slidenum">
              <a:rPr lang="en-IN" smtClean="0"/>
              <a:t>‹#›</a:t>
            </a:fld>
            <a:endParaRPr lang="en-IN"/>
          </a:p>
        </p:txBody>
      </p:sp>
    </p:spTree>
    <p:extLst>
      <p:ext uri="{BB962C8B-B14F-4D97-AF65-F5344CB8AC3E}">
        <p14:creationId xmlns:p14="http://schemas.microsoft.com/office/powerpoint/2010/main" val="957454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2879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1"/>
                </a:solidFill>
                <a:latin typeface="Nokia Pure Headline Light" panose="020B0304020202020204" pitchFamily="34" charset="0"/>
              </a:defRPr>
            </a:lvl1pPr>
          </a:lstStyle>
          <a:p>
            <a:pPr lvl="0"/>
            <a:r>
              <a:rPr lang="en-US" noProof="0"/>
              <a:t>Click to edit </a:t>
            </a:r>
            <a:r>
              <a:rPr lang="en-US" noProof="0" err="1"/>
              <a:t>subheadline</a:t>
            </a:r>
            <a:endParaRPr lang="en-US" noProof="0"/>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0" indent="0">
              <a:lnSpc>
                <a:spcPct val="100000"/>
              </a:lnSpc>
              <a:spcBef>
                <a:spcPts val="0"/>
              </a:spcBef>
              <a:spcAft>
                <a:spcPts val="800"/>
              </a:spcAft>
              <a:buSzPct val="70000"/>
              <a:buNone/>
              <a:defRPr sz="1600">
                <a:solidFill>
                  <a:schemeClr val="tx1"/>
                </a:solidFill>
              </a:defRPr>
            </a:lvl1pPr>
            <a:lvl2pPr marL="239989" indent="0">
              <a:lnSpc>
                <a:spcPct val="100000"/>
              </a:lnSpc>
              <a:spcBef>
                <a:spcPts val="0"/>
              </a:spcBef>
              <a:spcAft>
                <a:spcPts val="800"/>
              </a:spcAft>
              <a:buSzPct val="70000"/>
              <a:buNone/>
              <a:defRPr sz="1600">
                <a:solidFill>
                  <a:schemeClr val="tx1"/>
                </a:solidFill>
              </a:defRPr>
            </a:lvl2pPr>
            <a:lvl3pPr marL="479976" indent="0">
              <a:lnSpc>
                <a:spcPct val="100000"/>
              </a:lnSpc>
              <a:spcBef>
                <a:spcPts val="0"/>
              </a:spcBef>
              <a:spcAft>
                <a:spcPts val="800"/>
              </a:spcAft>
              <a:buSzPct val="70000"/>
              <a:buNone/>
              <a:defRPr sz="1600">
                <a:solidFill>
                  <a:schemeClr val="tx1"/>
                </a:solidFill>
              </a:defRPr>
            </a:lvl3pPr>
            <a:lvl4pPr marL="719965" indent="0">
              <a:lnSpc>
                <a:spcPct val="100000"/>
              </a:lnSpc>
              <a:spcBef>
                <a:spcPts val="0"/>
              </a:spcBef>
              <a:spcAft>
                <a:spcPts val="800"/>
              </a:spcAft>
              <a:buSzPct val="70000"/>
              <a:buNone/>
              <a:defRPr sz="1600">
                <a:solidFill>
                  <a:schemeClr val="tx1"/>
                </a:solidFill>
              </a:defRPr>
            </a:lvl4pPr>
            <a:lvl5pPr marL="959952" indent="0">
              <a:lnSpc>
                <a:spcPct val="100000"/>
              </a:lnSpc>
              <a:spcBef>
                <a:spcPts val="0"/>
              </a:spcBef>
              <a:spcAft>
                <a:spcPts val="800"/>
              </a:spcAft>
              <a:buSzPct val="70000"/>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FF66938-CF4B-D097-1BC6-18EB230030F4}"/>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a:solidFill>
                <a:schemeClr val="tx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cxnSp>
        <p:nvCxnSpPr>
          <p:cNvPr id="12" name="Straight Connector 11">
            <a:extLst>
              <a:ext uri="{FF2B5EF4-FFF2-40B4-BE49-F238E27FC236}">
                <a16:creationId xmlns:a16="http://schemas.microsoft.com/office/drawing/2014/main" id="{CB929F03-682A-4566-CF9F-D3B71DB45756}"/>
              </a:ext>
            </a:extLst>
          </p:cNvPr>
          <p:cNvCxnSpPr>
            <a:cxnSpLocks/>
          </p:cNvCxnSpPr>
          <p:nvPr userDrawn="1"/>
        </p:nvCxnSpPr>
        <p:spPr>
          <a:xfrm>
            <a:off x="1871480" y="6457200"/>
            <a:ext cx="0" cy="192000"/>
          </a:xfrm>
          <a:prstGeom prst="line">
            <a:avLst/>
          </a:prstGeom>
          <a:ln w="6350">
            <a:noFill/>
          </a:ln>
        </p:spPr>
        <p:style>
          <a:lnRef idx="1">
            <a:schemeClr val="accent1"/>
          </a:lnRef>
          <a:fillRef idx="0">
            <a:schemeClr val="accent1"/>
          </a:fillRef>
          <a:effectRef idx="0">
            <a:schemeClr val="accent1"/>
          </a:effectRef>
          <a:fontRef idx="minor">
            <a:schemeClr val="tx1"/>
          </a:fontRef>
        </p:style>
      </p:cxnSp>
      <p:sp>
        <p:nvSpPr>
          <p:cNvPr id="13" name="Footer Placeholder 2">
            <a:extLst>
              <a:ext uri="{FF2B5EF4-FFF2-40B4-BE49-F238E27FC236}">
                <a16:creationId xmlns:a16="http://schemas.microsoft.com/office/drawing/2014/main" id="{FEE177B5-71D7-398C-03E7-932A701525D8}"/>
              </a:ext>
            </a:extLst>
          </p:cNvPr>
          <p:cNvSpPr>
            <a:spLocks noGrp="1"/>
          </p:cNvSpPr>
          <p:nvPr>
            <p:ph type="ftr" sz="quarter" idx="3"/>
          </p:nvPr>
        </p:nvSpPr>
        <p:spPr>
          <a:xfrm>
            <a:off x="2006400" y="6480000"/>
            <a:ext cx="2112000" cy="163200"/>
          </a:xfrm>
          <a:prstGeom prst="rect">
            <a:avLst/>
          </a:prstGeom>
        </p:spPr>
        <p:txBody>
          <a:bodyPr vert="horz" lIns="0" tIns="0" rIns="0" bIns="0" rtlCol="0" anchor="b"/>
          <a:lstStyle>
            <a:lvl1pPr algn="l">
              <a:defRPr sz="1067">
                <a:solidFill>
                  <a:schemeClr val="tx1"/>
                </a:solidFill>
              </a:defRPr>
            </a:lvl1pPr>
          </a:lstStyle>
          <a:p>
            <a:r>
              <a:rPr lang="en-US"/>
              <a:t>Apply a document ID (if applicable).</a:t>
            </a:r>
          </a:p>
        </p:txBody>
      </p:sp>
    </p:spTree>
    <p:extLst>
      <p:ext uri="{BB962C8B-B14F-4D97-AF65-F5344CB8AC3E}">
        <p14:creationId xmlns:p14="http://schemas.microsoft.com/office/powerpoint/2010/main" val="3856665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B3B405-E225-C86C-50BA-635787AC52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3B9D8C-A41A-4DED-9576-75CFD5149B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D5421E-BABA-E671-E98B-EC3A6DCFA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FB2D97-47AA-4EF7-B82A-23981CD84BAB}" type="datetimeFigureOut">
              <a:rPr lang="en-IN" smtClean="0"/>
              <a:t>27-11-2025</a:t>
            </a:fld>
            <a:endParaRPr lang="en-IN"/>
          </a:p>
        </p:txBody>
      </p:sp>
      <p:sp>
        <p:nvSpPr>
          <p:cNvPr id="5" name="Footer Placeholder 4">
            <a:extLst>
              <a:ext uri="{FF2B5EF4-FFF2-40B4-BE49-F238E27FC236}">
                <a16:creationId xmlns:a16="http://schemas.microsoft.com/office/drawing/2014/main" id="{979878E3-1BCE-FDF5-4DAB-F9A08754E9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4836FD0-9E0B-35B5-3066-EB2F5DE8B5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7C0907-9A99-4312-AAE8-36183ED7FB68}" type="slidenum">
              <a:rPr lang="en-IN" smtClean="0"/>
              <a:t>‹#›</a:t>
            </a:fld>
            <a:endParaRPr lang="en-IN"/>
          </a:p>
        </p:txBody>
      </p:sp>
    </p:spTree>
    <p:extLst>
      <p:ext uri="{BB962C8B-B14F-4D97-AF65-F5344CB8AC3E}">
        <p14:creationId xmlns:p14="http://schemas.microsoft.com/office/powerpoint/2010/main" val="766943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bin"/></Relationships>
</file>

<file path=ppt/slides/_rels/slide4.xml.rels><?xml version="1.0" encoding="UTF-8" standalone="yes"?>
<Relationships xmlns="http://schemas.openxmlformats.org/package/2006/relationships"><Relationship Id="rId3" Type="http://schemas.openxmlformats.org/officeDocument/2006/relationships/image" Target="../media/image3.bin"/><Relationship Id="rId7" Type="http://schemas.openxmlformats.org/officeDocument/2006/relationships/image" Target="../media/image7.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bin"/><Relationship Id="rId5" Type="http://schemas.openxmlformats.org/officeDocument/2006/relationships/image" Target="../media/image5.bin"/><Relationship Id="rId4" Type="http://schemas.openxmlformats.org/officeDocument/2006/relationships/image" Target="../media/image4.bin"/></Relationships>
</file>

<file path=ppt/slides/_rels/slide5.xml.rels><?xml version="1.0" encoding="UTF-8" standalone="yes"?>
<Relationships xmlns="http://schemas.openxmlformats.org/package/2006/relationships"><Relationship Id="rId8" Type="http://schemas.openxmlformats.org/officeDocument/2006/relationships/image" Target="../media/image13.bin"/><Relationship Id="rId3" Type="http://schemas.openxmlformats.org/officeDocument/2006/relationships/image" Target="../media/image8.bin"/><Relationship Id="rId7" Type="http://schemas.openxmlformats.org/officeDocument/2006/relationships/image" Target="../media/image12.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bin"/><Relationship Id="rId11" Type="http://schemas.openxmlformats.org/officeDocument/2006/relationships/image" Target="../media/image16.bin"/><Relationship Id="rId5" Type="http://schemas.openxmlformats.org/officeDocument/2006/relationships/image" Target="../media/image10.bin"/><Relationship Id="rId10" Type="http://schemas.openxmlformats.org/officeDocument/2006/relationships/image" Target="../media/image15.bin"/><Relationship Id="rId4" Type="http://schemas.openxmlformats.org/officeDocument/2006/relationships/image" Target="../media/image9.bin"/><Relationship Id="rId9" Type="http://schemas.openxmlformats.org/officeDocument/2006/relationships/image" Target="../media/image14.bin"/></Relationships>
</file>

<file path=ppt/slides/_rels/slide6.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bin"/></Relationships>
</file>

<file path=ppt/slides/_rels/slide7.xml.rels><?xml version="1.0" encoding="UTF-8" standalone="yes"?>
<Relationships xmlns="http://schemas.openxmlformats.org/package/2006/relationships"><Relationship Id="rId8" Type="http://schemas.openxmlformats.org/officeDocument/2006/relationships/image" Target="../media/image20.bin"/><Relationship Id="rId3" Type="http://schemas.openxmlformats.org/officeDocument/2006/relationships/image" Target="../media/image17.bin"/><Relationship Id="rId7" Type="http://schemas.openxmlformats.org/officeDocument/2006/relationships/image" Target="../media/image6.bin"/><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9.bin"/><Relationship Id="rId11" Type="http://schemas.openxmlformats.org/officeDocument/2006/relationships/image" Target="../media/image23.bin"/><Relationship Id="rId5" Type="http://schemas.openxmlformats.org/officeDocument/2006/relationships/image" Target="../media/image5.bin"/><Relationship Id="rId10" Type="http://schemas.openxmlformats.org/officeDocument/2006/relationships/image" Target="../media/image22.bin"/><Relationship Id="rId4" Type="http://schemas.openxmlformats.org/officeDocument/2006/relationships/image" Target="../media/image18.bin"/><Relationship Id="rId9" Type="http://schemas.openxmlformats.org/officeDocument/2006/relationships/image" Target="../media/image21.bin"/></Relationships>
</file>

<file path=ppt/slides/_rels/slide8.xml.rels><?xml version="1.0" encoding="UTF-8" standalone="yes"?>
<Relationships xmlns="http://schemas.openxmlformats.org/package/2006/relationships"><Relationship Id="rId8" Type="http://schemas.openxmlformats.org/officeDocument/2006/relationships/image" Target="../media/image28.bin"/><Relationship Id="rId3" Type="http://schemas.openxmlformats.org/officeDocument/2006/relationships/image" Target="../media/image24.bin"/><Relationship Id="rId7" Type="http://schemas.openxmlformats.org/officeDocument/2006/relationships/image" Target="../media/image27.bin"/><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6.bin"/><Relationship Id="rId5" Type="http://schemas.openxmlformats.org/officeDocument/2006/relationships/image" Target="../media/image25.bin"/><Relationship Id="rId10" Type="http://schemas.openxmlformats.org/officeDocument/2006/relationships/image" Target="../media/image30.bin"/><Relationship Id="rId4" Type="http://schemas.openxmlformats.org/officeDocument/2006/relationships/image" Target="../media/image12.bin"/><Relationship Id="rId9" Type="http://schemas.openxmlformats.org/officeDocument/2006/relationships/image" Target="../media/image29.bin"/></Relationships>
</file>

<file path=ppt/slides/_rels/slide9.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1.bin"/><Relationship Id="rId4" Type="http://schemas.openxmlformats.org/officeDocument/2006/relationships/image" Target="../media/image2.bin"/></Relationships>
</file>

<file path=ppt/slides/_rels/slide10.xml.rels><?xml version="1.0" encoding="UTF-8" standalone="yes"?>
<Relationships xmlns="http://schemas.openxmlformats.org/package/2006/relationships"><Relationship Id="rId8" Type="http://schemas.openxmlformats.org/officeDocument/2006/relationships/image" Target="../media/image36.bin"/><Relationship Id="rId3" Type="http://schemas.openxmlformats.org/officeDocument/2006/relationships/image" Target="../media/image5.bin"/><Relationship Id="rId7" Type="http://schemas.openxmlformats.org/officeDocument/2006/relationships/image" Target="../media/image35.bin"/><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4.bin"/><Relationship Id="rId5" Type="http://schemas.openxmlformats.org/officeDocument/2006/relationships/image" Target="../media/image33.bin"/><Relationship Id="rId4" Type="http://schemas.openxmlformats.org/officeDocument/2006/relationships/image" Target="../media/image32.bin"/><Relationship Id="rId9" Type="http://schemas.openxmlformats.org/officeDocument/2006/relationships/image" Target="../media/image37.bin"/></Relationships>
</file>

<file path=ppt/slides/_rels/slide11.xml.rels><?xml version="1.0" encoding="UTF-8" standalone="yes"?>
<Relationships xmlns="http://schemas.openxmlformats.org/package/2006/relationships"><Relationship Id="rId3" Type="http://schemas.openxmlformats.org/officeDocument/2006/relationships/image" Target="../media/image38.bin"/><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1.bin"/><Relationship Id="rId5" Type="http://schemas.openxmlformats.org/officeDocument/2006/relationships/image" Target="../media/image40.bin"/><Relationship Id="rId4" Type="http://schemas.openxmlformats.org/officeDocument/2006/relationships/image" Target="../media/image39.bin"/></Relationships>
</file>

<file path=ppt/slides/_rels/slide12.xml.rels><?xml version="1.0" encoding="UTF-8" standalone="yes"?>
<Relationships xmlns="http://schemas.openxmlformats.org/package/2006/relationships"><Relationship Id="rId3" Type="http://schemas.openxmlformats.org/officeDocument/2006/relationships/image" Target="../media/image38.bin"/><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2.bin"/><Relationship Id="rId5" Type="http://schemas.openxmlformats.org/officeDocument/2006/relationships/image" Target="../media/image40.bin"/><Relationship Id="rId4" Type="http://schemas.openxmlformats.org/officeDocument/2006/relationships/image" Target="../media/image39.bin"/></Relationships>
</file>

<file path=ppt/slides/_rels/slide13.xml.rels><?xml version="1.0" encoding="UTF-8" standalone="yes"?>
<Relationships xmlns="http://schemas.openxmlformats.org/package/2006/relationships"><Relationship Id="rId8" Type="http://schemas.openxmlformats.org/officeDocument/2006/relationships/image" Target="../media/image47.bin"/><Relationship Id="rId3" Type="http://schemas.openxmlformats.org/officeDocument/2006/relationships/image" Target="../media/image10.bin"/><Relationship Id="rId7" Type="http://schemas.openxmlformats.org/officeDocument/2006/relationships/image" Target="../media/image46.bin"/><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5.bin"/><Relationship Id="rId5" Type="http://schemas.openxmlformats.org/officeDocument/2006/relationships/image" Target="../media/image44.bin"/><Relationship Id="rId4" Type="http://schemas.openxmlformats.org/officeDocument/2006/relationships/image" Target="../media/image43.bin"/><Relationship Id="rId9" Type="http://schemas.openxmlformats.org/officeDocument/2006/relationships/image" Target="../media/image48.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9.bin"/><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51.bin"/><Relationship Id="rId4" Type="http://schemas.openxmlformats.org/officeDocument/2006/relationships/image" Target="../media/image50.bin"/></Relationships>
</file>

<file path=ppt/slides/_rels/slide16.xml.rels><?xml version="1.0" encoding="UTF-8" standalone="yes"?>
<Relationships xmlns="http://schemas.openxmlformats.org/package/2006/relationships"><Relationship Id="rId3" Type="http://schemas.openxmlformats.org/officeDocument/2006/relationships/image" Target="../media/image52.bin"/><Relationship Id="rId7" Type="http://schemas.openxmlformats.org/officeDocument/2006/relationships/image" Target="../media/image56.bin"/><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5.bin"/><Relationship Id="rId5" Type="http://schemas.openxmlformats.org/officeDocument/2006/relationships/image" Target="../media/image54.bin"/><Relationship Id="rId4" Type="http://schemas.openxmlformats.org/officeDocument/2006/relationships/image" Target="../media/image53.bin"/></Relationships>
</file>

<file path=ppt/slides/_rels/slide17.xml.rels><?xml version="1.0" encoding="UTF-8" standalone="yes"?>
<Relationships xmlns="http://schemas.openxmlformats.org/package/2006/relationships"><Relationship Id="rId3" Type="http://schemas.openxmlformats.org/officeDocument/2006/relationships/image" Target="../media/image57.bin"/><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60.bin"/><Relationship Id="rId5" Type="http://schemas.openxmlformats.org/officeDocument/2006/relationships/image" Target="../media/image59.bin"/><Relationship Id="rId4" Type="http://schemas.openxmlformats.org/officeDocument/2006/relationships/image" Target="../media/image58.bin"/></Relationships>
</file>

<file path=ppt/slides/_rels/slide18.xml.rels><?xml version="1.0" encoding="UTF-8" standalone="yes"?>
<Relationships xmlns="http://schemas.openxmlformats.org/package/2006/relationships"><Relationship Id="rId3" Type="http://schemas.openxmlformats.org/officeDocument/2006/relationships/image" Target="../media/image60.bin"/><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66.bin"/><Relationship Id="rId3" Type="http://schemas.openxmlformats.org/officeDocument/2006/relationships/image" Target="../media/image61.bin"/><Relationship Id="rId7" Type="http://schemas.openxmlformats.org/officeDocument/2006/relationships/image" Target="../media/image65.bin"/><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64.bin"/><Relationship Id="rId5" Type="http://schemas.openxmlformats.org/officeDocument/2006/relationships/image" Target="../media/image63.bin"/><Relationship Id="rId10" Type="http://schemas.openxmlformats.org/officeDocument/2006/relationships/image" Target="../media/image68.bin"/><Relationship Id="rId4" Type="http://schemas.openxmlformats.org/officeDocument/2006/relationships/image" Target="../media/image62.bin"/><Relationship Id="rId9" Type="http://schemas.openxmlformats.org/officeDocument/2006/relationships/image" Target="../media/image67.bin"/></Relationships>
</file>

<file path=ppt/slides/_rels/slide21.xml.rels><?xml version="1.0" encoding="UTF-8" standalone="yes"?>
<Relationships xmlns="http://schemas.openxmlformats.org/package/2006/relationships"><Relationship Id="rId8" Type="http://schemas.openxmlformats.org/officeDocument/2006/relationships/image" Target="../media/image32.bin"/><Relationship Id="rId3" Type="http://schemas.openxmlformats.org/officeDocument/2006/relationships/image" Target="../media/image3.bin"/><Relationship Id="rId7" Type="http://schemas.openxmlformats.org/officeDocument/2006/relationships/image" Target="../media/image6.bin"/><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5.bin"/><Relationship Id="rId5" Type="http://schemas.openxmlformats.org/officeDocument/2006/relationships/image" Target="../media/image34.bin"/><Relationship Id="rId10" Type="http://schemas.openxmlformats.org/officeDocument/2006/relationships/image" Target="../media/image35.bin"/><Relationship Id="rId4" Type="http://schemas.openxmlformats.org/officeDocument/2006/relationships/image" Target="../media/image69.bin"/><Relationship Id="rId9" Type="http://schemas.openxmlformats.org/officeDocument/2006/relationships/image" Target="../media/image7.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70.bin"/><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73.bin"/><Relationship Id="rId5" Type="http://schemas.openxmlformats.org/officeDocument/2006/relationships/image" Target="../media/image72.bin"/><Relationship Id="rId4" Type="http://schemas.openxmlformats.org/officeDocument/2006/relationships/image" Target="../media/image7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76.bin"/><Relationship Id="rId3" Type="http://schemas.openxmlformats.org/officeDocument/2006/relationships/image" Target="../media/image74.bin"/><Relationship Id="rId7" Type="http://schemas.openxmlformats.org/officeDocument/2006/relationships/image" Target="../media/image10.bin"/><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43.bin"/><Relationship Id="rId5" Type="http://schemas.openxmlformats.org/officeDocument/2006/relationships/image" Target="../media/image75.bin"/><Relationship Id="rId10" Type="http://schemas.openxmlformats.org/officeDocument/2006/relationships/image" Target="../media/image11.bin"/><Relationship Id="rId4" Type="http://schemas.openxmlformats.org/officeDocument/2006/relationships/image" Target="../media/image13.bin"/><Relationship Id="rId9" Type="http://schemas.openxmlformats.org/officeDocument/2006/relationships/image" Target="../media/image77.bin"/></Relationships>
</file>

<file path=ppt/slides/_rels/slide30.xml.rels><?xml version="1.0" encoding="UTF-8" standalone="yes"?>
<Relationships xmlns="http://schemas.openxmlformats.org/package/2006/relationships"><Relationship Id="rId8" Type="http://schemas.openxmlformats.org/officeDocument/2006/relationships/image" Target="../media/image8.bin"/><Relationship Id="rId3" Type="http://schemas.openxmlformats.org/officeDocument/2006/relationships/image" Target="../media/image76.bin"/><Relationship Id="rId7" Type="http://schemas.openxmlformats.org/officeDocument/2006/relationships/image" Target="../media/image43.bin"/><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79.bin"/><Relationship Id="rId11" Type="http://schemas.openxmlformats.org/officeDocument/2006/relationships/image" Target="../media/image82.bin"/><Relationship Id="rId5" Type="http://schemas.openxmlformats.org/officeDocument/2006/relationships/image" Target="../media/image74.bin"/><Relationship Id="rId10" Type="http://schemas.openxmlformats.org/officeDocument/2006/relationships/image" Target="../media/image81.bin"/><Relationship Id="rId4" Type="http://schemas.openxmlformats.org/officeDocument/2006/relationships/image" Target="../media/image78.bin"/><Relationship Id="rId9" Type="http://schemas.openxmlformats.org/officeDocument/2006/relationships/image" Target="../media/image80.bin"/></Relationships>
</file>

<file path=ppt/slides/_rels/slide31.xml.rels><?xml version="1.0" encoding="UTF-8" standalone="yes"?>
<Relationships xmlns="http://schemas.openxmlformats.org/package/2006/relationships"><Relationship Id="rId8" Type="http://schemas.openxmlformats.org/officeDocument/2006/relationships/image" Target="../media/image85.bin"/><Relationship Id="rId3" Type="http://schemas.openxmlformats.org/officeDocument/2006/relationships/image" Target="../media/image77.bin"/><Relationship Id="rId7" Type="http://schemas.openxmlformats.org/officeDocument/2006/relationships/image" Target="../media/image84.bin"/><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81.bin"/><Relationship Id="rId5" Type="http://schemas.openxmlformats.org/officeDocument/2006/relationships/image" Target="../media/image83.bin"/><Relationship Id="rId4" Type="http://schemas.openxmlformats.org/officeDocument/2006/relationships/image" Target="../media/image27.bin"/></Relationships>
</file>

<file path=ppt/slides/_rels/slide32.xml.rels><?xml version="1.0" encoding="UTF-8" standalone="yes"?>
<Relationships xmlns="http://schemas.openxmlformats.org/package/2006/relationships"><Relationship Id="rId8" Type="http://schemas.openxmlformats.org/officeDocument/2006/relationships/image" Target="../media/image30.bin"/><Relationship Id="rId3" Type="http://schemas.openxmlformats.org/officeDocument/2006/relationships/image" Target="../media/image76.bin"/><Relationship Id="rId7" Type="http://schemas.openxmlformats.org/officeDocument/2006/relationships/image" Target="../media/image9.bin"/><Relationship Id="rId12" Type="http://schemas.openxmlformats.org/officeDocument/2006/relationships/image" Target="../media/image92.bin"/><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88.bin"/><Relationship Id="rId11" Type="http://schemas.openxmlformats.org/officeDocument/2006/relationships/image" Target="../media/image91.bin"/><Relationship Id="rId5" Type="http://schemas.openxmlformats.org/officeDocument/2006/relationships/image" Target="../media/image87.bin"/><Relationship Id="rId10" Type="http://schemas.openxmlformats.org/officeDocument/2006/relationships/image" Target="../media/image90.bin"/><Relationship Id="rId4" Type="http://schemas.openxmlformats.org/officeDocument/2006/relationships/image" Target="../media/image86.bin"/><Relationship Id="rId9" Type="http://schemas.openxmlformats.org/officeDocument/2006/relationships/image" Target="../media/image89.bin"/></Relationships>
</file>

<file path=ppt/slides/_rels/slide33.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hyperlink" Target="https://github.com/GoogleCloudPlatform/genai-for-marketing"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github.com/Azure-Samples/azureai-travel-agent-python" TargetMode="External"/><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hyperlink" Target="https://github.com/Azure-Samples/contoso-creative-writer"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hyperlink" Target="https://github.com/Azure-Samples/contoso-cha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C3EBE-DDC9-42C1-780B-EB0152551FCA}"/>
              </a:ext>
            </a:extLst>
          </p:cNvPr>
          <p:cNvSpPr>
            <a:spLocks noGrp="1"/>
          </p:cNvSpPr>
          <p:nvPr>
            <p:ph type="ctrTitle"/>
          </p:nvPr>
        </p:nvSpPr>
        <p:spPr/>
        <p:txBody>
          <a:bodyPr/>
          <a:lstStyle/>
          <a:p>
            <a:r>
              <a:rPr lang="en-IN" dirty="0"/>
              <a:t>GenAI Summary</a:t>
            </a:r>
          </a:p>
        </p:txBody>
      </p:sp>
      <p:sp>
        <p:nvSpPr>
          <p:cNvPr id="3" name="Subtitle 2">
            <a:extLst>
              <a:ext uri="{FF2B5EF4-FFF2-40B4-BE49-F238E27FC236}">
                <a16:creationId xmlns:a16="http://schemas.microsoft.com/office/drawing/2014/main" id="{9FE3B086-37E9-4EBD-5777-44E411DCE206}"/>
              </a:ext>
            </a:extLst>
          </p:cNvPr>
          <p:cNvSpPr>
            <a:spLocks noGrp="1"/>
          </p:cNvSpPr>
          <p:nvPr>
            <p:ph type="subTitle" idx="1"/>
          </p:nvPr>
        </p:nvSpPr>
        <p:spPr/>
        <p:txBody>
          <a:bodyPr/>
          <a:lstStyle/>
          <a:p>
            <a:r>
              <a:rPr lang="en-IN" dirty="0"/>
              <a:t>Anshu Pandey</a:t>
            </a:r>
          </a:p>
        </p:txBody>
      </p:sp>
    </p:spTree>
    <p:extLst>
      <p:ext uri="{BB962C8B-B14F-4D97-AF65-F5344CB8AC3E}">
        <p14:creationId xmlns:p14="http://schemas.microsoft.com/office/powerpoint/2010/main" val="2643770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6783908"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Four Core GenAI Architectural Patterns</a:t>
            </a:r>
            <a:endParaRPr lang="en-US" sz="2700" dirty="0"/>
          </a:p>
        </p:txBody>
      </p:sp>
      <p:sp>
        <p:nvSpPr>
          <p:cNvPr id="4" name="Shape 1"/>
          <p:cNvSpPr/>
          <p:nvPr/>
        </p:nvSpPr>
        <p:spPr>
          <a:xfrm>
            <a:off x="381000" y="1085851"/>
            <a:ext cx="5572125" cy="1247775"/>
          </a:xfrm>
          <a:prstGeom prst="rect">
            <a:avLst/>
          </a:prstGeom>
          <a:solidFill>
            <a:srgbClr val="FFFFFF"/>
          </a:solidFill>
          <a:ln/>
        </p:spPr>
        <p:txBody>
          <a:bodyPr/>
          <a:lstStyle/>
          <a:p>
            <a:endParaRPr lang="en-IN" sz="2400"/>
          </a:p>
        </p:txBody>
      </p:sp>
      <p:sp>
        <p:nvSpPr>
          <p:cNvPr id="5" name="Shape 2"/>
          <p:cNvSpPr/>
          <p:nvPr/>
        </p:nvSpPr>
        <p:spPr>
          <a:xfrm>
            <a:off x="508332" y="1709738"/>
            <a:ext cx="47625" cy="1247775"/>
          </a:xfrm>
          <a:prstGeom prst="rect">
            <a:avLst/>
          </a:prstGeom>
          <a:solidFill>
            <a:srgbClr val="2A9D8F"/>
          </a:solidFill>
          <a:ln/>
        </p:spPr>
        <p:txBody>
          <a:bodyPr/>
          <a:lstStyle/>
          <a:p>
            <a:endParaRPr lang="en-IN" sz="2400"/>
          </a:p>
        </p:txBody>
      </p:sp>
      <p:sp>
        <p:nvSpPr>
          <p:cNvPr id="6" name="Text 3"/>
          <p:cNvSpPr/>
          <p:nvPr/>
        </p:nvSpPr>
        <p:spPr>
          <a:xfrm>
            <a:off x="622632" y="1854178"/>
            <a:ext cx="2771593" cy="254044"/>
          </a:xfrm>
          <a:prstGeom prst="rect">
            <a:avLst/>
          </a:prstGeom>
          <a:noFill/>
          <a:ln/>
        </p:spPr>
        <p:txBody>
          <a:bodyPr wrap="none" lIns="0" tIns="0" rIns="0" bIns="0" rtlCol="0" anchor="ctr">
            <a:spAutoFit/>
          </a:bodyPr>
          <a:lstStyle/>
          <a:p>
            <a:r>
              <a:rPr lang="en-US" sz="1651" b="1" dirty="0">
                <a:solidFill>
                  <a:srgbClr val="000000"/>
                </a:solidFill>
                <a:latin typeface="Noto Sans" pitchFamily="34" charset="0"/>
                <a:ea typeface="Noto Sans" pitchFamily="34" charset="-122"/>
                <a:cs typeface="Noto Sans" pitchFamily="34" charset="-120"/>
              </a:rPr>
              <a:t>1. Prompt-based Solutions</a:t>
            </a:r>
            <a:endParaRPr lang="en-US" sz="1651" dirty="0"/>
          </a:p>
        </p:txBody>
      </p:sp>
      <p:sp>
        <p:nvSpPr>
          <p:cNvPr id="7" name="Text 4"/>
          <p:cNvSpPr/>
          <p:nvPr/>
        </p:nvSpPr>
        <p:spPr>
          <a:xfrm>
            <a:off x="622631" y="2214430"/>
            <a:ext cx="3263714"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Direct LLM calls with light memory requirements</a:t>
            </a:r>
            <a:endParaRPr lang="en-US" sz="1116" dirty="0"/>
          </a:p>
        </p:txBody>
      </p:sp>
      <p:sp>
        <p:nvSpPr>
          <p:cNvPr id="8" name="Text 5"/>
          <p:cNvSpPr/>
          <p:nvPr/>
        </p:nvSpPr>
        <p:spPr>
          <a:xfrm>
            <a:off x="813132" y="2482379"/>
            <a:ext cx="271869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Simple implementation, low latency responses</a:t>
            </a:r>
            <a:endParaRPr lang="en-US" sz="976" dirty="0"/>
          </a:p>
        </p:txBody>
      </p:sp>
      <p:sp>
        <p:nvSpPr>
          <p:cNvPr id="9" name="Text 6"/>
          <p:cNvSpPr/>
          <p:nvPr/>
        </p:nvSpPr>
        <p:spPr>
          <a:xfrm>
            <a:off x="813131" y="2672879"/>
            <a:ext cx="240610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Ideal for content generation, simple Q&amp;A</a:t>
            </a:r>
            <a:endParaRPr lang="en-US" sz="976" dirty="0"/>
          </a:p>
        </p:txBody>
      </p:sp>
      <p:sp>
        <p:nvSpPr>
          <p:cNvPr id="10" name="Shape 7"/>
          <p:cNvSpPr/>
          <p:nvPr/>
        </p:nvSpPr>
        <p:spPr>
          <a:xfrm>
            <a:off x="381000" y="2832089"/>
            <a:ext cx="5572125" cy="1247775"/>
          </a:xfrm>
          <a:prstGeom prst="rect">
            <a:avLst/>
          </a:prstGeom>
          <a:solidFill>
            <a:srgbClr val="FFFFFF"/>
          </a:solidFill>
          <a:ln/>
        </p:spPr>
        <p:txBody>
          <a:bodyPr/>
          <a:lstStyle/>
          <a:p>
            <a:endParaRPr lang="en-IN" sz="2400"/>
          </a:p>
        </p:txBody>
      </p:sp>
      <p:sp>
        <p:nvSpPr>
          <p:cNvPr id="11" name="Shape 8"/>
          <p:cNvSpPr/>
          <p:nvPr/>
        </p:nvSpPr>
        <p:spPr>
          <a:xfrm>
            <a:off x="508332" y="3455976"/>
            <a:ext cx="47625" cy="1247775"/>
          </a:xfrm>
          <a:prstGeom prst="rect">
            <a:avLst/>
          </a:prstGeom>
          <a:solidFill>
            <a:srgbClr val="E9C46A"/>
          </a:solidFill>
          <a:ln/>
        </p:spPr>
        <p:txBody>
          <a:bodyPr/>
          <a:lstStyle/>
          <a:p>
            <a:endParaRPr lang="en-IN" sz="2400"/>
          </a:p>
        </p:txBody>
      </p:sp>
      <p:sp>
        <p:nvSpPr>
          <p:cNvPr id="12" name="Text 9"/>
          <p:cNvSpPr/>
          <p:nvPr/>
        </p:nvSpPr>
        <p:spPr>
          <a:xfrm>
            <a:off x="622631" y="3600415"/>
            <a:ext cx="3387146" cy="254044"/>
          </a:xfrm>
          <a:prstGeom prst="rect">
            <a:avLst/>
          </a:prstGeom>
          <a:noFill/>
          <a:ln/>
        </p:spPr>
        <p:txBody>
          <a:bodyPr wrap="none" lIns="0" tIns="0" rIns="0" bIns="0" rtlCol="0" anchor="ctr">
            <a:spAutoFit/>
          </a:bodyPr>
          <a:lstStyle/>
          <a:p>
            <a:r>
              <a:rPr lang="en-US" sz="1651" b="1" dirty="0">
                <a:solidFill>
                  <a:srgbClr val="000000"/>
                </a:solidFill>
                <a:latin typeface="Noto Sans" pitchFamily="34" charset="0"/>
                <a:ea typeface="Noto Sans" pitchFamily="34" charset="-122"/>
                <a:cs typeface="Noto Sans" pitchFamily="34" charset="-120"/>
              </a:rPr>
              <a:t>2. Static/Automation Workflows</a:t>
            </a:r>
            <a:endParaRPr lang="en-US" sz="1651" dirty="0"/>
          </a:p>
        </p:txBody>
      </p:sp>
      <p:sp>
        <p:nvSpPr>
          <p:cNvPr id="13" name="Text 10"/>
          <p:cNvSpPr/>
          <p:nvPr/>
        </p:nvSpPr>
        <p:spPr>
          <a:xfrm>
            <a:off x="622632" y="3960667"/>
            <a:ext cx="2545569"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Deterministic chains, schedulers, BPM</a:t>
            </a:r>
            <a:endParaRPr lang="en-US" sz="1116" dirty="0"/>
          </a:p>
        </p:txBody>
      </p:sp>
      <p:sp>
        <p:nvSpPr>
          <p:cNvPr id="14" name="Text 11"/>
          <p:cNvSpPr/>
          <p:nvPr/>
        </p:nvSpPr>
        <p:spPr>
          <a:xfrm>
            <a:off x="813131" y="4228616"/>
            <a:ext cx="336951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Predictable execution paths, business process integration</a:t>
            </a:r>
            <a:endParaRPr lang="en-US" sz="976" dirty="0"/>
          </a:p>
        </p:txBody>
      </p:sp>
      <p:sp>
        <p:nvSpPr>
          <p:cNvPr id="15" name="Text 12"/>
          <p:cNvSpPr/>
          <p:nvPr/>
        </p:nvSpPr>
        <p:spPr>
          <a:xfrm>
            <a:off x="813132" y="4419116"/>
            <a:ext cx="193482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Approval workflows and auditing</a:t>
            </a:r>
            <a:endParaRPr lang="en-US" sz="976" dirty="0"/>
          </a:p>
        </p:txBody>
      </p:sp>
      <p:sp>
        <p:nvSpPr>
          <p:cNvPr id="16" name="Shape 13"/>
          <p:cNvSpPr/>
          <p:nvPr/>
        </p:nvSpPr>
        <p:spPr>
          <a:xfrm>
            <a:off x="6019799" y="1709738"/>
            <a:ext cx="5572125" cy="1247775"/>
          </a:xfrm>
          <a:prstGeom prst="rect">
            <a:avLst/>
          </a:prstGeom>
          <a:solidFill>
            <a:srgbClr val="FFFFFF"/>
          </a:solidFill>
          <a:ln/>
        </p:spPr>
        <p:txBody>
          <a:bodyPr/>
          <a:lstStyle/>
          <a:p>
            <a:endParaRPr lang="en-IN" sz="2400"/>
          </a:p>
        </p:txBody>
      </p:sp>
      <p:sp>
        <p:nvSpPr>
          <p:cNvPr id="17" name="Shape 14"/>
          <p:cNvSpPr/>
          <p:nvPr/>
        </p:nvSpPr>
        <p:spPr>
          <a:xfrm>
            <a:off x="6019800" y="1709738"/>
            <a:ext cx="47625" cy="1247775"/>
          </a:xfrm>
          <a:prstGeom prst="rect">
            <a:avLst/>
          </a:prstGeom>
          <a:solidFill>
            <a:srgbClr val="F4A261"/>
          </a:solidFill>
          <a:ln/>
        </p:spPr>
        <p:txBody>
          <a:bodyPr/>
          <a:lstStyle/>
          <a:p>
            <a:endParaRPr lang="en-IN" sz="2400"/>
          </a:p>
        </p:txBody>
      </p:sp>
      <p:sp>
        <p:nvSpPr>
          <p:cNvPr id="18" name="Text 15"/>
          <p:cNvSpPr/>
          <p:nvPr/>
        </p:nvSpPr>
        <p:spPr>
          <a:xfrm>
            <a:off x="6134099" y="1854178"/>
            <a:ext cx="2409314" cy="254044"/>
          </a:xfrm>
          <a:prstGeom prst="rect">
            <a:avLst/>
          </a:prstGeom>
          <a:noFill/>
          <a:ln/>
        </p:spPr>
        <p:txBody>
          <a:bodyPr wrap="none" lIns="0" tIns="0" rIns="0" bIns="0" rtlCol="0" anchor="ctr">
            <a:spAutoFit/>
          </a:bodyPr>
          <a:lstStyle/>
          <a:p>
            <a:r>
              <a:rPr lang="en-US" sz="1651" b="1" dirty="0">
                <a:solidFill>
                  <a:srgbClr val="000000"/>
                </a:solidFill>
                <a:latin typeface="Noto Sans" pitchFamily="34" charset="0"/>
                <a:ea typeface="Noto Sans" pitchFamily="34" charset="-122"/>
                <a:cs typeface="Noto Sans" pitchFamily="34" charset="-120"/>
              </a:rPr>
              <a:t>3. Agentic Applications</a:t>
            </a:r>
            <a:endParaRPr lang="en-US" sz="1651" dirty="0"/>
          </a:p>
        </p:txBody>
      </p:sp>
      <p:sp>
        <p:nvSpPr>
          <p:cNvPr id="19" name="Text 16"/>
          <p:cNvSpPr/>
          <p:nvPr/>
        </p:nvSpPr>
        <p:spPr>
          <a:xfrm>
            <a:off x="6134099" y="2214430"/>
            <a:ext cx="3020058"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Tool-use, planning, multi-agent collaboration</a:t>
            </a:r>
            <a:endParaRPr lang="en-US" sz="1116" dirty="0"/>
          </a:p>
        </p:txBody>
      </p:sp>
      <p:sp>
        <p:nvSpPr>
          <p:cNvPr id="20" name="Text 17"/>
          <p:cNvSpPr/>
          <p:nvPr/>
        </p:nvSpPr>
        <p:spPr>
          <a:xfrm>
            <a:off x="6324600" y="2482378"/>
            <a:ext cx="290784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Autonomous task completion, complex reasoning</a:t>
            </a:r>
            <a:endParaRPr lang="en-US" sz="976" dirty="0"/>
          </a:p>
        </p:txBody>
      </p:sp>
      <p:sp>
        <p:nvSpPr>
          <p:cNvPr id="21" name="Text 18"/>
          <p:cNvSpPr/>
          <p:nvPr/>
        </p:nvSpPr>
        <p:spPr>
          <a:xfrm>
            <a:off x="6324600" y="2672878"/>
            <a:ext cx="156132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External tool orchestration</a:t>
            </a:r>
            <a:endParaRPr lang="en-US" sz="976" dirty="0"/>
          </a:p>
        </p:txBody>
      </p:sp>
      <p:sp>
        <p:nvSpPr>
          <p:cNvPr id="22" name="Shape 19"/>
          <p:cNvSpPr/>
          <p:nvPr/>
        </p:nvSpPr>
        <p:spPr>
          <a:xfrm>
            <a:off x="6019799" y="3455975"/>
            <a:ext cx="5572125" cy="1247775"/>
          </a:xfrm>
          <a:prstGeom prst="rect">
            <a:avLst/>
          </a:prstGeom>
          <a:solidFill>
            <a:srgbClr val="FFFFFF"/>
          </a:solidFill>
          <a:ln/>
        </p:spPr>
        <p:txBody>
          <a:bodyPr/>
          <a:lstStyle/>
          <a:p>
            <a:endParaRPr lang="en-IN" sz="2400"/>
          </a:p>
        </p:txBody>
      </p:sp>
      <p:sp>
        <p:nvSpPr>
          <p:cNvPr id="23" name="Shape 20"/>
          <p:cNvSpPr/>
          <p:nvPr/>
        </p:nvSpPr>
        <p:spPr>
          <a:xfrm>
            <a:off x="6019800" y="3455975"/>
            <a:ext cx="47625" cy="1247775"/>
          </a:xfrm>
          <a:prstGeom prst="rect">
            <a:avLst/>
          </a:prstGeom>
          <a:solidFill>
            <a:srgbClr val="E76F51"/>
          </a:solidFill>
          <a:ln/>
        </p:spPr>
        <p:txBody>
          <a:bodyPr/>
          <a:lstStyle/>
          <a:p>
            <a:endParaRPr lang="en-IN" sz="2400"/>
          </a:p>
        </p:txBody>
      </p:sp>
      <p:sp>
        <p:nvSpPr>
          <p:cNvPr id="24" name="Text 21"/>
          <p:cNvSpPr/>
          <p:nvPr/>
        </p:nvSpPr>
        <p:spPr>
          <a:xfrm>
            <a:off x="6134099" y="3600415"/>
            <a:ext cx="4390626" cy="254044"/>
          </a:xfrm>
          <a:prstGeom prst="rect">
            <a:avLst/>
          </a:prstGeom>
          <a:noFill/>
          <a:ln/>
        </p:spPr>
        <p:txBody>
          <a:bodyPr wrap="none" lIns="0" tIns="0" rIns="0" bIns="0" rtlCol="0" anchor="ctr">
            <a:spAutoFit/>
          </a:bodyPr>
          <a:lstStyle/>
          <a:p>
            <a:r>
              <a:rPr lang="en-US" sz="1651" b="1" dirty="0">
                <a:solidFill>
                  <a:srgbClr val="000000"/>
                </a:solidFill>
                <a:latin typeface="Noto Sans" pitchFamily="34" charset="0"/>
                <a:ea typeface="Noto Sans" pitchFamily="34" charset="-122"/>
                <a:cs typeface="Noto Sans" pitchFamily="34" charset="-120"/>
              </a:rPr>
              <a:t>4. RAG (Retrieval Augmented Generation)</a:t>
            </a:r>
            <a:endParaRPr lang="en-US" sz="1651" dirty="0"/>
          </a:p>
        </p:txBody>
      </p:sp>
      <p:sp>
        <p:nvSpPr>
          <p:cNvPr id="25" name="Text 22"/>
          <p:cNvSpPr/>
          <p:nvPr/>
        </p:nvSpPr>
        <p:spPr>
          <a:xfrm>
            <a:off x="6134100" y="3960668"/>
            <a:ext cx="3066545"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Retrieval + grounding over enterprise content</a:t>
            </a:r>
            <a:endParaRPr lang="en-US" sz="1116" dirty="0"/>
          </a:p>
        </p:txBody>
      </p:sp>
      <p:sp>
        <p:nvSpPr>
          <p:cNvPr id="26" name="Text 23"/>
          <p:cNvSpPr/>
          <p:nvPr/>
        </p:nvSpPr>
        <p:spPr>
          <a:xfrm>
            <a:off x="6324600" y="4228615"/>
            <a:ext cx="299280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Factual accuracy, enterprise knowledge integration</a:t>
            </a:r>
            <a:endParaRPr lang="en-US" sz="976" dirty="0"/>
          </a:p>
        </p:txBody>
      </p:sp>
      <p:sp>
        <p:nvSpPr>
          <p:cNvPr id="27" name="Text 24"/>
          <p:cNvSpPr/>
          <p:nvPr/>
        </p:nvSpPr>
        <p:spPr>
          <a:xfrm>
            <a:off x="6324599" y="4419115"/>
            <a:ext cx="1357744"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Reduced hallucinations</a:t>
            </a:r>
            <a:endParaRPr lang="en-US" sz="976"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5701882"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Prompt-Based Pattern Deep Dive</a:t>
            </a:r>
            <a:endParaRPr lang="en-US" sz="2700" dirty="0"/>
          </a:p>
        </p:txBody>
      </p:sp>
      <p:sp>
        <p:nvSpPr>
          <p:cNvPr id="4" name="Text 1"/>
          <p:cNvSpPr/>
          <p:nvPr/>
        </p:nvSpPr>
        <p:spPr>
          <a:xfrm>
            <a:off x="381000" y="1120688"/>
            <a:ext cx="1332096"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When to Use</a:t>
            </a:r>
            <a:endParaRPr lang="en-US" sz="1651" dirty="0"/>
          </a:p>
        </p:txBody>
      </p:sp>
      <p:sp>
        <p:nvSpPr>
          <p:cNvPr id="5" name="Text 2"/>
          <p:cNvSpPr/>
          <p:nvPr/>
        </p:nvSpPr>
        <p:spPr>
          <a:xfrm>
            <a:off x="571501" y="1590543"/>
            <a:ext cx="280204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Simple queries requiring direct responses</a:t>
            </a:r>
            <a:endParaRPr lang="en-US" sz="1116" dirty="0"/>
          </a:p>
        </p:txBody>
      </p:sp>
      <p:sp>
        <p:nvSpPr>
          <p:cNvPr id="6" name="Text 3"/>
          <p:cNvSpPr/>
          <p:nvPr/>
        </p:nvSpPr>
        <p:spPr>
          <a:xfrm>
            <a:off x="571501" y="1819143"/>
            <a:ext cx="292548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Content generation (text, code, summaries)</a:t>
            </a:r>
            <a:endParaRPr lang="en-US" sz="1116" dirty="0"/>
          </a:p>
        </p:txBody>
      </p:sp>
      <p:sp>
        <p:nvSpPr>
          <p:cNvPr id="7" name="Text 4"/>
          <p:cNvSpPr/>
          <p:nvPr/>
        </p:nvSpPr>
        <p:spPr>
          <a:xfrm>
            <a:off x="571500" y="2047743"/>
            <a:ext cx="239809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Basic question-answering scenarios</a:t>
            </a:r>
            <a:endParaRPr lang="en-US" sz="1116" dirty="0"/>
          </a:p>
        </p:txBody>
      </p:sp>
      <p:sp>
        <p:nvSpPr>
          <p:cNvPr id="8" name="Text 5"/>
          <p:cNvSpPr/>
          <p:nvPr/>
        </p:nvSpPr>
        <p:spPr>
          <a:xfrm>
            <a:off x="571500" y="2276343"/>
            <a:ext cx="309700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Low-latency requirements with simple context</a:t>
            </a:r>
            <a:endParaRPr lang="en-US" sz="1116" dirty="0"/>
          </a:p>
        </p:txBody>
      </p:sp>
      <p:sp>
        <p:nvSpPr>
          <p:cNvPr id="9" name="Text 6"/>
          <p:cNvSpPr/>
          <p:nvPr/>
        </p:nvSpPr>
        <p:spPr>
          <a:xfrm>
            <a:off x="571500" y="2504943"/>
            <a:ext cx="235160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Prototyping and MVP development</a:t>
            </a:r>
            <a:endParaRPr lang="en-US" sz="1116" dirty="0"/>
          </a:p>
        </p:txBody>
      </p:sp>
      <p:sp>
        <p:nvSpPr>
          <p:cNvPr id="10" name="Text 7"/>
          <p:cNvSpPr/>
          <p:nvPr/>
        </p:nvSpPr>
        <p:spPr>
          <a:xfrm>
            <a:off x="381001" y="3354300"/>
            <a:ext cx="1848263"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When NOT to Use</a:t>
            </a:r>
            <a:endParaRPr lang="en-US" sz="1651" dirty="0"/>
          </a:p>
        </p:txBody>
      </p:sp>
      <p:sp>
        <p:nvSpPr>
          <p:cNvPr id="11" name="Text 8"/>
          <p:cNvSpPr/>
          <p:nvPr/>
        </p:nvSpPr>
        <p:spPr>
          <a:xfrm>
            <a:off x="571500" y="3824155"/>
            <a:ext cx="2406108"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Complex multi-step reasoning tasks</a:t>
            </a:r>
            <a:endParaRPr lang="en-US" sz="1116" dirty="0"/>
          </a:p>
        </p:txBody>
      </p:sp>
      <p:sp>
        <p:nvSpPr>
          <p:cNvPr id="12" name="Text 9"/>
          <p:cNvSpPr/>
          <p:nvPr/>
        </p:nvSpPr>
        <p:spPr>
          <a:xfrm>
            <a:off x="571500" y="4052755"/>
            <a:ext cx="270747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Scenarios requiring external data access</a:t>
            </a:r>
            <a:endParaRPr lang="en-US" sz="1116" dirty="0"/>
          </a:p>
        </p:txBody>
      </p:sp>
      <p:sp>
        <p:nvSpPr>
          <p:cNvPr id="13" name="Text 10"/>
          <p:cNvSpPr/>
          <p:nvPr/>
        </p:nvSpPr>
        <p:spPr>
          <a:xfrm>
            <a:off x="571501" y="4281355"/>
            <a:ext cx="204382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Tasks needing tool integration</a:t>
            </a:r>
            <a:endParaRPr lang="en-US" sz="1116" dirty="0"/>
          </a:p>
        </p:txBody>
      </p:sp>
      <p:sp>
        <p:nvSpPr>
          <p:cNvPr id="14" name="Text 11"/>
          <p:cNvSpPr/>
          <p:nvPr/>
        </p:nvSpPr>
        <p:spPr>
          <a:xfrm>
            <a:off x="571501" y="4509955"/>
            <a:ext cx="272510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Applications requiring factual grounding</a:t>
            </a:r>
            <a:endParaRPr lang="en-US" sz="1116" dirty="0"/>
          </a:p>
        </p:txBody>
      </p:sp>
      <p:sp>
        <p:nvSpPr>
          <p:cNvPr id="15" name="Text 12"/>
          <p:cNvSpPr/>
          <p:nvPr/>
        </p:nvSpPr>
        <p:spPr>
          <a:xfrm>
            <a:off x="571501" y="4738555"/>
            <a:ext cx="276197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Long-context or multi-turn conversations</a:t>
            </a:r>
            <a:endParaRPr lang="en-US" sz="1116" dirty="0"/>
          </a:p>
        </p:txBody>
      </p:sp>
      <p:grpSp>
        <p:nvGrpSpPr>
          <p:cNvPr id="37" name="Group 36">
            <a:extLst>
              <a:ext uri="{FF2B5EF4-FFF2-40B4-BE49-F238E27FC236}">
                <a16:creationId xmlns:a16="http://schemas.microsoft.com/office/drawing/2014/main" id="{7A89B85B-2055-C4FE-7126-701A329C4C9B}"/>
              </a:ext>
            </a:extLst>
          </p:cNvPr>
          <p:cNvGrpSpPr/>
          <p:nvPr/>
        </p:nvGrpSpPr>
        <p:grpSpPr>
          <a:xfrm>
            <a:off x="5926395" y="2006643"/>
            <a:ext cx="5572125" cy="1993989"/>
            <a:chOff x="5926395" y="2006643"/>
            <a:chExt cx="5572125" cy="1993989"/>
          </a:xfrm>
        </p:grpSpPr>
        <p:sp>
          <p:nvSpPr>
            <p:cNvPr id="16" name="Text 13"/>
            <p:cNvSpPr/>
            <p:nvPr/>
          </p:nvSpPr>
          <p:spPr>
            <a:xfrm>
              <a:off x="5926395" y="2006643"/>
              <a:ext cx="1854675"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Strengths &amp; Risks</a:t>
              </a:r>
              <a:endParaRPr lang="en-US" sz="1651" dirty="0"/>
            </a:p>
          </p:txBody>
        </p:sp>
        <p:sp>
          <p:nvSpPr>
            <p:cNvPr id="17" name="Shape 14"/>
            <p:cNvSpPr/>
            <p:nvPr/>
          </p:nvSpPr>
          <p:spPr>
            <a:xfrm>
              <a:off x="5926395" y="2448057"/>
              <a:ext cx="2690812" cy="1552575"/>
            </a:xfrm>
            <a:prstGeom prst="rect">
              <a:avLst/>
            </a:prstGeom>
            <a:solidFill>
              <a:srgbClr val="2A9D8F">
                <a:alpha val="10000"/>
              </a:srgbClr>
            </a:solidFill>
            <a:ln/>
          </p:spPr>
          <p:txBody>
            <a:bodyPr/>
            <a:lstStyle/>
            <a:p>
              <a:endParaRPr lang="en-IN" sz="2400"/>
            </a:p>
          </p:txBody>
        </p:sp>
        <p:sp>
          <p:nvSpPr>
            <p:cNvPr id="18" name="Shape 15"/>
            <p:cNvSpPr/>
            <p:nvPr/>
          </p:nvSpPr>
          <p:spPr>
            <a:xfrm>
              <a:off x="5926395" y="2448057"/>
              <a:ext cx="38100" cy="1552575"/>
            </a:xfrm>
            <a:prstGeom prst="rect">
              <a:avLst/>
            </a:prstGeom>
            <a:solidFill>
              <a:srgbClr val="2A9D8F"/>
            </a:solidFill>
            <a:ln/>
          </p:spPr>
          <p:txBody>
            <a:bodyPr/>
            <a:lstStyle/>
            <a:p>
              <a:endParaRPr lang="en-IN" sz="2400"/>
            </a:p>
          </p:txBody>
        </p:sp>
        <p:pic>
          <p:nvPicPr>
            <p:cNvPr id="19" name="Image 1" descr="preencoded.png"/>
            <p:cNvPicPr>
              <a:picLocks noChangeAspect="1"/>
            </p:cNvPicPr>
            <p:nvPr/>
          </p:nvPicPr>
          <p:blipFill>
            <a:blip r:embed="rId3"/>
            <a:stretch>
              <a:fillRect/>
            </a:stretch>
          </p:blipFill>
          <p:spPr>
            <a:xfrm>
              <a:off x="6069269" y="2633794"/>
              <a:ext cx="171451" cy="171451"/>
            </a:xfrm>
            <a:prstGeom prst="rect">
              <a:avLst/>
            </a:prstGeom>
          </p:spPr>
        </p:pic>
        <p:sp>
          <p:nvSpPr>
            <p:cNvPr id="20" name="Text 16"/>
            <p:cNvSpPr/>
            <p:nvPr/>
          </p:nvSpPr>
          <p:spPr>
            <a:xfrm>
              <a:off x="6316920" y="2622890"/>
              <a:ext cx="791883"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Strengths</a:t>
              </a:r>
              <a:endParaRPr lang="en-US" sz="1256" dirty="0"/>
            </a:p>
          </p:txBody>
        </p:sp>
        <p:sp>
          <p:nvSpPr>
            <p:cNvPr id="21" name="Text 17"/>
            <p:cNvSpPr/>
            <p:nvPr/>
          </p:nvSpPr>
          <p:spPr>
            <a:xfrm>
              <a:off x="6259770" y="2971799"/>
              <a:ext cx="151644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Low latency responses</a:t>
              </a:r>
              <a:endParaRPr lang="en-US" sz="1116" dirty="0"/>
            </a:p>
          </p:txBody>
        </p:sp>
        <p:sp>
          <p:nvSpPr>
            <p:cNvPr id="22" name="Text 18"/>
            <p:cNvSpPr/>
            <p:nvPr/>
          </p:nvSpPr>
          <p:spPr>
            <a:xfrm>
              <a:off x="6259769" y="3200399"/>
              <a:ext cx="156132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Simple implementation</a:t>
              </a:r>
              <a:endParaRPr lang="en-US" sz="1116" dirty="0"/>
            </a:p>
          </p:txBody>
        </p:sp>
        <p:sp>
          <p:nvSpPr>
            <p:cNvPr id="23" name="Text 19"/>
            <p:cNvSpPr/>
            <p:nvPr/>
          </p:nvSpPr>
          <p:spPr>
            <a:xfrm>
              <a:off x="6259769" y="3428999"/>
              <a:ext cx="91371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Cost-effective</a:t>
              </a:r>
              <a:endParaRPr lang="en-US" sz="1116" dirty="0"/>
            </a:p>
          </p:txBody>
        </p:sp>
        <p:sp>
          <p:nvSpPr>
            <p:cNvPr id="24" name="Text 20"/>
            <p:cNvSpPr/>
            <p:nvPr/>
          </p:nvSpPr>
          <p:spPr>
            <a:xfrm>
              <a:off x="6259769" y="3657599"/>
              <a:ext cx="150842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Minimal infrastructure</a:t>
              </a:r>
              <a:endParaRPr lang="en-US" sz="1116" dirty="0"/>
            </a:p>
          </p:txBody>
        </p:sp>
        <p:sp>
          <p:nvSpPr>
            <p:cNvPr id="25" name="Shape 21"/>
            <p:cNvSpPr/>
            <p:nvPr/>
          </p:nvSpPr>
          <p:spPr>
            <a:xfrm>
              <a:off x="8788657" y="2448057"/>
              <a:ext cx="2709863" cy="1552575"/>
            </a:xfrm>
            <a:prstGeom prst="rect">
              <a:avLst/>
            </a:prstGeom>
            <a:solidFill>
              <a:srgbClr val="E76F51">
                <a:alpha val="10000"/>
              </a:srgbClr>
            </a:solidFill>
            <a:ln/>
          </p:spPr>
          <p:txBody>
            <a:bodyPr/>
            <a:lstStyle/>
            <a:p>
              <a:endParaRPr lang="en-IN" sz="2400"/>
            </a:p>
          </p:txBody>
        </p:sp>
        <p:sp>
          <p:nvSpPr>
            <p:cNvPr id="26" name="Shape 22"/>
            <p:cNvSpPr/>
            <p:nvPr/>
          </p:nvSpPr>
          <p:spPr>
            <a:xfrm>
              <a:off x="8788657" y="2448057"/>
              <a:ext cx="38100" cy="1552575"/>
            </a:xfrm>
            <a:prstGeom prst="rect">
              <a:avLst/>
            </a:prstGeom>
            <a:solidFill>
              <a:srgbClr val="E76F51"/>
            </a:solidFill>
            <a:ln/>
          </p:spPr>
          <p:txBody>
            <a:bodyPr/>
            <a:lstStyle/>
            <a:p>
              <a:endParaRPr lang="en-IN" sz="2400"/>
            </a:p>
          </p:txBody>
        </p:sp>
        <p:pic>
          <p:nvPicPr>
            <p:cNvPr id="27" name="Image 2" descr="preencoded.png"/>
            <p:cNvPicPr>
              <a:picLocks noChangeAspect="1"/>
            </p:cNvPicPr>
            <p:nvPr/>
          </p:nvPicPr>
          <p:blipFill>
            <a:blip r:embed="rId4"/>
            <a:stretch>
              <a:fillRect/>
            </a:stretch>
          </p:blipFill>
          <p:spPr>
            <a:xfrm>
              <a:off x="8950582" y="2633794"/>
              <a:ext cx="171451" cy="171451"/>
            </a:xfrm>
            <a:prstGeom prst="rect">
              <a:avLst/>
            </a:prstGeom>
          </p:spPr>
        </p:pic>
        <p:sp>
          <p:nvSpPr>
            <p:cNvPr id="28" name="Text 23"/>
            <p:cNvSpPr/>
            <p:nvPr/>
          </p:nvSpPr>
          <p:spPr>
            <a:xfrm>
              <a:off x="9198231" y="2622890"/>
              <a:ext cx="415178"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Risks</a:t>
              </a:r>
              <a:endParaRPr lang="en-US" sz="1256" dirty="0"/>
            </a:p>
          </p:txBody>
        </p:sp>
        <p:sp>
          <p:nvSpPr>
            <p:cNvPr id="29" name="Text 24"/>
            <p:cNvSpPr/>
            <p:nvPr/>
          </p:nvSpPr>
          <p:spPr>
            <a:xfrm>
              <a:off x="9141083" y="2971799"/>
              <a:ext cx="953787"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Hallucinations</a:t>
              </a:r>
              <a:endParaRPr lang="en-US" sz="1116" dirty="0"/>
            </a:p>
          </p:txBody>
        </p:sp>
        <p:sp>
          <p:nvSpPr>
            <p:cNvPr id="30" name="Text 25"/>
            <p:cNvSpPr/>
            <p:nvPr/>
          </p:nvSpPr>
          <p:spPr>
            <a:xfrm>
              <a:off x="9141082" y="3200399"/>
              <a:ext cx="1601400"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Limited context window</a:t>
              </a:r>
              <a:endParaRPr lang="en-US" sz="1116" dirty="0"/>
            </a:p>
          </p:txBody>
        </p:sp>
        <p:sp>
          <p:nvSpPr>
            <p:cNvPr id="31" name="Text 26"/>
            <p:cNvSpPr/>
            <p:nvPr/>
          </p:nvSpPr>
          <p:spPr>
            <a:xfrm>
              <a:off x="9141083" y="3428999"/>
              <a:ext cx="159338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No external data access</a:t>
              </a:r>
              <a:endParaRPr lang="en-US" sz="1116" dirty="0"/>
            </a:p>
          </p:txBody>
        </p:sp>
        <p:sp>
          <p:nvSpPr>
            <p:cNvPr id="32" name="Text 27"/>
            <p:cNvSpPr/>
            <p:nvPr/>
          </p:nvSpPr>
          <p:spPr>
            <a:xfrm>
              <a:off x="9141082" y="3657599"/>
              <a:ext cx="120706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Prompt sensitivity</a:t>
              </a:r>
              <a:endParaRPr lang="en-US" sz="1116"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6460102"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Prompt-Based Template Architecture</a:t>
            </a:r>
            <a:endParaRPr lang="en-US" sz="2700" dirty="0"/>
          </a:p>
        </p:txBody>
      </p:sp>
      <p:sp>
        <p:nvSpPr>
          <p:cNvPr id="4" name="Text 1"/>
          <p:cNvSpPr/>
          <p:nvPr/>
        </p:nvSpPr>
        <p:spPr>
          <a:xfrm>
            <a:off x="381001" y="1120688"/>
            <a:ext cx="1883529"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Core Components</a:t>
            </a:r>
            <a:endParaRPr lang="en-US" sz="1651" dirty="0"/>
          </a:p>
        </p:txBody>
      </p:sp>
      <p:sp>
        <p:nvSpPr>
          <p:cNvPr id="5" name="Shape 2"/>
          <p:cNvSpPr/>
          <p:nvPr/>
        </p:nvSpPr>
        <p:spPr>
          <a:xfrm>
            <a:off x="381000" y="1562101"/>
            <a:ext cx="5572125" cy="590551"/>
          </a:xfrm>
          <a:prstGeom prst="rect">
            <a:avLst/>
          </a:prstGeom>
          <a:solidFill>
            <a:srgbClr val="2A9D8F">
              <a:alpha val="5000"/>
            </a:srgbClr>
          </a:solidFill>
          <a:ln/>
        </p:spPr>
        <p:txBody>
          <a:bodyPr/>
          <a:lstStyle/>
          <a:p>
            <a:endParaRPr lang="en-IN" sz="2400"/>
          </a:p>
        </p:txBody>
      </p:sp>
      <p:sp>
        <p:nvSpPr>
          <p:cNvPr id="6" name="Shape 3"/>
          <p:cNvSpPr/>
          <p:nvPr/>
        </p:nvSpPr>
        <p:spPr>
          <a:xfrm>
            <a:off x="457200" y="1704975"/>
            <a:ext cx="304800" cy="304800"/>
          </a:xfrm>
          <a:prstGeom prst="ellipse">
            <a:avLst/>
          </a:prstGeom>
          <a:solidFill>
            <a:srgbClr val="2A9D8F"/>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23875" y="1781175"/>
            <a:ext cx="171451" cy="152400"/>
          </a:xfrm>
          <a:prstGeom prst="rect">
            <a:avLst/>
          </a:prstGeom>
        </p:spPr>
      </p:pic>
      <p:sp>
        <p:nvSpPr>
          <p:cNvPr id="8" name="Text 4"/>
          <p:cNvSpPr/>
          <p:nvPr/>
        </p:nvSpPr>
        <p:spPr>
          <a:xfrm>
            <a:off x="876301" y="1666743"/>
            <a:ext cx="65883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Frontend</a:t>
            </a:r>
            <a:endParaRPr lang="en-US" sz="1116" dirty="0"/>
          </a:p>
        </p:txBody>
      </p:sp>
      <p:sp>
        <p:nvSpPr>
          <p:cNvPr id="9" name="Text 5"/>
          <p:cNvSpPr/>
          <p:nvPr/>
        </p:nvSpPr>
        <p:spPr>
          <a:xfrm>
            <a:off x="876300" y="1906117"/>
            <a:ext cx="311303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User interface for prompt input and response display</a:t>
            </a:r>
            <a:endParaRPr lang="en-US" sz="976" dirty="0"/>
          </a:p>
        </p:txBody>
      </p:sp>
      <p:sp>
        <p:nvSpPr>
          <p:cNvPr id="10" name="Shape 6"/>
          <p:cNvSpPr/>
          <p:nvPr/>
        </p:nvSpPr>
        <p:spPr>
          <a:xfrm>
            <a:off x="381000" y="2266951"/>
            <a:ext cx="5572125" cy="590551"/>
          </a:xfrm>
          <a:prstGeom prst="rect">
            <a:avLst/>
          </a:prstGeom>
          <a:solidFill>
            <a:srgbClr val="2A9D8F">
              <a:alpha val="5000"/>
            </a:srgbClr>
          </a:solidFill>
          <a:ln/>
        </p:spPr>
        <p:txBody>
          <a:bodyPr/>
          <a:lstStyle/>
          <a:p>
            <a:endParaRPr lang="en-IN" sz="2400"/>
          </a:p>
        </p:txBody>
      </p:sp>
      <p:sp>
        <p:nvSpPr>
          <p:cNvPr id="11" name="Shape 7"/>
          <p:cNvSpPr/>
          <p:nvPr/>
        </p:nvSpPr>
        <p:spPr>
          <a:xfrm>
            <a:off x="457200" y="2409825"/>
            <a:ext cx="304800" cy="304800"/>
          </a:xfrm>
          <a:prstGeom prst="ellipse">
            <a:avLst/>
          </a:prstGeom>
          <a:solidFill>
            <a:srgbClr val="2A9D8F"/>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14351" y="2486025"/>
            <a:ext cx="190500" cy="152400"/>
          </a:xfrm>
          <a:prstGeom prst="rect">
            <a:avLst/>
          </a:prstGeom>
        </p:spPr>
      </p:pic>
      <p:sp>
        <p:nvSpPr>
          <p:cNvPr id="13" name="Text 8"/>
          <p:cNvSpPr/>
          <p:nvPr/>
        </p:nvSpPr>
        <p:spPr>
          <a:xfrm>
            <a:off x="876300" y="2371594"/>
            <a:ext cx="910506"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API Gateway</a:t>
            </a:r>
            <a:endParaRPr lang="en-US" sz="1116" dirty="0"/>
          </a:p>
        </p:txBody>
      </p:sp>
      <p:sp>
        <p:nvSpPr>
          <p:cNvPr id="14" name="Text 9"/>
          <p:cNvSpPr/>
          <p:nvPr/>
        </p:nvSpPr>
        <p:spPr>
          <a:xfrm>
            <a:off x="876301" y="2610966"/>
            <a:ext cx="287739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Authentication, rate limiting, and request routing</a:t>
            </a:r>
            <a:endParaRPr lang="en-US" sz="976" dirty="0"/>
          </a:p>
        </p:txBody>
      </p:sp>
      <p:sp>
        <p:nvSpPr>
          <p:cNvPr id="15" name="Shape 10"/>
          <p:cNvSpPr/>
          <p:nvPr/>
        </p:nvSpPr>
        <p:spPr>
          <a:xfrm>
            <a:off x="381000" y="2971801"/>
            <a:ext cx="5572125" cy="590551"/>
          </a:xfrm>
          <a:prstGeom prst="rect">
            <a:avLst/>
          </a:prstGeom>
          <a:solidFill>
            <a:srgbClr val="2A9D8F">
              <a:alpha val="5000"/>
            </a:srgbClr>
          </a:solidFill>
          <a:ln/>
        </p:spPr>
        <p:txBody>
          <a:bodyPr/>
          <a:lstStyle/>
          <a:p>
            <a:endParaRPr lang="en-IN" sz="2400"/>
          </a:p>
        </p:txBody>
      </p:sp>
      <p:sp>
        <p:nvSpPr>
          <p:cNvPr id="16" name="Shape 11"/>
          <p:cNvSpPr/>
          <p:nvPr/>
        </p:nvSpPr>
        <p:spPr>
          <a:xfrm>
            <a:off x="457200" y="3114675"/>
            <a:ext cx="304800" cy="304800"/>
          </a:xfrm>
          <a:prstGeom prst="ellipse">
            <a:avLst/>
          </a:prstGeom>
          <a:solidFill>
            <a:srgbClr val="2A9D8F"/>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33400" y="3190875"/>
            <a:ext cx="152400" cy="152400"/>
          </a:xfrm>
          <a:prstGeom prst="rect">
            <a:avLst/>
          </a:prstGeom>
        </p:spPr>
      </p:pic>
      <p:sp>
        <p:nvSpPr>
          <p:cNvPr id="18" name="Text 12"/>
          <p:cNvSpPr/>
          <p:nvPr/>
        </p:nvSpPr>
        <p:spPr>
          <a:xfrm>
            <a:off x="876300" y="3076443"/>
            <a:ext cx="175208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Google Vertex AI Service</a:t>
            </a:r>
            <a:endParaRPr lang="en-US" sz="1116" dirty="0"/>
          </a:p>
        </p:txBody>
      </p:sp>
      <p:sp>
        <p:nvSpPr>
          <p:cNvPr id="19" name="Text 13"/>
          <p:cNvSpPr/>
          <p:nvPr/>
        </p:nvSpPr>
        <p:spPr>
          <a:xfrm>
            <a:off x="876301" y="3315817"/>
            <a:ext cx="3191579"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LLM service for text processing with prompt templates</a:t>
            </a:r>
            <a:endParaRPr lang="en-US" sz="976" dirty="0"/>
          </a:p>
        </p:txBody>
      </p:sp>
      <p:sp>
        <p:nvSpPr>
          <p:cNvPr id="20" name="Shape 14"/>
          <p:cNvSpPr/>
          <p:nvPr/>
        </p:nvSpPr>
        <p:spPr>
          <a:xfrm>
            <a:off x="381000" y="3676651"/>
            <a:ext cx="5572125" cy="590551"/>
          </a:xfrm>
          <a:prstGeom prst="rect">
            <a:avLst/>
          </a:prstGeom>
          <a:solidFill>
            <a:srgbClr val="2A9D8F">
              <a:alpha val="5000"/>
            </a:srgbClr>
          </a:solidFill>
          <a:ln/>
        </p:spPr>
        <p:txBody>
          <a:bodyPr/>
          <a:lstStyle/>
          <a:p>
            <a:endParaRPr lang="en-IN" sz="2400"/>
          </a:p>
        </p:txBody>
      </p:sp>
      <p:sp>
        <p:nvSpPr>
          <p:cNvPr id="21" name="Shape 15"/>
          <p:cNvSpPr/>
          <p:nvPr/>
        </p:nvSpPr>
        <p:spPr>
          <a:xfrm>
            <a:off x="457200" y="3819525"/>
            <a:ext cx="304800" cy="304800"/>
          </a:xfrm>
          <a:prstGeom prst="ellipse">
            <a:avLst/>
          </a:prstGeom>
          <a:solidFill>
            <a:srgbClr val="2A9D8F"/>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542926" y="3895725"/>
            <a:ext cx="133351" cy="152400"/>
          </a:xfrm>
          <a:prstGeom prst="rect">
            <a:avLst/>
          </a:prstGeom>
        </p:spPr>
      </p:pic>
      <p:sp>
        <p:nvSpPr>
          <p:cNvPr id="23" name="Text 16"/>
          <p:cNvSpPr/>
          <p:nvPr/>
        </p:nvSpPr>
        <p:spPr>
          <a:xfrm>
            <a:off x="876300" y="3781294"/>
            <a:ext cx="100989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Caching Layer</a:t>
            </a:r>
            <a:endParaRPr lang="en-US" sz="1116" dirty="0"/>
          </a:p>
        </p:txBody>
      </p:sp>
      <p:sp>
        <p:nvSpPr>
          <p:cNvPr id="24" name="Text 17"/>
          <p:cNvSpPr/>
          <p:nvPr/>
        </p:nvSpPr>
        <p:spPr>
          <a:xfrm>
            <a:off x="876300" y="4020666"/>
            <a:ext cx="267861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Response caching to reduce latency and costs</a:t>
            </a:r>
            <a:endParaRPr lang="en-US" sz="976" dirty="0"/>
          </a:p>
        </p:txBody>
      </p:sp>
      <p:sp>
        <p:nvSpPr>
          <p:cNvPr id="25" name="Shape 18"/>
          <p:cNvSpPr/>
          <p:nvPr/>
        </p:nvSpPr>
        <p:spPr>
          <a:xfrm>
            <a:off x="381000" y="4381501"/>
            <a:ext cx="5572125" cy="590551"/>
          </a:xfrm>
          <a:prstGeom prst="rect">
            <a:avLst/>
          </a:prstGeom>
          <a:solidFill>
            <a:srgbClr val="2A9D8F">
              <a:alpha val="5000"/>
            </a:srgbClr>
          </a:solidFill>
          <a:ln/>
        </p:spPr>
        <p:txBody>
          <a:bodyPr/>
          <a:lstStyle/>
          <a:p>
            <a:endParaRPr lang="en-IN" sz="2400"/>
          </a:p>
        </p:txBody>
      </p:sp>
      <p:sp>
        <p:nvSpPr>
          <p:cNvPr id="26" name="Shape 19"/>
          <p:cNvSpPr/>
          <p:nvPr/>
        </p:nvSpPr>
        <p:spPr>
          <a:xfrm>
            <a:off x="457200" y="4524375"/>
            <a:ext cx="304800" cy="304800"/>
          </a:xfrm>
          <a:prstGeom prst="ellipse">
            <a:avLst/>
          </a:prstGeom>
          <a:solidFill>
            <a:srgbClr val="2A9D8F"/>
          </a:solidFill>
          <a:ln/>
        </p:spPr>
        <p:txBody>
          <a:bodyPr/>
          <a:lstStyle/>
          <a:p>
            <a:endParaRPr lang="en-IN" sz="2400"/>
          </a:p>
        </p:txBody>
      </p:sp>
      <p:pic>
        <p:nvPicPr>
          <p:cNvPr id="27" name="Image 5" descr="preencoded.png"/>
          <p:cNvPicPr>
            <a:picLocks noChangeAspect="1"/>
          </p:cNvPicPr>
          <p:nvPr/>
        </p:nvPicPr>
        <p:blipFill>
          <a:blip r:embed="rId7"/>
          <a:stretch>
            <a:fillRect/>
          </a:stretch>
        </p:blipFill>
        <p:spPr>
          <a:xfrm>
            <a:off x="533400" y="4600575"/>
            <a:ext cx="152400" cy="152400"/>
          </a:xfrm>
          <a:prstGeom prst="rect">
            <a:avLst/>
          </a:prstGeom>
        </p:spPr>
      </p:pic>
      <p:sp>
        <p:nvSpPr>
          <p:cNvPr id="28" name="Text 20"/>
          <p:cNvSpPr/>
          <p:nvPr/>
        </p:nvSpPr>
        <p:spPr>
          <a:xfrm>
            <a:off x="876301" y="4486143"/>
            <a:ext cx="95699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Observability</a:t>
            </a:r>
            <a:endParaRPr lang="en-US" sz="1116" dirty="0"/>
          </a:p>
        </p:txBody>
      </p:sp>
      <p:sp>
        <p:nvSpPr>
          <p:cNvPr id="29" name="Text 21"/>
          <p:cNvSpPr/>
          <p:nvPr/>
        </p:nvSpPr>
        <p:spPr>
          <a:xfrm>
            <a:off x="876301" y="4725517"/>
            <a:ext cx="276197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Monitoring, logging, and performance tracking</a:t>
            </a:r>
            <a:endParaRPr lang="en-US" sz="976" dirty="0"/>
          </a:p>
        </p:txBody>
      </p:sp>
      <p:sp>
        <p:nvSpPr>
          <p:cNvPr id="30" name="Text 22"/>
          <p:cNvSpPr/>
          <p:nvPr/>
        </p:nvSpPr>
        <p:spPr>
          <a:xfrm>
            <a:off x="6238878" y="2206536"/>
            <a:ext cx="2018181"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Advanced Features</a:t>
            </a:r>
            <a:endParaRPr lang="en-US" sz="1651" dirty="0"/>
          </a:p>
        </p:txBody>
      </p:sp>
      <p:sp>
        <p:nvSpPr>
          <p:cNvPr id="31" name="Shape 23"/>
          <p:cNvSpPr/>
          <p:nvPr/>
        </p:nvSpPr>
        <p:spPr>
          <a:xfrm>
            <a:off x="6238877" y="2695574"/>
            <a:ext cx="5572125" cy="1428751"/>
          </a:xfrm>
          <a:prstGeom prst="rect">
            <a:avLst/>
          </a:prstGeom>
          <a:solidFill>
            <a:srgbClr val="2A9D8F">
              <a:alpha val="5000"/>
            </a:srgbClr>
          </a:solidFill>
          <a:ln/>
        </p:spPr>
        <p:txBody>
          <a:bodyPr/>
          <a:lstStyle/>
          <a:p>
            <a:endParaRPr lang="en-IN" sz="2400"/>
          </a:p>
        </p:txBody>
      </p:sp>
      <p:sp>
        <p:nvSpPr>
          <p:cNvPr id="32" name="Shape 24"/>
          <p:cNvSpPr/>
          <p:nvPr/>
        </p:nvSpPr>
        <p:spPr>
          <a:xfrm>
            <a:off x="6238878" y="2695574"/>
            <a:ext cx="38100" cy="1428751"/>
          </a:xfrm>
          <a:prstGeom prst="rect">
            <a:avLst/>
          </a:prstGeom>
          <a:solidFill>
            <a:srgbClr val="2A9D8F"/>
          </a:solidFill>
          <a:ln/>
        </p:spPr>
        <p:txBody>
          <a:bodyPr/>
          <a:lstStyle/>
          <a:p>
            <a:endParaRPr lang="en-IN" sz="2400"/>
          </a:p>
        </p:txBody>
      </p:sp>
      <p:sp>
        <p:nvSpPr>
          <p:cNvPr id="33" name="Text 25"/>
          <p:cNvSpPr/>
          <p:nvPr/>
        </p:nvSpPr>
        <p:spPr>
          <a:xfrm>
            <a:off x="6572252" y="2865702"/>
            <a:ext cx="1388201"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Prompt Versioning:</a:t>
            </a:r>
            <a:endParaRPr lang="en-US" sz="1116" dirty="0"/>
          </a:p>
        </p:txBody>
      </p:sp>
      <p:sp>
        <p:nvSpPr>
          <p:cNvPr id="34" name="Text 26"/>
          <p:cNvSpPr/>
          <p:nvPr/>
        </p:nvSpPr>
        <p:spPr>
          <a:xfrm>
            <a:off x="8038806" y="2865702"/>
            <a:ext cx="253274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Track and manage prompt templates</a:t>
            </a:r>
            <a:endParaRPr lang="en-US" sz="1116" dirty="0"/>
          </a:p>
        </p:txBody>
      </p:sp>
      <p:sp>
        <p:nvSpPr>
          <p:cNvPr id="35" name="Text 27"/>
          <p:cNvSpPr/>
          <p:nvPr/>
        </p:nvSpPr>
        <p:spPr>
          <a:xfrm>
            <a:off x="6572252" y="3094302"/>
            <a:ext cx="875240"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A/B Testing:</a:t>
            </a:r>
            <a:endParaRPr lang="en-US" sz="1116" dirty="0"/>
          </a:p>
        </p:txBody>
      </p:sp>
      <p:sp>
        <p:nvSpPr>
          <p:cNvPr id="36" name="Text 28"/>
          <p:cNvSpPr/>
          <p:nvPr/>
        </p:nvSpPr>
        <p:spPr>
          <a:xfrm>
            <a:off x="7478430" y="3094302"/>
            <a:ext cx="297036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Compare performance of different prompts</a:t>
            </a:r>
            <a:endParaRPr lang="en-US" sz="1116" dirty="0"/>
          </a:p>
        </p:txBody>
      </p:sp>
      <p:sp>
        <p:nvSpPr>
          <p:cNvPr id="37" name="Text 29"/>
          <p:cNvSpPr/>
          <p:nvPr/>
        </p:nvSpPr>
        <p:spPr>
          <a:xfrm>
            <a:off x="6572252" y="3322902"/>
            <a:ext cx="1213474"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Prompt Registry:</a:t>
            </a:r>
            <a:endParaRPr lang="en-US" sz="1116" dirty="0"/>
          </a:p>
        </p:txBody>
      </p:sp>
      <p:sp>
        <p:nvSpPr>
          <p:cNvPr id="38" name="Text 30"/>
          <p:cNvSpPr/>
          <p:nvPr/>
        </p:nvSpPr>
        <p:spPr>
          <a:xfrm>
            <a:off x="7855188" y="3322902"/>
            <a:ext cx="295914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Centralized repository of validated prompts</a:t>
            </a:r>
            <a:endParaRPr lang="en-US" sz="1116" dirty="0"/>
          </a:p>
        </p:txBody>
      </p:sp>
      <p:sp>
        <p:nvSpPr>
          <p:cNvPr id="39" name="Text 31"/>
          <p:cNvSpPr/>
          <p:nvPr/>
        </p:nvSpPr>
        <p:spPr>
          <a:xfrm>
            <a:off x="6572252" y="3551502"/>
            <a:ext cx="1492396"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Response Validation:</a:t>
            </a:r>
            <a:endParaRPr lang="en-US" sz="1116" dirty="0"/>
          </a:p>
        </p:txBody>
      </p:sp>
      <p:sp>
        <p:nvSpPr>
          <p:cNvPr id="40" name="Text 32"/>
          <p:cNvSpPr/>
          <p:nvPr/>
        </p:nvSpPr>
        <p:spPr>
          <a:xfrm>
            <a:off x="8155077" y="3551502"/>
            <a:ext cx="274273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Schema enforcement and quality checks</a:t>
            </a:r>
            <a:endParaRPr lang="en-US" sz="1116" dirty="0"/>
          </a:p>
        </p:txBody>
      </p:sp>
      <p:sp>
        <p:nvSpPr>
          <p:cNvPr id="41" name="Text 33"/>
          <p:cNvSpPr/>
          <p:nvPr/>
        </p:nvSpPr>
        <p:spPr>
          <a:xfrm>
            <a:off x="6572252" y="3780102"/>
            <a:ext cx="1567737"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Fallback Mechanisms:</a:t>
            </a:r>
            <a:endParaRPr lang="en-US" sz="1116" dirty="0"/>
          </a:p>
        </p:txBody>
      </p:sp>
      <p:sp>
        <p:nvSpPr>
          <p:cNvPr id="42" name="Text 34"/>
          <p:cNvSpPr/>
          <p:nvPr/>
        </p:nvSpPr>
        <p:spPr>
          <a:xfrm>
            <a:off x="8237378" y="3780102"/>
            <a:ext cx="194604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Graceful handling of failures</a:t>
            </a:r>
            <a:endParaRPr lang="en-US" sz="111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5996834"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Prompt Engineering Best Practices</a:t>
            </a:r>
            <a:endParaRPr lang="en-US" sz="2700" dirty="0"/>
          </a:p>
        </p:txBody>
      </p:sp>
      <p:sp>
        <p:nvSpPr>
          <p:cNvPr id="4" name="Text 1"/>
          <p:cNvSpPr/>
          <p:nvPr/>
        </p:nvSpPr>
        <p:spPr>
          <a:xfrm>
            <a:off x="381001" y="1120688"/>
            <a:ext cx="1577355"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Core Principles</a:t>
            </a:r>
            <a:endParaRPr lang="en-US" sz="1651" dirty="0"/>
          </a:p>
        </p:txBody>
      </p:sp>
      <p:sp>
        <p:nvSpPr>
          <p:cNvPr id="5" name="Shape 2"/>
          <p:cNvSpPr/>
          <p:nvPr/>
        </p:nvSpPr>
        <p:spPr>
          <a:xfrm>
            <a:off x="381000" y="1562101"/>
            <a:ext cx="5572125" cy="590551"/>
          </a:xfrm>
          <a:prstGeom prst="rect">
            <a:avLst/>
          </a:prstGeom>
          <a:solidFill>
            <a:srgbClr val="2A9D8F">
              <a:alpha val="5000"/>
            </a:srgbClr>
          </a:solidFill>
          <a:ln/>
        </p:spPr>
        <p:txBody>
          <a:bodyPr/>
          <a:lstStyle/>
          <a:p>
            <a:endParaRPr lang="en-IN" sz="2400"/>
          </a:p>
        </p:txBody>
      </p:sp>
      <p:sp>
        <p:nvSpPr>
          <p:cNvPr id="6" name="Shape 3"/>
          <p:cNvSpPr/>
          <p:nvPr/>
        </p:nvSpPr>
        <p:spPr>
          <a:xfrm>
            <a:off x="457200" y="1657351"/>
            <a:ext cx="228600" cy="228600"/>
          </a:xfrm>
          <a:prstGeom prst="ellipse">
            <a:avLst/>
          </a:prstGeom>
          <a:solidFill>
            <a:srgbClr val="2A9D8F"/>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04826" y="1766888"/>
            <a:ext cx="133351" cy="9525"/>
          </a:xfrm>
          <a:prstGeom prst="rect">
            <a:avLst/>
          </a:prstGeom>
        </p:spPr>
      </p:pic>
      <p:sp>
        <p:nvSpPr>
          <p:cNvPr id="8" name="Text 4"/>
          <p:cNvSpPr/>
          <p:nvPr/>
        </p:nvSpPr>
        <p:spPr>
          <a:xfrm>
            <a:off x="800101" y="1666743"/>
            <a:ext cx="147796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Be Specific and Clear</a:t>
            </a:r>
            <a:endParaRPr lang="en-US" sz="1116" dirty="0"/>
          </a:p>
        </p:txBody>
      </p:sp>
      <p:sp>
        <p:nvSpPr>
          <p:cNvPr id="9" name="Text 5"/>
          <p:cNvSpPr/>
          <p:nvPr/>
        </p:nvSpPr>
        <p:spPr>
          <a:xfrm>
            <a:off x="800101" y="1906117"/>
            <a:ext cx="417261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Provide detailed instructions with explicit requirements and constraints</a:t>
            </a:r>
            <a:endParaRPr lang="en-US" sz="976" dirty="0"/>
          </a:p>
        </p:txBody>
      </p:sp>
      <p:sp>
        <p:nvSpPr>
          <p:cNvPr id="10" name="Shape 6"/>
          <p:cNvSpPr/>
          <p:nvPr/>
        </p:nvSpPr>
        <p:spPr>
          <a:xfrm>
            <a:off x="381000" y="2266951"/>
            <a:ext cx="5572125" cy="781051"/>
          </a:xfrm>
          <a:prstGeom prst="rect">
            <a:avLst/>
          </a:prstGeom>
          <a:solidFill>
            <a:srgbClr val="2A9D8F">
              <a:alpha val="5000"/>
            </a:srgbClr>
          </a:solidFill>
          <a:ln/>
        </p:spPr>
        <p:txBody>
          <a:bodyPr/>
          <a:lstStyle/>
          <a:p>
            <a:endParaRPr lang="en-IN" sz="2400"/>
          </a:p>
        </p:txBody>
      </p:sp>
      <p:sp>
        <p:nvSpPr>
          <p:cNvPr id="11" name="Shape 7"/>
          <p:cNvSpPr/>
          <p:nvPr/>
        </p:nvSpPr>
        <p:spPr>
          <a:xfrm>
            <a:off x="457200" y="2362200"/>
            <a:ext cx="228600" cy="228600"/>
          </a:xfrm>
          <a:prstGeom prst="ellipse">
            <a:avLst/>
          </a:prstGeom>
          <a:solidFill>
            <a:srgbClr val="2A9D8F"/>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04826" y="2471738"/>
            <a:ext cx="133351" cy="9525"/>
          </a:xfrm>
          <a:prstGeom prst="rect">
            <a:avLst/>
          </a:prstGeom>
        </p:spPr>
      </p:pic>
      <p:sp>
        <p:nvSpPr>
          <p:cNvPr id="13" name="Text 8"/>
          <p:cNvSpPr/>
          <p:nvPr/>
        </p:nvSpPr>
        <p:spPr>
          <a:xfrm>
            <a:off x="800101" y="2371594"/>
            <a:ext cx="182582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Structure with Templates</a:t>
            </a:r>
            <a:endParaRPr lang="en-US" sz="1116" dirty="0"/>
          </a:p>
        </p:txBody>
      </p:sp>
      <p:sp>
        <p:nvSpPr>
          <p:cNvPr id="14" name="Text 9"/>
          <p:cNvSpPr/>
          <p:nvPr/>
        </p:nvSpPr>
        <p:spPr>
          <a:xfrm>
            <a:off x="800101" y="2706216"/>
            <a:ext cx="5076825"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Use consistent formats with clear sections for inputs, context, and expected outputs</a:t>
            </a:r>
            <a:endParaRPr lang="en-US" sz="976" dirty="0"/>
          </a:p>
        </p:txBody>
      </p:sp>
      <p:sp>
        <p:nvSpPr>
          <p:cNvPr id="15" name="Shape 10"/>
          <p:cNvSpPr/>
          <p:nvPr/>
        </p:nvSpPr>
        <p:spPr>
          <a:xfrm>
            <a:off x="381000" y="3162301"/>
            <a:ext cx="5572125" cy="590551"/>
          </a:xfrm>
          <a:prstGeom prst="rect">
            <a:avLst/>
          </a:prstGeom>
          <a:solidFill>
            <a:srgbClr val="2A9D8F">
              <a:alpha val="5000"/>
            </a:srgbClr>
          </a:solidFill>
          <a:ln/>
        </p:spPr>
        <p:txBody>
          <a:bodyPr/>
          <a:lstStyle/>
          <a:p>
            <a:endParaRPr lang="en-IN" sz="2400"/>
          </a:p>
        </p:txBody>
      </p:sp>
      <p:sp>
        <p:nvSpPr>
          <p:cNvPr id="16" name="Shape 11"/>
          <p:cNvSpPr/>
          <p:nvPr/>
        </p:nvSpPr>
        <p:spPr>
          <a:xfrm>
            <a:off x="457200" y="3257551"/>
            <a:ext cx="228600" cy="228600"/>
          </a:xfrm>
          <a:prstGeom prst="ellipse">
            <a:avLst/>
          </a:prstGeom>
          <a:solidFill>
            <a:srgbClr val="2A9D8F"/>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04826" y="3367088"/>
            <a:ext cx="133351" cy="9525"/>
          </a:xfrm>
          <a:prstGeom prst="rect">
            <a:avLst/>
          </a:prstGeom>
        </p:spPr>
      </p:pic>
      <p:sp>
        <p:nvSpPr>
          <p:cNvPr id="18" name="Text 12"/>
          <p:cNvSpPr/>
          <p:nvPr/>
        </p:nvSpPr>
        <p:spPr>
          <a:xfrm>
            <a:off x="800101" y="3266943"/>
            <a:ext cx="196367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Break Down Complex Tasks</a:t>
            </a:r>
            <a:endParaRPr lang="en-US" sz="1116" dirty="0"/>
          </a:p>
        </p:txBody>
      </p:sp>
      <p:sp>
        <p:nvSpPr>
          <p:cNvPr id="19" name="Text 13"/>
          <p:cNvSpPr/>
          <p:nvPr/>
        </p:nvSpPr>
        <p:spPr>
          <a:xfrm>
            <a:off x="800101" y="3506317"/>
            <a:ext cx="3805529"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Decompose multi-step processes into smaller, manageable steps</a:t>
            </a:r>
            <a:endParaRPr lang="en-US" sz="976" dirty="0"/>
          </a:p>
        </p:txBody>
      </p:sp>
      <p:sp>
        <p:nvSpPr>
          <p:cNvPr id="20" name="Shape 14"/>
          <p:cNvSpPr/>
          <p:nvPr/>
        </p:nvSpPr>
        <p:spPr>
          <a:xfrm>
            <a:off x="381000" y="3867151"/>
            <a:ext cx="5572125" cy="590551"/>
          </a:xfrm>
          <a:prstGeom prst="rect">
            <a:avLst/>
          </a:prstGeom>
          <a:solidFill>
            <a:srgbClr val="2A9D8F">
              <a:alpha val="5000"/>
            </a:srgbClr>
          </a:solidFill>
          <a:ln/>
        </p:spPr>
        <p:txBody>
          <a:bodyPr/>
          <a:lstStyle/>
          <a:p>
            <a:endParaRPr lang="en-IN" sz="2400"/>
          </a:p>
        </p:txBody>
      </p:sp>
      <p:sp>
        <p:nvSpPr>
          <p:cNvPr id="21" name="Shape 15"/>
          <p:cNvSpPr/>
          <p:nvPr/>
        </p:nvSpPr>
        <p:spPr>
          <a:xfrm>
            <a:off x="457200" y="3962400"/>
            <a:ext cx="228600" cy="228600"/>
          </a:xfrm>
          <a:prstGeom prst="ellipse">
            <a:avLst/>
          </a:prstGeom>
          <a:solidFill>
            <a:srgbClr val="2A9D8F"/>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488156" y="4071938"/>
            <a:ext cx="166688" cy="9525"/>
          </a:xfrm>
          <a:prstGeom prst="rect">
            <a:avLst/>
          </a:prstGeom>
        </p:spPr>
      </p:pic>
      <p:sp>
        <p:nvSpPr>
          <p:cNvPr id="23" name="Text 16"/>
          <p:cNvSpPr/>
          <p:nvPr/>
        </p:nvSpPr>
        <p:spPr>
          <a:xfrm>
            <a:off x="800101" y="3971794"/>
            <a:ext cx="174246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Define Persona and Role</a:t>
            </a:r>
            <a:endParaRPr lang="en-US" sz="1116" dirty="0"/>
          </a:p>
        </p:txBody>
      </p:sp>
      <p:sp>
        <p:nvSpPr>
          <p:cNvPr id="24" name="Text 17"/>
          <p:cNvSpPr/>
          <p:nvPr/>
        </p:nvSpPr>
        <p:spPr>
          <a:xfrm>
            <a:off x="800101" y="4211166"/>
            <a:ext cx="391453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Specify the expertise level and perspective the model should adopt</a:t>
            </a:r>
            <a:endParaRPr lang="en-US" sz="976" dirty="0"/>
          </a:p>
        </p:txBody>
      </p:sp>
      <p:sp>
        <p:nvSpPr>
          <p:cNvPr id="25" name="Shape 18"/>
          <p:cNvSpPr/>
          <p:nvPr/>
        </p:nvSpPr>
        <p:spPr>
          <a:xfrm>
            <a:off x="381000" y="4572001"/>
            <a:ext cx="5572125" cy="590551"/>
          </a:xfrm>
          <a:prstGeom prst="rect">
            <a:avLst/>
          </a:prstGeom>
          <a:solidFill>
            <a:srgbClr val="2A9D8F">
              <a:alpha val="5000"/>
            </a:srgbClr>
          </a:solidFill>
          <a:ln/>
        </p:spPr>
        <p:txBody>
          <a:bodyPr/>
          <a:lstStyle/>
          <a:p>
            <a:endParaRPr lang="en-IN" sz="2400"/>
          </a:p>
        </p:txBody>
      </p:sp>
      <p:sp>
        <p:nvSpPr>
          <p:cNvPr id="26" name="Shape 19"/>
          <p:cNvSpPr/>
          <p:nvPr/>
        </p:nvSpPr>
        <p:spPr>
          <a:xfrm>
            <a:off x="457200" y="4667251"/>
            <a:ext cx="228600" cy="228600"/>
          </a:xfrm>
          <a:prstGeom prst="ellipse">
            <a:avLst/>
          </a:prstGeom>
          <a:solidFill>
            <a:srgbClr val="2A9D8F"/>
          </a:solidFill>
          <a:ln/>
        </p:spPr>
        <p:txBody>
          <a:bodyPr/>
          <a:lstStyle/>
          <a:p>
            <a:endParaRPr lang="en-IN" sz="2400"/>
          </a:p>
        </p:txBody>
      </p:sp>
      <p:pic>
        <p:nvPicPr>
          <p:cNvPr id="27" name="Image 5" descr="preencoded.png"/>
          <p:cNvPicPr>
            <a:picLocks noChangeAspect="1"/>
          </p:cNvPicPr>
          <p:nvPr/>
        </p:nvPicPr>
        <p:blipFill>
          <a:blip r:embed="rId7"/>
          <a:stretch>
            <a:fillRect/>
          </a:stretch>
        </p:blipFill>
        <p:spPr>
          <a:xfrm>
            <a:off x="504826" y="4776788"/>
            <a:ext cx="133351" cy="9525"/>
          </a:xfrm>
          <a:prstGeom prst="rect">
            <a:avLst/>
          </a:prstGeom>
        </p:spPr>
      </p:pic>
      <p:sp>
        <p:nvSpPr>
          <p:cNvPr id="28" name="Text 20"/>
          <p:cNvSpPr/>
          <p:nvPr/>
        </p:nvSpPr>
        <p:spPr>
          <a:xfrm>
            <a:off x="800100" y="4676643"/>
            <a:ext cx="130644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Iterate and Refine</a:t>
            </a:r>
            <a:endParaRPr lang="en-US" sz="1116" dirty="0"/>
          </a:p>
        </p:txBody>
      </p:sp>
      <p:sp>
        <p:nvSpPr>
          <p:cNvPr id="29" name="Text 21"/>
          <p:cNvSpPr/>
          <p:nvPr/>
        </p:nvSpPr>
        <p:spPr>
          <a:xfrm>
            <a:off x="800101" y="4916017"/>
            <a:ext cx="421750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Test prompts with different phrasings and structures to optimize results</a:t>
            </a:r>
            <a:endParaRPr lang="en-US" sz="976" dirty="0"/>
          </a:p>
        </p:txBody>
      </p:sp>
      <p:sp>
        <p:nvSpPr>
          <p:cNvPr id="30" name="Text 22"/>
          <p:cNvSpPr/>
          <p:nvPr/>
        </p:nvSpPr>
        <p:spPr>
          <a:xfrm>
            <a:off x="6238875" y="4848357"/>
            <a:ext cx="2295500"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Advanced Techniques</a:t>
            </a:r>
            <a:endParaRPr lang="en-US" sz="1651" dirty="0"/>
          </a:p>
        </p:txBody>
      </p:sp>
      <p:sp>
        <p:nvSpPr>
          <p:cNvPr id="31" name="Shape 23"/>
          <p:cNvSpPr/>
          <p:nvPr/>
        </p:nvSpPr>
        <p:spPr>
          <a:xfrm>
            <a:off x="6238875" y="5289770"/>
            <a:ext cx="5572125" cy="590551"/>
          </a:xfrm>
          <a:prstGeom prst="rect">
            <a:avLst/>
          </a:prstGeom>
          <a:solidFill>
            <a:srgbClr val="2A9D8F">
              <a:alpha val="5000"/>
            </a:srgbClr>
          </a:solidFill>
          <a:ln/>
        </p:spPr>
        <p:txBody>
          <a:bodyPr/>
          <a:lstStyle/>
          <a:p>
            <a:endParaRPr lang="en-IN" sz="2400"/>
          </a:p>
        </p:txBody>
      </p:sp>
      <p:sp>
        <p:nvSpPr>
          <p:cNvPr id="32" name="Shape 24"/>
          <p:cNvSpPr/>
          <p:nvPr/>
        </p:nvSpPr>
        <p:spPr>
          <a:xfrm>
            <a:off x="6315075" y="5385020"/>
            <a:ext cx="228600" cy="228600"/>
          </a:xfrm>
          <a:prstGeom prst="ellipse">
            <a:avLst/>
          </a:prstGeom>
          <a:solidFill>
            <a:srgbClr val="2A9D8F"/>
          </a:solidFill>
          <a:ln/>
        </p:spPr>
        <p:txBody>
          <a:bodyPr/>
          <a:lstStyle/>
          <a:p>
            <a:endParaRPr lang="en-IN" sz="2400"/>
          </a:p>
        </p:txBody>
      </p:sp>
      <p:pic>
        <p:nvPicPr>
          <p:cNvPr id="33" name="Image 6" descr="preencoded.png"/>
          <p:cNvPicPr>
            <a:picLocks noChangeAspect="1"/>
          </p:cNvPicPr>
          <p:nvPr/>
        </p:nvPicPr>
        <p:blipFill>
          <a:blip r:embed="rId8"/>
          <a:stretch>
            <a:fillRect/>
          </a:stretch>
        </p:blipFill>
        <p:spPr>
          <a:xfrm>
            <a:off x="6362701" y="5494557"/>
            <a:ext cx="133351" cy="9525"/>
          </a:xfrm>
          <a:prstGeom prst="rect">
            <a:avLst/>
          </a:prstGeom>
        </p:spPr>
      </p:pic>
      <p:sp>
        <p:nvSpPr>
          <p:cNvPr id="34" name="Text 25"/>
          <p:cNvSpPr/>
          <p:nvPr/>
        </p:nvSpPr>
        <p:spPr>
          <a:xfrm>
            <a:off x="6657976" y="5394412"/>
            <a:ext cx="2069477"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Chain-of-Thought Prompting</a:t>
            </a:r>
            <a:endParaRPr lang="en-US" sz="1116" dirty="0"/>
          </a:p>
        </p:txBody>
      </p:sp>
      <p:sp>
        <p:nvSpPr>
          <p:cNvPr id="35" name="Text 26"/>
          <p:cNvSpPr/>
          <p:nvPr/>
        </p:nvSpPr>
        <p:spPr>
          <a:xfrm>
            <a:off x="6657975" y="5633786"/>
            <a:ext cx="348492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Guide the model to show its reasoning process step by step</a:t>
            </a:r>
            <a:endParaRPr lang="en-US" sz="976" dirty="0"/>
          </a:p>
        </p:txBody>
      </p:sp>
      <p:sp>
        <p:nvSpPr>
          <p:cNvPr id="36" name="Shape 27"/>
          <p:cNvSpPr/>
          <p:nvPr/>
        </p:nvSpPr>
        <p:spPr>
          <a:xfrm>
            <a:off x="6238875" y="5994620"/>
            <a:ext cx="5572125" cy="590551"/>
          </a:xfrm>
          <a:prstGeom prst="rect">
            <a:avLst/>
          </a:prstGeom>
          <a:solidFill>
            <a:srgbClr val="2A9D8F">
              <a:alpha val="5000"/>
            </a:srgbClr>
          </a:solidFill>
          <a:ln/>
        </p:spPr>
        <p:txBody>
          <a:bodyPr/>
          <a:lstStyle/>
          <a:p>
            <a:endParaRPr lang="en-IN" sz="2400"/>
          </a:p>
        </p:txBody>
      </p:sp>
      <p:sp>
        <p:nvSpPr>
          <p:cNvPr id="37" name="Shape 28"/>
          <p:cNvSpPr/>
          <p:nvPr/>
        </p:nvSpPr>
        <p:spPr>
          <a:xfrm>
            <a:off x="6315075" y="6089869"/>
            <a:ext cx="228600" cy="228600"/>
          </a:xfrm>
          <a:prstGeom prst="ellipse">
            <a:avLst/>
          </a:prstGeom>
          <a:solidFill>
            <a:srgbClr val="2A9D8F"/>
          </a:solidFill>
          <a:ln/>
        </p:spPr>
        <p:txBody>
          <a:bodyPr/>
          <a:lstStyle/>
          <a:p>
            <a:endParaRPr lang="en-IN" sz="2400"/>
          </a:p>
        </p:txBody>
      </p:sp>
      <p:pic>
        <p:nvPicPr>
          <p:cNvPr id="38" name="Image 7" descr="preencoded.png"/>
          <p:cNvPicPr>
            <a:picLocks noChangeAspect="1"/>
          </p:cNvPicPr>
          <p:nvPr/>
        </p:nvPicPr>
        <p:blipFill>
          <a:blip r:embed="rId9"/>
          <a:stretch>
            <a:fillRect/>
          </a:stretch>
        </p:blipFill>
        <p:spPr>
          <a:xfrm>
            <a:off x="6371036" y="6199407"/>
            <a:ext cx="116681" cy="9525"/>
          </a:xfrm>
          <a:prstGeom prst="rect">
            <a:avLst/>
          </a:prstGeom>
        </p:spPr>
      </p:pic>
      <p:sp>
        <p:nvSpPr>
          <p:cNvPr id="39" name="Text 29"/>
          <p:cNvSpPr/>
          <p:nvPr/>
        </p:nvSpPr>
        <p:spPr>
          <a:xfrm>
            <a:off x="6657975" y="6099263"/>
            <a:ext cx="133850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Few-Shot Learning</a:t>
            </a:r>
            <a:endParaRPr lang="en-US" sz="1116" dirty="0"/>
          </a:p>
        </p:txBody>
      </p:sp>
      <p:sp>
        <p:nvSpPr>
          <p:cNvPr id="40" name="Text 30"/>
          <p:cNvSpPr/>
          <p:nvPr/>
        </p:nvSpPr>
        <p:spPr>
          <a:xfrm>
            <a:off x="6657976" y="6338634"/>
            <a:ext cx="402674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Include examples of desired inputs and outputs to establish patterns</a:t>
            </a:r>
            <a:endParaRPr lang="en-US" sz="976" dirty="0"/>
          </a:p>
        </p:txBody>
      </p:sp>
      <p:sp>
        <p:nvSpPr>
          <p:cNvPr id="41" name="Shape 31"/>
          <p:cNvSpPr/>
          <p:nvPr/>
        </p:nvSpPr>
        <p:spPr>
          <a:xfrm>
            <a:off x="6238875" y="1228726"/>
            <a:ext cx="5572125" cy="3390900"/>
          </a:xfrm>
          <a:prstGeom prst="rect">
            <a:avLst/>
          </a:prstGeom>
          <a:solidFill>
            <a:srgbClr val="F8F9FA"/>
          </a:solidFill>
          <a:ln w="99">
            <a:solidFill>
              <a:srgbClr val="DDDDDD"/>
            </a:solidFill>
            <a:prstDash val="solid"/>
          </a:ln>
        </p:spPr>
        <p:txBody>
          <a:bodyPr/>
          <a:lstStyle/>
          <a:p>
            <a:endParaRPr lang="en-IN" sz="2400"/>
          </a:p>
        </p:txBody>
      </p:sp>
      <p:sp>
        <p:nvSpPr>
          <p:cNvPr id="42" name="Text 32"/>
          <p:cNvSpPr/>
          <p:nvPr/>
        </p:nvSpPr>
        <p:spPr>
          <a:xfrm>
            <a:off x="6381751" y="1406438"/>
            <a:ext cx="1856277"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Prompt Examples</a:t>
            </a:r>
            <a:endParaRPr lang="en-US" sz="1651" dirty="0"/>
          </a:p>
        </p:txBody>
      </p:sp>
      <p:sp>
        <p:nvSpPr>
          <p:cNvPr id="43" name="Shape 33"/>
          <p:cNvSpPr/>
          <p:nvPr/>
        </p:nvSpPr>
        <p:spPr>
          <a:xfrm>
            <a:off x="6381751" y="1847851"/>
            <a:ext cx="5286375" cy="1762125"/>
          </a:xfrm>
          <a:prstGeom prst="rect">
            <a:avLst/>
          </a:prstGeom>
          <a:solidFill>
            <a:srgbClr val="FFFFFF"/>
          </a:solidFill>
          <a:ln/>
        </p:spPr>
        <p:txBody>
          <a:bodyPr/>
          <a:lstStyle/>
          <a:p>
            <a:endParaRPr lang="en-IN" sz="2400"/>
          </a:p>
        </p:txBody>
      </p:sp>
      <p:sp>
        <p:nvSpPr>
          <p:cNvPr id="44" name="Shape 34"/>
          <p:cNvSpPr/>
          <p:nvPr/>
        </p:nvSpPr>
        <p:spPr>
          <a:xfrm>
            <a:off x="6381751" y="1847851"/>
            <a:ext cx="28575" cy="1762125"/>
          </a:xfrm>
          <a:prstGeom prst="rect">
            <a:avLst/>
          </a:prstGeom>
          <a:solidFill>
            <a:srgbClr val="2A9D8F"/>
          </a:solidFill>
          <a:ln/>
        </p:spPr>
        <p:txBody>
          <a:bodyPr/>
          <a:lstStyle/>
          <a:p>
            <a:endParaRPr lang="en-IN" sz="2400"/>
          </a:p>
        </p:txBody>
      </p:sp>
      <p:pic>
        <p:nvPicPr>
          <p:cNvPr id="45" name="Image 8" descr="preencoded.png"/>
          <p:cNvPicPr>
            <a:picLocks noChangeAspect="1"/>
          </p:cNvPicPr>
          <p:nvPr/>
        </p:nvPicPr>
        <p:blipFill>
          <a:blip r:embed="rId10"/>
          <a:stretch>
            <a:fillRect/>
          </a:stretch>
        </p:blipFill>
        <p:spPr>
          <a:xfrm>
            <a:off x="6477000" y="1981200"/>
            <a:ext cx="152400" cy="152400"/>
          </a:xfrm>
          <a:prstGeom prst="rect">
            <a:avLst/>
          </a:prstGeom>
        </p:spPr>
      </p:pic>
      <p:sp>
        <p:nvSpPr>
          <p:cNvPr id="46" name="Text 35"/>
          <p:cNvSpPr/>
          <p:nvPr/>
        </p:nvSpPr>
        <p:spPr>
          <a:xfrm>
            <a:off x="6705600" y="1971543"/>
            <a:ext cx="119744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Effective Prompt</a:t>
            </a:r>
            <a:endParaRPr lang="en-US" sz="1116" dirty="0"/>
          </a:p>
        </p:txBody>
      </p:sp>
      <p:sp>
        <p:nvSpPr>
          <p:cNvPr id="47" name="Text 36"/>
          <p:cNvSpPr/>
          <p:nvPr/>
        </p:nvSpPr>
        <p:spPr>
          <a:xfrm>
            <a:off x="6477000" y="2259657"/>
            <a:ext cx="5095875"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Act as a senior financial analyst with expertise in market trends. Analyze the following quarterly results for Company X:</a:t>
            </a:r>
            <a:endParaRPr lang="en-US" sz="976" dirty="0"/>
          </a:p>
        </p:txBody>
      </p:sp>
      <p:sp>
        <p:nvSpPr>
          <p:cNvPr id="48" name="Text 37"/>
          <p:cNvSpPr/>
          <p:nvPr/>
        </p:nvSpPr>
        <p:spPr>
          <a:xfrm>
            <a:off x="6477000" y="2696692"/>
            <a:ext cx="92333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[Data provided]</a:t>
            </a:r>
            <a:endParaRPr lang="en-US" sz="976" dirty="0"/>
          </a:p>
        </p:txBody>
      </p:sp>
      <p:sp>
        <p:nvSpPr>
          <p:cNvPr id="49" name="Text 38"/>
          <p:cNvSpPr/>
          <p:nvPr/>
        </p:nvSpPr>
        <p:spPr>
          <a:xfrm>
            <a:off x="6477000" y="3003722"/>
            <a:ext cx="5095875" cy="450508"/>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Provide a 3-paragraph analysis addressing: 1) Revenue performance vs. expectations, 2) Key growth drivers, and 3) Recommendations for investors. Use professional financial terminology.</a:t>
            </a:r>
            <a:endParaRPr lang="en-US" sz="976" dirty="0"/>
          </a:p>
        </p:txBody>
      </p:sp>
      <p:sp>
        <p:nvSpPr>
          <p:cNvPr id="50" name="Shape 39"/>
          <p:cNvSpPr/>
          <p:nvPr/>
        </p:nvSpPr>
        <p:spPr>
          <a:xfrm>
            <a:off x="6381751" y="3705226"/>
            <a:ext cx="5286375" cy="657225"/>
          </a:xfrm>
          <a:prstGeom prst="rect">
            <a:avLst/>
          </a:prstGeom>
          <a:solidFill>
            <a:srgbClr val="FFFFFF"/>
          </a:solidFill>
          <a:ln/>
        </p:spPr>
        <p:txBody>
          <a:bodyPr/>
          <a:lstStyle/>
          <a:p>
            <a:endParaRPr lang="en-IN" sz="2400"/>
          </a:p>
        </p:txBody>
      </p:sp>
      <p:sp>
        <p:nvSpPr>
          <p:cNvPr id="51" name="Shape 40"/>
          <p:cNvSpPr/>
          <p:nvPr/>
        </p:nvSpPr>
        <p:spPr>
          <a:xfrm>
            <a:off x="6381751" y="3705226"/>
            <a:ext cx="28575" cy="657225"/>
          </a:xfrm>
          <a:prstGeom prst="rect">
            <a:avLst/>
          </a:prstGeom>
          <a:solidFill>
            <a:srgbClr val="E76F51"/>
          </a:solidFill>
          <a:ln/>
        </p:spPr>
        <p:txBody>
          <a:bodyPr/>
          <a:lstStyle/>
          <a:p>
            <a:endParaRPr lang="en-IN" sz="2400"/>
          </a:p>
        </p:txBody>
      </p:sp>
      <p:pic>
        <p:nvPicPr>
          <p:cNvPr id="52" name="Image 9" descr="preencoded.png"/>
          <p:cNvPicPr>
            <a:picLocks noChangeAspect="1"/>
          </p:cNvPicPr>
          <p:nvPr/>
        </p:nvPicPr>
        <p:blipFill>
          <a:blip r:embed="rId11"/>
          <a:stretch>
            <a:fillRect/>
          </a:stretch>
        </p:blipFill>
        <p:spPr>
          <a:xfrm>
            <a:off x="6477000" y="3838575"/>
            <a:ext cx="152400" cy="152400"/>
          </a:xfrm>
          <a:prstGeom prst="rect">
            <a:avLst/>
          </a:prstGeom>
        </p:spPr>
      </p:pic>
      <p:sp>
        <p:nvSpPr>
          <p:cNvPr id="53" name="Text 41"/>
          <p:cNvSpPr/>
          <p:nvPr/>
        </p:nvSpPr>
        <p:spPr>
          <a:xfrm>
            <a:off x="6705600" y="3828918"/>
            <a:ext cx="135293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Ineffective Prompt</a:t>
            </a:r>
            <a:endParaRPr lang="en-US" sz="1116" dirty="0"/>
          </a:p>
        </p:txBody>
      </p:sp>
      <p:sp>
        <p:nvSpPr>
          <p:cNvPr id="54" name="Text 42"/>
          <p:cNvSpPr/>
          <p:nvPr/>
        </p:nvSpPr>
        <p:spPr>
          <a:xfrm>
            <a:off x="6477001" y="4096866"/>
            <a:ext cx="423032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What do you think about Company X's quarterly results? Are they good?</a:t>
            </a:r>
            <a:endParaRPr lang="en-US" sz="976"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6157135"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Static Workflows Pattern Deep Dive</a:t>
            </a:r>
            <a:endParaRPr lang="en-US" sz="2700" dirty="0"/>
          </a:p>
        </p:txBody>
      </p:sp>
      <p:grpSp>
        <p:nvGrpSpPr>
          <p:cNvPr id="38" name="Group 37">
            <a:extLst>
              <a:ext uri="{FF2B5EF4-FFF2-40B4-BE49-F238E27FC236}">
                <a16:creationId xmlns:a16="http://schemas.microsoft.com/office/drawing/2014/main" id="{C31C1DE4-18E1-1729-C3F7-17DFF400693C}"/>
              </a:ext>
            </a:extLst>
          </p:cNvPr>
          <p:cNvGrpSpPr/>
          <p:nvPr/>
        </p:nvGrpSpPr>
        <p:grpSpPr>
          <a:xfrm>
            <a:off x="381000" y="1120688"/>
            <a:ext cx="3872598" cy="1555969"/>
            <a:chOff x="381000" y="1120688"/>
            <a:chExt cx="3872598" cy="1555969"/>
          </a:xfrm>
        </p:grpSpPr>
        <p:sp>
          <p:nvSpPr>
            <p:cNvPr id="4" name="Text 1"/>
            <p:cNvSpPr/>
            <p:nvPr/>
          </p:nvSpPr>
          <p:spPr>
            <a:xfrm>
              <a:off x="381000" y="1120688"/>
              <a:ext cx="1332096"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When to Use</a:t>
              </a:r>
              <a:endParaRPr lang="en-US" sz="1651" dirty="0"/>
            </a:p>
          </p:txBody>
        </p:sp>
        <p:sp>
          <p:nvSpPr>
            <p:cNvPr id="5" name="Text 2"/>
            <p:cNvSpPr/>
            <p:nvPr/>
          </p:nvSpPr>
          <p:spPr>
            <a:xfrm>
              <a:off x="571500" y="1590543"/>
              <a:ext cx="331020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Deterministic business processes with clear steps</a:t>
              </a:r>
              <a:endParaRPr lang="en-US" sz="1116" dirty="0"/>
            </a:p>
          </p:txBody>
        </p:sp>
        <p:sp>
          <p:nvSpPr>
            <p:cNvPr id="6" name="Text 3"/>
            <p:cNvSpPr/>
            <p:nvPr/>
          </p:nvSpPr>
          <p:spPr>
            <a:xfrm>
              <a:off x="571501" y="1819143"/>
              <a:ext cx="358110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Workflows requiring approval gates or human review</a:t>
              </a:r>
              <a:endParaRPr lang="en-US" sz="1116" dirty="0"/>
            </a:p>
          </p:txBody>
        </p:sp>
        <p:sp>
          <p:nvSpPr>
            <p:cNvPr id="7" name="Text 4"/>
            <p:cNvSpPr/>
            <p:nvPr/>
          </p:nvSpPr>
          <p:spPr>
            <a:xfrm>
              <a:off x="571500" y="2047743"/>
              <a:ext cx="267541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Scheduled or event-triggered processes</a:t>
              </a:r>
              <a:endParaRPr lang="en-US" sz="1116" dirty="0"/>
            </a:p>
          </p:txBody>
        </p:sp>
        <p:sp>
          <p:nvSpPr>
            <p:cNvPr id="8" name="Text 5"/>
            <p:cNvSpPr/>
            <p:nvPr/>
          </p:nvSpPr>
          <p:spPr>
            <a:xfrm>
              <a:off x="571500" y="2276343"/>
              <a:ext cx="3682098"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Compliance-sensitive applications requiring audit trails</a:t>
              </a:r>
              <a:endParaRPr lang="en-US" sz="1116" dirty="0"/>
            </a:p>
          </p:txBody>
        </p:sp>
        <p:sp>
          <p:nvSpPr>
            <p:cNvPr id="9" name="Text 6"/>
            <p:cNvSpPr/>
            <p:nvPr/>
          </p:nvSpPr>
          <p:spPr>
            <a:xfrm>
              <a:off x="571500" y="2504943"/>
              <a:ext cx="3411190"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Integration with existing business process systems</a:t>
              </a:r>
              <a:endParaRPr lang="en-US" sz="1116" dirty="0"/>
            </a:p>
          </p:txBody>
        </p:sp>
      </p:grpSp>
      <p:grpSp>
        <p:nvGrpSpPr>
          <p:cNvPr id="39" name="Group 38">
            <a:extLst>
              <a:ext uri="{FF2B5EF4-FFF2-40B4-BE49-F238E27FC236}">
                <a16:creationId xmlns:a16="http://schemas.microsoft.com/office/drawing/2014/main" id="{563C3290-1E57-39AA-6FF8-77634D13D97D}"/>
              </a:ext>
            </a:extLst>
          </p:cNvPr>
          <p:cNvGrpSpPr/>
          <p:nvPr/>
        </p:nvGrpSpPr>
        <p:grpSpPr>
          <a:xfrm>
            <a:off x="381001" y="3240000"/>
            <a:ext cx="3657795" cy="1555969"/>
            <a:chOff x="381001" y="3240000"/>
            <a:chExt cx="3657795" cy="1555969"/>
          </a:xfrm>
        </p:grpSpPr>
        <p:sp>
          <p:nvSpPr>
            <p:cNvPr id="10" name="Text 7"/>
            <p:cNvSpPr/>
            <p:nvPr/>
          </p:nvSpPr>
          <p:spPr>
            <a:xfrm>
              <a:off x="381001" y="3240000"/>
              <a:ext cx="1848263"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When NOT to Use</a:t>
              </a:r>
              <a:endParaRPr lang="en-US" sz="1651" dirty="0"/>
            </a:p>
          </p:txBody>
        </p:sp>
        <p:sp>
          <p:nvSpPr>
            <p:cNvPr id="11" name="Text 8"/>
            <p:cNvSpPr/>
            <p:nvPr/>
          </p:nvSpPr>
          <p:spPr>
            <a:xfrm>
              <a:off x="571501" y="3709855"/>
              <a:ext cx="285334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Highly dynamic decision-making scenarios</a:t>
              </a:r>
              <a:endParaRPr lang="en-US" sz="1116" dirty="0"/>
            </a:p>
          </p:txBody>
        </p:sp>
        <p:sp>
          <p:nvSpPr>
            <p:cNvPr id="12" name="Text 9"/>
            <p:cNvSpPr/>
            <p:nvPr/>
          </p:nvSpPr>
          <p:spPr>
            <a:xfrm>
              <a:off x="571500" y="3938455"/>
              <a:ext cx="3170740"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Tasks requiring complex reasoning or planning</a:t>
              </a:r>
              <a:endParaRPr lang="en-US" sz="1116" dirty="0"/>
            </a:p>
          </p:txBody>
        </p:sp>
        <p:sp>
          <p:nvSpPr>
            <p:cNvPr id="13" name="Text 10"/>
            <p:cNvSpPr/>
            <p:nvPr/>
          </p:nvSpPr>
          <p:spPr>
            <a:xfrm>
              <a:off x="571500" y="4167055"/>
              <a:ext cx="346729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Applications needing to adapt to unexpected inputs</a:t>
              </a:r>
              <a:endParaRPr lang="en-US" sz="1116" dirty="0"/>
            </a:p>
          </p:txBody>
        </p:sp>
        <p:sp>
          <p:nvSpPr>
            <p:cNvPr id="14" name="Text 11"/>
            <p:cNvSpPr/>
            <p:nvPr/>
          </p:nvSpPr>
          <p:spPr>
            <a:xfrm>
              <a:off x="571501" y="4395655"/>
              <a:ext cx="305051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Scenarios with unpredictable execution paths</a:t>
              </a:r>
              <a:endParaRPr lang="en-US" sz="1116" dirty="0"/>
            </a:p>
          </p:txBody>
        </p:sp>
        <p:sp>
          <p:nvSpPr>
            <p:cNvPr id="15" name="Text 12"/>
            <p:cNvSpPr/>
            <p:nvPr/>
          </p:nvSpPr>
          <p:spPr>
            <a:xfrm>
              <a:off x="571500" y="4624255"/>
              <a:ext cx="3427220"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Exploratory or creative tasks with ambiguous goals</a:t>
              </a:r>
              <a:endParaRPr lang="en-US" sz="1116" dirty="0"/>
            </a:p>
          </p:txBody>
        </p:sp>
      </p:grpSp>
      <p:grpSp>
        <p:nvGrpSpPr>
          <p:cNvPr id="37" name="Group 36">
            <a:extLst>
              <a:ext uri="{FF2B5EF4-FFF2-40B4-BE49-F238E27FC236}">
                <a16:creationId xmlns:a16="http://schemas.microsoft.com/office/drawing/2014/main" id="{A7C970A6-5BD7-0B60-9E45-A002ACC5AF38}"/>
              </a:ext>
            </a:extLst>
          </p:cNvPr>
          <p:cNvGrpSpPr/>
          <p:nvPr/>
        </p:nvGrpSpPr>
        <p:grpSpPr>
          <a:xfrm>
            <a:off x="5777460" y="2047743"/>
            <a:ext cx="5572125" cy="2222589"/>
            <a:chOff x="5777460" y="2047743"/>
            <a:chExt cx="5572125" cy="2222589"/>
          </a:xfrm>
        </p:grpSpPr>
        <p:sp>
          <p:nvSpPr>
            <p:cNvPr id="16" name="Text 13"/>
            <p:cNvSpPr/>
            <p:nvPr/>
          </p:nvSpPr>
          <p:spPr>
            <a:xfrm>
              <a:off x="5777460" y="2047743"/>
              <a:ext cx="1854675"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Strengths &amp; Risks</a:t>
              </a:r>
              <a:endParaRPr lang="en-US" sz="1651" dirty="0"/>
            </a:p>
          </p:txBody>
        </p:sp>
        <p:sp>
          <p:nvSpPr>
            <p:cNvPr id="17" name="Shape 14"/>
            <p:cNvSpPr/>
            <p:nvPr/>
          </p:nvSpPr>
          <p:spPr>
            <a:xfrm>
              <a:off x="5777460" y="2489157"/>
              <a:ext cx="2690812" cy="1781175"/>
            </a:xfrm>
            <a:prstGeom prst="rect">
              <a:avLst/>
            </a:prstGeom>
            <a:solidFill>
              <a:srgbClr val="2A9D8F">
                <a:alpha val="10000"/>
              </a:srgbClr>
            </a:solidFill>
            <a:ln/>
          </p:spPr>
          <p:txBody>
            <a:bodyPr/>
            <a:lstStyle/>
            <a:p>
              <a:endParaRPr lang="en-IN" sz="2400"/>
            </a:p>
          </p:txBody>
        </p:sp>
        <p:sp>
          <p:nvSpPr>
            <p:cNvPr id="18" name="Shape 15"/>
            <p:cNvSpPr/>
            <p:nvPr/>
          </p:nvSpPr>
          <p:spPr>
            <a:xfrm>
              <a:off x="5777460" y="2489157"/>
              <a:ext cx="38100" cy="1781175"/>
            </a:xfrm>
            <a:prstGeom prst="rect">
              <a:avLst/>
            </a:prstGeom>
            <a:solidFill>
              <a:srgbClr val="2A9D8F"/>
            </a:solidFill>
            <a:ln/>
          </p:spPr>
          <p:txBody>
            <a:bodyPr/>
            <a:lstStyle/>
            <a:p>
              <a:endParaRPr lang="en-IN" sz="2400"/>
            </a:p>
          </p:txBody>
        </p:sp>
        <p:pic>
          <p:nvPicPr>
            <p:cNvPr id="19" name="Image 1" descr="preencoded.png"/>
            <p:cNvPicPr>
              <a:picLocks noChangeAspect="1"/>
            </p:cNvPicPr>
            <p:nvPr/>
          </p:nvPicPr>
          <p:blipFill>
            <a:blip r:embed="rId3"/>
            <a:stretch>
              <a:fillRect/>
            </a:stretch>
          </p:blipFill>
          <p:spPr>
            <a:xfrm>
              <a:off x="5920334" y="2674894"/>
              <a:ext cx="171451" cy="171451"/>
            </a:xfrm>
            <a:prstGeom prst="rect">
              <a:avLst/>
            </a:prstGeom>
          </p:spPr>
        </p:pic>
        <p:sp>
          <p:nvSpPr>
            <p:cNvPr id="20" name="Text 16"/>
            <p:cNvSpPr/>
            <p:nvPr/>
          </p:nvSpPr>
          <p:spPr>
            <a:xfrm>
              <a:off x="6167985" y="2663990"/>
              <a:ext cx="791883"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Strengths</a:t>
              </a:r>
              <a:endParaRPr lang="en-US" sz="1256" dirty="0"/>
            </a:p>
          </p:txBody>
        </p:sp>
        <p:sp>
          <p:nvSpPr>
            <p:cNvPr id="21" name="Text 17"/>
            <p:cNvSpPr/>
            <p:nvPr/>
          </p:nvSpPr>
          <p:spPr>
            <a:xfrm>
              <a:off x="6110835" y="3012899"/>
              <a:ext cx="144911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Predictable execution</a:t>
              </a:r>
              <a:endParaRPr lang="en-US" sz="1116" dirty="0"/>
            </a:p>
          </p:txBody>
        </p:sp>
        <p:sp>
          <p:nvSpPr>
            <p:cNvPr id="22" name="Text 18"/>
            <p:cNvSpPr/>
            <p:nvPr/>
          </p:nvSpPr>
          <p:spPr>
            <a:xfrm>
              <a:off x="6110834" y="3241499"/>
              <a:ext cx="164628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Comprehensive auditing</a:t>
              </a:r>
              <a:endParaRPr lang="en-US" sz="1116" dirty="0"/>
            </a:p>
          </p:txBody>
        </p:sp>
        <p:sp>
          <p:nvSpPr>
            <p:cNvPr id="23" name="Text 19"/>
            <p:cNvSpPr/>
            <p:nvPr/>
          </p:nvSpPr>
          <p:spPr>
            <a:xfrm>
              <a:off x="6110834" y="3584399"/>
              <a:ext cx="2195512" cy="171714"/>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Human-in-the-loop integration</a:t>
              </a:r>
              <a:endParaRPr lang="en-US" sz="1116" dirty="0"/>
            </a:p>
          </p:txBody>
        </p:sp>
        <p:sp>
          <p:nvSpPr>
            <p:cNvPr id="24" name="Text 20"/>
            <p:cNvSpPr/>
            <p:nvPr/>
          </p:nvSpPr>
          <p:spPr>
            <a:xfrm>
              <a:off x="6110834" y="3927299"/>
              <a:ext cx="154208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Reliable error handling</a:t>
              </a:r>
              <a:endParaRPr lang="en-US" sz="1116" dirty="0"/>
            </a:p>
          </p:txBody>
        </p:sp>
        <p:sp>
          <p:nvSpPr>
            <p:cNvPr id="25" name="Shape 21"/>
            <p:cNvSpPr/>
            <p:nvPr/>
          </p:nvSpPr>
          <p:spPr>
            <a:xfrm>
              <a:off x="8639722" y="2489157"/>
              <a:ext cx="2709863" cy="1781175"/>
            </a:xfrm>
            <a:prstGeom prst="rect">
              <a:avLst/>
            </a:prstGeom>
            <a:solidFill>
              <a:srgbClr val="E76F51">
                <a:alpha val="10000"/>
              </a:srgbClr>
            </a:solidFill>
            <a:ln/>
          </p:spPr>
          <p:txBody>
            <a:bodyPr/>
            <a:lstStyle/>
            <a:p>
              <a:endParaRPr lang="en-IN" sz="2400"/>
            </a:p>
          </p:txBody>
        </p:sp>
        <p:sp>
          <p:nvSpPr>
            <p:cNvPr id="26" name="Shape 22"/>
            <p:cNvSpPr/>
            <p:nvPr/>
          </p:nvSpPr>
          <p:spPr>
            <a:xfrm>
              <a:off x="8639722" y="2489157"/>
              <a:ext cx="38100" cy="1781175"/>
            </a:xfrm>
            <a:prstGeom prst="rect">
              <a:avLst/>
            </a:prstGeom>
            <a:solidFill>
              <a:srgbClr val="E76F51"/>
            </a:solidFill>
            <a:ln/>
          </p:spPr>
          <p:txBody>
            <a:bodyPr/>
            <a:lstStyle/>
            <a:p>
              <a:endParaRPr lang="en-IN" sz="2400"/>
            </a:p>
          </p:txBody>
        </p:sp>
        <p:pic>
          <p:nvPicPr>
            <p:cNvPr id="27" name="Image 2" descr="preencoded.png"/>
            <p:cNvPicPr>
              <a:picLocks noChangeAspect="1"/>
            </p:cNvPicPr>
            <p:nvPr/>
          </p:nvPicPr>
          <p:blipFill>
            <a:blip r:embed="rId4"/>
            <a:stretch>
              <a:fillRect/>
            </a:stretch>
          </p:blipFill>
          <p:spPr>
            <a:xfrm>
              <a:off x="8801647" y="2903494"/>
              <a:ext cx="171451" cy="171451"/>
            </a:xfrm>
            <a:prstGeom prst="rect">
              <a:avLst/>
            </a:prstGeom>
          </p:spPr>
        </p:pic>
        <p:sp>
          <p:nvSpPr>
            <p:cNvPr id="28" name="Text 23"/>
            <p:cNvSpPr/>
            <p:nvPr/>
          </p:nvSpPr>
          <p:spPr>
            <a:xfrm>
              <a:off x="9049296" y="2892590"/>
              <a:ext cx="415178"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Risks</a:t>
              </a:r>
              <a:endParaRPr lang="en-US" sz="1256" dirty="0"/>
            </a:p>
          </p:txBody>
        </p:sp>
        <p:sp>
          <p:nvSpPr>
            <p:cNvPr id="29" name="Text 24"/>
            <p:cNvSpPr/>
            <p:nvPr/>
          </p:nvSpPr>
          <p:spPr>
            <a:xfrm>
              <a:off x="8992147" y="3241499"/>
              <a:ext cx="133049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Limited adaptability</a:t>
              </a:r>
              <a:endParaRPr lang="en-US" sz="1116" dirty="0"/>
            </a:p>
          </p:txBody>
        </p:sp>
        <p:sp>
          <p:nvSpPr>
            <p:cNvPr id="30" name="Text 25"/>
            <p:cNvSpPr/>
            <p:nvPr/>
          </p:nvSpPr>
          <p:spPr>
            <a:xfrm>
              <a:off x="8992147" y="3470099"/>
              <a:ext cx="141224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Potential bottlenecks</a:t>
              </a:r>
              <a:endParaRPr lang="en-US" sz="1116" dirty="0"/>
            </a:p>
          </p:txBody>
        </p:sp>
        <p:sp>
          <p:nvSpPr>
            <p:cNvPr id="31" name="Text 26"/>
            <p:cNvSpPr/>
            <p:nvPr/>
          </p:nvSpPr>
          <p:spPr>
            <a:xfrm>
              <a:off x="8992148" y="3698699"/>
              <a:ext cx="188673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Complex orchestration logic</a:t>
              </a:r>
              <a:endParaRPr lang="en-US" sz="1116" dirty="0"/>
            </a:p>
          </p:txBody>
        </p:sp>
        <p:sp>
          <p:nvSpPr>
            <p:cNvPr id="32" name="Text 27"/>
            <p:cNvSpPr/>
            <p:nvPr/>
          </p:nvSpPr>
          <p:spPr>
            <a:xfrm>
              <a:off x="8992147" y="3927299"/>
              <a:ext cx="154369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Maintenance overhead</a:t>
              </a:r>
              <a:endParaRPr lang="en-US" sz="1116"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6915355"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Static Workflows Template Architecture</a:t>
            </a:r>
            <a:endParaRPr lang="en-US" sz="2700" dirty="0"/>
          </a:p>
        </p:txBody>
      </p:sp>
      <p:sp>
        <p:nvSpPr>
          <p:cNvPr id="4" name="Text 1"/>
          <p:cNvSpPr/>
          <p:nvPr/>
        </p:nvSpPr>
        <p:spPr>
          <a:xfrm>
            <a:off x="381001" y="1120688"/>
            <a:ext cx="1883529"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Core Components</a:t>
            </a:r>
            <a:endParaRPr lang="en-US" sz="1651" dirty="0"/>
          </a:p>
        </p:txBody>
      </p:sp>
      <p:sp>
        <p:nvSpPr>
          <p:cNvPr id="5" name="Shape 2"/>
          <p:cNvSpPr/>
          <p:nvPr/>
        </p:nvSpPr>
        <p:spPr>
          <a:xfrm>
            <a:off x="381000" y="1562101"/>
            <a:ext cx="5572125" cy="590551"/>
          </a:xfrm>
          <a:prstGeom prst="rect">
            <a:avLst/>
          </a:prstGeom>
          <a:solidFill>
            <a:srgbClr val="E9C46A">
              <a:alpha val="5000"/>
            </a:srgbClr>
          </a:solidFill>
          <a:ln/>
        </p:spPr>
        <p:txBody>
          <a:bodyPr/>
          <a:lstStyle/>
          <a:p>
            <a:endParaRPr lang="en-IN" sz="2400"/>
          </a:p>
        </p:txBody>
      </p:sp>
      <p:sp>
        <p:nvSpPr>
          <p:cNvPr id="6" name="Shape 3"/>
          <p:cNvSpPr/>
          <p:nvPr/>
        </p:nvSpPr>
        <p:spPr>
          <a:xfrm>
            <a:off x="457200" y="1704975"/>
            <a:ext cx="304800" cy="304800"/>
          </a:xfrm>
          <a:prstGeom prst="rect">
            <a:avLst/>
          </a:prstGeom>
          <a:solidFill>
            <a:srgbClr val="E9C46A"/>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52451" y="1781175"/>
            <a:ext cx="114300" cy="152400"/>
          </a:xfrm>
          <a:prstGeom prst="rect">
            <a:avLst/>
          </a:prstGeom>
        </p:spPr>
      </p:pic>
      <p:sp>
        <p:nvSpPr>
          <p:cNvPr id="8" name="Text 4"/>
          <p:cNvSpPr/>
          <p:nvPr/>
        </p:nvSpPr>
        <p:spPr>
          <a:xfrm>
            <a:off x="876300" y="1666743"/>
            <a:ext cx="229069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Event Triggers / HTTP Endpoints</a:t>
            </a:r>
            <a:endParaRPr lang="en-US" sz="1116" dirty="0"/>
          </a:p>
        </p:txBody>
      </p:sp>
      <p:sp>
        <p:nvSpPr>
          <p:cNvPr id="9" name="Text 5"/>
          <p:cNvSpPr/>
          <p:nvPr/>
        </p:nvSpPr>
        <p:spPr>
          <a:xfrm>
            <a:off x="876301" y="1906117"/>
            <a:ext cx="409246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Scheduled jobs, webhooks, or user interactions that initiate workflows</a:t>
            </a:r>
            <a:endParaRPr lang="en-US" sz="976" dirty="0"/>
          </a:p>
        </p:txBody>
      </p:sp>
      <p:sp>
        <p:nvSpPr>
          <p:cNvPr id="10" name="Shape 6"/>
          <p:cNvSpPr/>
          <p:nvPr/>
        </p:nvSpPr>
        <p:spPr>
          <a:xfrm>
            <a:off x="381000" y="2266951"/>
            <a:ext cx="5572125" cy="590551"/>
          </a:xfrm>
          <a:prstGeom prst="rect">
            <a:avLst/>
          </a:prstGeom>
          <a:solidFill>
            <a:srgbClr val="E9C46A">
              <a:alpha val="5000"/>
            </a:srgbClr>
          </a:solidFill>
          <a:ln/>
        </p:spPr>
        <p:txBody>
          <a:bodyPr/>
          <a:lstStyle/>
          <a:p>
            <a:endParaRPr lang="en-IN" sz="2400"/>
          </a:p>
        </p:txBody>
      </p:sp>
      <p:sp>
        <p:nvSpPr>
          <p:cNvPr id="11" name="Shape 7"/>
          <p:cNvSpPr/>
          <p:nvPr/>
        </p:nvSpPr>
        <p:spPr>
          <a:xfrm>
            <a:off x="457200" y="2409825"/>
            <a:ext cx="304800" cy="304800"/>
          </a:xfrm>
          <a:prstGeom prst="rect">
            <a:avLst/>
          </a:prstGeom>
          <a:solidFill>
            <a:srgbClr val="E9C46A"/>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23875" y="2486025"/>
            <a:ext cx="171451" cy="152400"/>
          </a:xfrm>
          <a:prstGeom prst="rect">
            <a:avLst/>
          </a:prstGeom>
        </p:spPr>
      </p:pic>
      <p:sp>
        <p:nvSpPr>
          <p:cNvPr id="13" name="Text 8"/>
          <p:cNvSpPr/>
          <p:nvPr/>
        </p:nvSpPr>
        <p:spPr>
          <a:xfrm>
            <a:off x="876301" y="2371594"/>
            <a:ext cx="93455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Orchestrator</a:t>
            </a:r>
            <a:endParaRPr lang="en-US" sz="1116" dirty="0"/>
          </a:p>
        </p:txBody>
      </p:sp>
      <p:sp>
        <p:nvSpPr>
          <p:cNvPr id="14" name="Text 9"/>
          <p:cNvSpPr/>
          <p:nvPr/>
        </p:nvSpPr>
        <p:spPr>
          <a:xfrm>
            <a:off x="876300" y="2610966"/>
            <a:ext cx="4433906"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Logic Apps or Durable Functions that manage workflow state and execution</a:t>
            </a:r>
            <a:endParaRPr lang="en-US" sz="976" dirty="0"/>
          </a:p>
        </p:txBody>
      </p:sp>
      <p:sp>
        <p:nvSpPr>
          <p:cNvPr id="15" name="Shape 10"/>
          <p:cNvSpPr/>
          <p:nvPr/>
        </p:nvSpPr>
        <p:spPr>
          <a:xfrm>
            <a:off x="381000" y="2971801"/>
            <a:ext cx="5572125" cy="590551"/>
          </a:xfrm>
          <a:prstGeom prst="rect">
            <a:avLst/>
          </a:prstGeom>
          <a:solidFill>
            <a:srgbClr val="E9C46A">
              <a:alpha val="5000"/>
            </a:srgbClr>
          </a:solidFill>
          <a:ln/>
        </p:spPr>
        <p:txBody>
          <a:bodyPr/>
          <a:lstStyle/>
          <a:p>
            <a:endParaRPr lang="en-IN" sz="2400"/>
          </a:p>
        </p:txBody>
      </p:sp>
      <p:sp>
        <p:nvSpPr>
          <p:cNvPr id="16" name="Shape 11"/>
          <p:cNvSpPr/>
          <p:nvPr/>
        </p:nvSpPr>
        <p:spPr>
          <a:xfrm>
            <a:off x="457200" y="3114675"/>
            <a:ext cx="304800" cy="304800"/>
          </a:xfrm>
          <a:prstGeom prst="rect">
            <a:avLst/>
          </a:prstGeom>
          <a:solidFill>
            <a:srgbClr val="E9C46A"/>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33400" y="3190875"/>
            <a:ext cx="152400" cy="152400"/>
          </a:xfrm>
          <a:prstGeom prst="rect">
            <a:avLst/>
          </a:prstGeom>
        </p:spPr>
      </p:pic>
      <p:sp>
        <p:nvSpPr>
          <p:cNvPr id="18" name="Text 12"/>
          <p:cNvSpPr/>
          <p:nvPr/>
        </p:nvSpPr>
        <p:spPr>
          <a:xfrm>
            <a:off x="876301" y="3076443"/>
            <a:ext cx="71814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LLM Steps</a:t>
            </a:r>
            <a:endParaRPr lang="en-US" sz="1116" dirty="0"/>
          </a:p>
        </p:txBody>
      </p:sp>
      <p:sp>
        <p:nvSpPr>
          <p:cNvPr id="19" name="Text 13"/>
          <p:cNvSpPr/>
          <p:nvPr/>
        </p:nvSpPr>
        <p:spPr>
          <a:xfrm>
            <a:off x="876300" y="3315817"/>
            <a:ext cx="345928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Discrete AI processing stages with clear inputs and outputs</a:t>
            </a:r>
            <a:endParaRPr lang="en-US" sz="976" dirty="0"/>
          </a:p>
        </p:txBody>
      </p:sp>
      <p:sp>
        <p:nvSpPr>
          <p:cNvPr id="20" name="Shape 14"/>
          <p:cNvSpPr/>
          <p:nvPr/>
        </p:nvSpPr>
        <p:spPr>
          <a:xfrm>
            <a:off x="381000" y="3676651"/>
            <a:ext cx="5572125" cy="590551"/>
          </a:xfrm>
          <a:prstGeom prst="rect">
            <a:avLst/>
          </a:prstGeom>
          <a:solidFill>
            <a:srgbClr val="E9C46A">
              <a:alpha val="5000"/>
            </a:srgbClr>
          </a:solidFill>
          <a:ln/>
        </p:spPr>
        <p:txBody>
          <a:bodyPr/>
          <a:lstStyle/>
          <a:p>
            <a:endParaRPr lang="en-IN" sz="2400"/>
          </a:p>
        </p:txBody>
      </p:sp>
      <p:sp>
        <p:nvSpPr>
          <p:cNvPr id="21" name="Shape 15"/>
          <p:cNvSpPr/>
          <p:nvPr/>
        </p:nvSpPr>
        <p:spPr>
          <a:xfrm>
            <a:off x="457200" y="3819525"/>
            <a:ext cx="304800" cy="304800"/>
          </a:xfrm>
          <a:prstGeom prst="rect">
            <a:avLst/>
          </a:prstGeom>
          <a:solidFill>
            <a:srgbClr val="E9C46A"/>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514351" y="3895725"/>
            <a:ext cx="190500" cy="152400"/>
          </a:xfrm>
          <a:prstGeom prst="rect">
            <a:avLst/>
          </a:prstGeom>
        </p:spPr>
      </p:pic>
      <p:sp>
        <p:nvSpPr>
          <p:cNvPr id="23" name="Text 16"/>
          <p:cNvSpPr/>
          <p:nvPr/>
        </p:nvSpPr>
        <p:spPr>
          <a:xfrm>
            <a:off x="876300" y="3781294"/>
            <a:ext cx="137377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Human-in-the-loop</a:t>
            </a:r>
            <a:endParaRPr lang="en-US" sz="1116" dirty="0"/>
          </a:p>
        </p:txBody>
      </p:sp>
      <p:sp>
        <p:nvSpPr>
          <p:cNvPr id="24" name="Text 17"/>
          <p:cNvSpPr/>
          <p:nvPr/>
        </p:nvSpPr>
        <p:spPr>
          <a:xfrm>
            <a:off x="876300" y="4020666"/>
            <a:ext cx="264335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Approval gates and manual review interfaces</a:t>
            </a:r>
            <a:endParaRPr lang="en-US" sz="976" dirty="0"/>
          </a:p>
        </p:txBody>
      </p:sp>
      <p:sp>
        <p:nvSpPr>
          <p:cNvPr id="25" name="Shape 18"/>
          <p:cNvSpPr/>
          <p:nvPr/>
        </p:nvSpPr>
        <p:spPr>
          <a:xfrm>
            <a:off x="381000" y="4381501"/>
            <a:ext cx="5572125" cy="590551"/>
          </a:xfrm>
          <a:prstGeom prst="rect">
            <a:avLst/>
          </a:prstGeom>
          <a:solidFill>
            <a:srgbClr val="E9C46A">
              <a:alpha val="5000"/>
            </a:srgbClr>
          </a:solidFill>
          <a:ln/>
        </p:spPr>
        <p:txBody>
          <a:bodyPr/>
          <a:lstStyle/>
          <a:p>
            <a:endParaRPr lang="en-IN" sz="2400"/>
          </a:p>
        </p:txBody>
      </p:sp>
      <p:sp>
        <p:nvSpPr>
          <p:cNvPr id="26" name="Shape 19"/>
          <p:cNvSpPr/>
          <p:nvPr/>
        </p:nvSpPr>
        <p:spPr>
          <a:xfrm>
            <a:off x="457200" y="4524375"/>
            <a:ext cx="304800" cy="304800"/>
          </a:xfrm>
          <a:prstGeom prst="rect">
            <a:avLst/>
          </a:prstGeom>
          <a:solidFill>
            <a:srgbClr val="E9C46A"/>
          </a:solidFill>
          <a:ln/>
        </p:spPr>
        <p:txBody>
          <a:bodyPr/>
          <a:lstStyle/>
          <a:p>
            <a:endParaRPr lang="en-IN" sz="2400"/>
          </a:p>
        </p:txBody>
      </p:sp>
      <p:pic>
        <p:nvPicPr>
          <p:cNvPr id="27" name="Image 5" descr="preencoded.png"/>
          <p:cNvPicPr>
            <a:picLocks noChangeAspect="1"/>
          </p:cNvPicPr>
          <p:nvPr/>
        </p:nvPicPr>
        <p:blipFill>
          <a:blip r:embed="rId7"/>
          <a:stretch>
            <a:fillRect/>
          </a:stretch>
        </p:blipFill>
        <p:spPr>
          <a:xfrm>
            <a:off x="542926" y="4600575"/>
            <a:ext cx="133351" cy="152400"/>
          </a:xfrm>
          <a:prstGeom prst="rect">
            <a:avLst/>
          </a:prstGeom>
        </p:spPr>
      </p:pic>
      <p:sp>
        <p:nvSpPr>
          <p:cNvPr id="28" name="Text 20"/>
          <p:cNvSpPr/>
          <p:nvPr/>
        </p:nvSpPr>
        <p:spPr>
          <a:xfrm>
            <a:off x="876301" y="4486143"/>
            <a:ext cx="55624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Storage</a:t>
            </a:r>
            <a:endParaRPr lang="en-US" sz="1116" dirty="0"/>
          </a:p>
        </p:txBody>
      </p:sp>
      <p:sp>
        <p:nvSpPr>
          <p:cNvPr id="29" name="Text 21"/>
          <p:cNvSpPr/>
          <p:nvPr/>
        </p:nvSpPr>
        <p:spPr>
          <a:xfrm>
            <a:off x="876300" y="4725517"/>
            <a:ext cx="3316614"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Blob storage or databases for workflow state and results</a:t>
            </a:r>
            <a:endParaRPr lang="en-US" sz="976" dirty="0"/>
          </a:p>
        </p:txBody>
      </p:sp>
      <p:grpSp>
        <p:nvGrpSpPr>
          <p:cNvPr id="49" name="Group 48">
            <a:extLst>
              <a:ext uri="{FF2B5EF4-FFF2-40B4-BE49-F238E27FC236}">
                <a16:creationId xmlns:a16="http://schemas.microsoft.com/office/drawing/2014/main" id="{95CA3517-AE87-B759-3B24-C68C83EC6952}"/>
              </a:ext>
            </a:extLst>
          </p:cNvPr>
          <p:cNvGrpSpPr/>
          <p:nvPr/>
        </p:nvGrpSpPr>
        <p:grpSpPr>
          <a:xfrm>
            <a:off x="6263392" y="2343149"/>
            <a:ext cx="5572125" cy="2228851"/>
            <a:chOff x="381000" y="5467351"/>
            <a:chExt cx="5572125" cy="2228851"/>
          </a:xfrm>
        </p:grpSpPr>
        <p:sp>
          <p:nvSpPr>
            <p:cNvPr id="30" name="Shape 22"/>
            <p:cNvSpPr/>
            <p:nvPr/>
          </p:nvSpPr>
          <p:spPr>
            <a:xfrm>
              <a:off x="381000" y="5467351"/>
              <a:ext cx="5572125" cy="2228851"/>
            </a:xfrm>
            <a:prstGeom prst="rect">
              <a:avLst/>
            </a:prstGeom>
            <a:solidFill>
              <a:srgbClr val="F8F9FA"/>
            </a:solidFill>
            <a:ln w="99">
              <a:solidFill>
                <a:srgbClr val="DDDDDD"/>
              </a:solidFill>
              <a:prstDash val="solid"/>
            </a:ln>
          </p:spPr>
          <p:txBody>
            <a:bodyPr/>
            <a:lstStyle/>
            <a:p>
              <a:endParaRPr lang="en-IN" sz="2400"/>
            </a:p>
          </p:txBody>
        </p:sp>
        <p:sp>
          <p:nvSpPr>
            <p:cNvPr id="31" name="Text 23"/>
            <p:cNvSpPr/>
            <p:nvPr/>
          </p:nvSpPr>
          <p:spPr>
            <a:xfrm>
              <a:off x="523876" y="5645063"/>
              <a:ext cx="2101537"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Key Emphasis Areas</a:t>
              </a:r>
              <a:endParaRPr lang="en-US" sz="1651" dirty="0"/>
            </a:p>
          </p:txBody>
        </p:sp>
        <p:pic>
          <p:nvPicPr>
            <p:cNvPr id="32" name="Image 6" descr="preencoded.png"/>
            <p:cNvPicPr>
              <a:picLocks noChangeAspect="1"/>
            </p:cNvPicPr>
            <p:nvPr/>
          </p:nvPicPr>
          <p:blipFill>
            <a:blip r:embed="rId8"/>
            <a:stretch>
              <a:fillRect/>
            </a:stretch>
          </p:blipFill>
          <p:spPr>
            <a:xfrm>
              <a:off x="523875" y="6124575"/>
              <a:ext cx="152400" cy="152400"/>
            </a:xfrm>
            <a:prstGeom prst="rect">
              <a:avLst/>
            </a:prstGeom>
          </p:spPr>
        </p:pic>
        <p:sp>
          <p:nvSpPr>
            <p:cNvPr id="33" name="Text 24"/>
            <p:cNvSpPr/>
            <p:nvPr/>
          </p:nvSpPr>
          <p:spPr>
            <a:xfrm>
              <a:off x="752475" y="6113728"/>
              <a:ext cx="99386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Idempotency:</a:t>
              </a:r>
              <a:endParaRPr lang="en-US" sz="1116" dirty="0"/>
            </a:p>
          </p:txBody>
        </p:sp>
        <p:sp>
          <p:nvSpPr>
            <p:cNvPr id="34" name="Text 25"/>
            <p:cNvSpPr/>
            <p:nvPr/>
          </p:nvSpPr>
          <p:spPr>
            <a:xfrm>
              <a:off x="1803611" y="6113728"/>
              <a:ext cx="3534622"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Operations can be safely retried without side effects</a:t>
              </a:r>
              <a:endParaRPr lang="en-US" sz="1116" dirty="0"/>
            </a:p>
          </p:txBody>
        </p:sp>
        <p:pic>
          <p:nvPicPr>
            <p:cNvPr id="35" name="Image 7" descr="preencoded.png"/>
            <p:cNvPicPr>
              <a:picLocks noChangeAspect="1"/>
            </p:cNvPicPr>
            <p:nvPr/>
          </p:nvPicPr>
          <p:blipFill>
            <a:blip r:embed="rId9"/>
            <a:stretch>
              <a:fillRect/>
            </a:stretch>
          </p:blipFill>
          <p:spPr>
            <a:xfrm>
              <a:off x="523875" y="6543675"/>
              <a:ext cx="152400" cy="152400"/>
            </a:xfrm>
            <a:prstGeom prst="rect">
              <a:avLst/>
            </a:prstGeom>
          </p:spPr>
        </p:pic>
        <p:sp>
          <p:nvSpPr>
            <p:cNvPr id="36" name="Text 26"/>
            <p:cNvSpPr/>
            <p:nvPr/>
          </p:nvSpPr>
          <p:spPr>
            <a:xfrm>
              <a:off x="752475" y="6418528"/>
              <a:ext cx="553037"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Retries:</a:t>
              </a:r>
              <a:endParaRPr lang="en-US" sz="1116" dirty="0"/>
            </a:p>
          </p:txBody>
        </p:sp>
        <p:sp>
          <p:nvSpPr>
            <p:cNvPr id="37" name="Text 27"/>
            <p:cNvSpPr/>
            <p:nvPr/>
          </p:nvSpPr>
          <p:spPr>
            <a:xfrm>
              <a:off x="1334208" y="6418528"/>
              <a:ext cx="3989875"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Automatic retry mechanisms with exponential backoff and </a:t>
              </a:r>
              <a:endParaRPr lang="en-US" sz="1116" dirty="0"/>
            </a:p>
          </p:txBody>
        </p:sp>
        <p:sp>
          <p:nvSpPr>
            <p:cNvPr id="38" name="Text 28"/>
            <p:cNvSpPr/>
            <p:nvPr/>
          </p:nvSpPr>
          <p:spPr>
            <a:xfrm>
              <a:off x="752475" y="6647128"/>
              <a:ext cx="315792"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jitter</a:t>
              </a:r>
              <a:endParaRPr lang="en-US" sz="1116" dirty="0"/>
            </a:p>
          </p:txBody>
        </p:sp>
        <p:pic>
          <p:nvPicPr>
            <p:cNvPr id="39" name="Image 8" descr="preencoded.png"/>
            <p:cNvPicPr>
              <a:picLocks noChangeAspect="1"/>
            </p:cNvPicPr>
            <p:nvPr/>
          </p:nvPicPr>
          <p:blipFill>
            <a:blip r:embed="rId10"/>
            <a:stretch>
              <a:fillRect/>
            </a:stretch>
          </p:blipFill>
          <p:spPr>
            <a:xfrm>
              <a:off x="523875" y="6962775"/>
              <a:ext cx="152400" cy="152400"/>
            </a:xfrm>
            <a:prstGeom prst="rect">
              <a:avLst/>
            </a:prstGeom>
          </p:spPr>
        </p:pic>
        <p:sp>
          <p:nvSpPr>
            <p:cNvPr id="40" name="Text 29"/>
            <p:cNvSpPr/>
            <p:nvPr/>
          </p:nvSpPr>
          <p:spPr>
            <a:xfrm>
              <a:off x="752475" y="6951928"/>
              <a:ext cx="71493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Timeouts:</a:t>
              </a:r>
              <a:endParaRPr lang="en-US" sz="1116" dirty="0"/>
            </a:p>
          </p:txBody>
        </p:sp>
        <p:sp>
          <p:nvSpPr>
            <p:cNvPr id="41" name="Text 30"/>
            <p:cNvSpPr/>
            <p:nvPr/>
          </p:nvSpPr>
          <p:spPr>
            <a:xfrm>
              <a:off x="1506737" y="6951928"/>
              <a:ext cx="3111429"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Configurable timeouts for each workflow step</a:t>
              </a:r>
              <a:endParaRPr lang="en-US" sz="1116" dirty="0"/>
            </a:p>
          </p:txBody>
        </p:sp>
        <p:pic>
          <p:nvPicPr>
            <p:cNvPr id="42" name="Image 9" descr="preencoded.png"/>
            <p:cNvPicPr>
              <a:picLocks noChangeAspect="1"/>
            </p:cNvPicPr>
            <p:nvPr/>
          </p:nvPicPr>
          <p:blipFill>
            <a:blip r:embed="rId11"/>
            <a:stretch>
              <a:fillRect/>
            </a:stretch>
          </p:blipFill>
          <p:spPr>
            <a:xfrm>
              <a:off x="523875" y="7267575"/>
              <a:ext cx="152400" cy="152400"/>
            </a:xfrm>
            <a:prstGeom prst="rect">
              <a:avLst/>
            </a:prstGeom>
          </p:spPr>
        </p:pic>
        <p:sp>
          <p:nvSpPr>
            <p:cNvPr id="43" name="Text 31"/>
            <p:cNvSpPr/>
            <p:nvPr/>
          </p:nvSpPr>
          <p:spPr>
            <a:xfrm>
              <a:off x="752475" y="7256728"/>
              <a:ext cx="41678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DLQs:</a:t>
              </a:r>
              <a:endParaRPr lang="en-US" sz="1116" dirty="0"/>
            </a:p>
          </p:txBody>
        </p:sp>
        <p:sp>
          <p:nvSpPr>
            <p:cNvPr id="44" name="Text 32"/>
            <p:cNvSpPr/>
            <p:nvPr/>
          </p:nvSpPr>
          <p:spPr>
            <a:xfrm>
              <a:off x="1188802" y="7256728"/>
              <a:ext cx="3351880"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Dead letter queues for handling failed operations</a:t>
              </a:r>
              <a:endParaRPr lang="en-US" sz="1116"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5430974"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Static Workflows Best Practices</a:t>
            </a:r>
            <a:endParaRPr lang="en-US" sz="2700" dirty="0"/>
          </a:p>
        </p:txBody>
      </p:sp>
      <p:sp>
        <p:nvSpPr>
          <p:cNvPr id="4" name="Text 1"/>
          <p:cNvSpPr/>
          <p:nvPr/>
        </p:nvSpPr>
        <p:spPr>
          <a:xfrm>
            <a:off x="381001" y="1120688"/>
            <a:ext cx="1816203"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Design Principles</a:t>
            </a:r>
            <a:endParaRPr lang="en-US" sz="1651" dirty="0"/>
          </a:p>
        </p:txBody>
      </p:sp>
      <p:sp>
        <p:nvSpPr>
          <p:cNvPr id="5" name="Shape 2"/>
          <p:cNvSpPr/>
          <p:nvPr/>
        </p:nvSpPr>
        <p:spPr>
          <a:xfrm>
            <a:off x="381000" y="1543051"/>
            <a:ext cx="5572125" cy="781051"/>
          </a:xfrm>
          <a:prstGeom prst="rect">
            <a:avLst/>
          </a:prstGeom>
          <a:solidFill>
            <a:srgbClr val="E9C46A">
              <a:alpha val="5000"/>
            </a:srgbClr>
          </a:solidFill>
          <a:ln/>
        </p:spPr>
        <p:txBody>
          <a:bodyPr/>
          <a:lstStyle/>
          <a:p>
            <a:endParaRPr lang="en-IN" sz="2400"/>
          </a:p>
        </p:txBody>
      </p:sp>
      <p:sp>
        <p:nvSpPr>
          <p:cNvPr id="6" name="Shape 3"/>
          <p:cNvSpPr/>
          <p:nvPr/>
        </p:nvSpPr>
        <p:spPr>
          <a:xfrm>
            <a:off x="457200" y="1638300"/>
            <a:ext cx="228600" cy="228600"/>
          </a:xfrm>
          <a:prstGeom prst="ellipse">
            <a:avLst/>
          </a:prstGeom>
          <a:solidFill>
            <a:srgbClr val="E9C46A"/>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04826" y="1747838"/>
            <a:ext cx="133351" cy="9525"/>
          </a:xfrm>
          <a:prstGeom prst="rect">
            <a:avLst/>
          </a:prstGeom>
        </p:spPr>
      </p:pic>
      <p:sp>
        <p:nvSpPr>
          <p:cNvPr id="8" name="Text 4"/>
          <p:cNvSpPr/>
          <p:nvPr/>
        </p:nvSpPr>
        <p:spPr>
          <a:xfrm>
            <a:off x="800100" y="1647694"/>
            <a:ext cx="112851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Modular Design</a:t>
            </a:r>
            <a:endParaRPr lang="en-US" sz="1116" dirty="0"/>
          </a:p>
        </p:txBody>
      </p:sp>
      <p:sp>
        <p:nvSpPr>
          <p:cNvPr id="9" name="Text 5"/>
          <p:cNvSpPr/>
          <p:nvPr/>
        </p:nvSpPr>
        <p:spPr>
          <a:xfrm>
            <a:off x="800101" y="1907231"/>
            <a:ext cx="5076825"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Break workflows into reusable components that can be independently tested and maintained.</a:t>
            </a:r>
            <a:endParaRPr lang="en-US" sz="976" dirty="0"/>
          </a:p>
        </p:txBody>
      </p:sp>
      <p:sp>
        <p:nvSpPr>
          <p:cNvPr id="10" name="Shape 6"/>
          <p:cNvSpPr/>
          <p:nvPr/>
        </p:nvSpPr>
        <p:spPr>
          <a:xfrm>
            <a:off x="381000" y="2419351"/>
            <a:ext cx="5572125" cy="781051"/>
          </a:xfrm>
          <a:prstGeom prst="rect">
            <a:avLst/>
          </a:prstGeom>
          <a:solidFill>
            <a:srgbClr val="E9C46A">
              <a:alpha val="5000"/>
            </a:srgbClr>
          </a:solidFill>
          <a:ln/>
        </p:spPr>
        <p:txBody>
          <a:bodyPr/>
          <a:lstStyle/>
          <a:p>
            <a:endParaRPr lang="en-IN" sz="2400"/>
          </a:p>
        </p:txBody>
      </p:sp>
      <p:sp>
        <p:nvSpPr>
          <p:cNvPr id="11" name="Shape 7"/>
          <p:cNvSpPr/>
          <p:nvPr/>
        </p:nvSpPr>
        <p:spPr>
          <a:xfrm>
            <a:off x="457200" y="2514600"/>
            <a:ext cx="228600" cy="228600"/>
          </a:xfrm>
          <a:prstGeom prst="ellipse">
            <a:avLst/>
          </a:prstGeom>
          <a:solidFill>
            <a:srgbClr val="E9C46A"/>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04826" y="2624138"/>
            <a:ext cx="133351" cy="9525"/>
          </a:xfrm>
          <a:prstGeom prst="rect">
            <a:avLst/>
          </a:prstGeom>
        </p:spPr>
      </p:pic>
      <p:sp>
        <p:nvSpPr>
          <p:cNvPr id="13" name="Text 8"/>
          <p:cNvSpPr/>
          <p:nvPr/>
        </p:nvSpPr>
        <p:spPr>
          <a:xfrm>
            <a:off x="800101" y="2523994"/>
            <a:ext cx="169116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Idempotent Operations</a:t>
            </a:r>
            <a:endParaRPr lang="en-US" sz="1116" dirty="0"/>
          </a:p>
        </p:txBody>
      </p:sp>
      <p:sp>
        <p:nvSpPr>
          <p:cNvPr id="14" name="Text 9"/>
          <p:cNvSpPr/>
          <p:nvPr/>
        </p:nvSpPr>
        <p:spPr>
          <a:xfrm>
            <a:off x="800101" y="2783531"/>
            <a:ext cx="5076825"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Design each step to be safely retried without side effects. Use idempotency keys for API calls.</a:t>
            </a:r>
            <a:endParaRPr lang="en-US" sz="976" dirty="0"/>
          </a:p>
        </p:txBody>
      </p:sp>
      <p:sp>
        <p:nvSpPr>
          <p:cNvPr id="15" name="Shape 10"/>
          <p:cNvSpPr/>
          <p:nvPr/>
        </p:nvSpPr>
        <p:spPr>
          <a:xfrm>
            <a:off x="381000" y="3295651"/>
            <a:ext cx="5572125" cy="781051"/>
          </a:xfrm>
          <a:prstGeom prst="rect">
            <a:avLst/>
          </a:prstGeom>
          <a:solidFill>
            <a:srgbClr val="E9C46A">
              <a:alpha val="5000"/>
            </a:srgbClr>
          </a:solidFill>
          <a:ln/>
        </p:spPr>
        <p:txBody>
          <a:bodyPr/>
          <a:lstStyle/>
          <a:p>
            <a:endParaRPr lang="en-IN" sz="2400"/>
          </a:p>
        </p:txBody>
      </p:sp>
      <p:sp>
        <p:nvSpPr>
          <p:cNvPr id="16" name="Shape 11"/>
          <p:cNvSpPr/>
          <p:nvPr/>
        </p:nvSpPr>
        <p:spPr>
          <a:xfrm>
            <a:off x="457200" y="3390900"/>
            <a:ext cx="228600" cy="228600"/>
          </a:xfrm>
          <a:prstGeom prst="ellipse">
            <a:avLst/>
          </a:prstGeom>
          <a:solidFill>
            <a:srgbClr val="E9C46A"/>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04826" y="3500438"/>
            <a:ext cx="133351" cy="9525"/>
          </a:xfrm>
          <a:prstGeom prst="rect">
            <a:avLst/>
          </a:prstGeom>
        </p:spPr>
      </p:pic>
      <p:sp>
        <p:nvSpPr>
          <p:cNvPr id="18" name="Text 12"/>
          <p:cNvSpPr/>
          <p:nvPr/>
        </p:nvSpPr>
        <p:spPr>
          <a:xfrm>
            <a:off x="800101" y="3400294"/>
            <a:ext cx="137217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State Management</a:t>
            </a:r>
            <a:endParaRPr lang="en-US" sz="1116" dirty="0"/>
          </a:p>
        </p:txBody>
      </p:sp>
      <p:sp>
        <p:nvSpPr>
          <p:cNvPr id="19" name="Text 13"/>
          <p:cNvSpPr/>
          <p:nvPr/>
        </p:nvSpPr>
        <p:spPr>
          <a:xfrm>
            <a:off x="800101" y="3659831"/>
            <a:ext cx="5076825"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Persist workflow state externally to enable recovery from failures. Use checkpoints at critical stages.</a:t>
            </a:r>
            <a:endParaRPr lang="en-US" sz="976" dirty="0"/>
          </a:p>
        </p:txBody>
      </p:sp>
      <p:sp>
        <p:nvSpPr>
          <p:cNvPr id="20" name="Shape 14"/>
          <p:cNvSpPr/>
          <p:nvPr/>
        </p:nvSpPr>
        <p:spPr>
          <a:xfrm>
            <a:off x="381000" y="4171951"/>
            <a:ext cx="5572125" cy="781051"/>
          </a:xfrm>
          <a:prstGeom prst="rect">
            <a:avLst/>
          </a:prstGeom>
          <a:solidFill>
            <a:srgbClr val="E9C46A">
              <a:alpha val="5000"/>
            </a:srgbClr>
          </a:solidFill>
          <a:ln/>
        </p:spPr>
        <p:txBody>
          <a:bodyPr/>
          <a:lstStyle/>
          <a:p>
            <a:endParaRPr lang="en-IN" sz="2400"/>
          </a:p>
        </p:txBody>
      </p:sp>
      <p:sp>
        <p:nvSpPr>
          <p:cNvPr id="21" name="Shape 15"/>
          <p:cNvSpPr/>
          <p:nvPr/>
        </p:nvSpPr>
        <p:spPr>
          <a:xfrm>
            <a:off x="457200" y="4267200"/>
            <a:ext cx="228600" cy="228600"/>
          </a:xfrm>
          <a:prstGeom prst="ellipse">
            <a:avLst/>
          </a:prstGeom>
          <a:solidFill>
            <a:srgbClr val="E9C46A"/>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504826" y="4376738"/>
            <a:ext cx="133351" cy="9525"/>
          </a:xfrm>
          <a:prstGeom prst="rect">
            <a:avLst/>
          </a:prstGeom>
        </p:spPr>
      </p:pic>
      <p:sp>
        <p:nvSpPr>
          <p:cNvPr id="23" name="Text 16"/>
          <p:cNvSpPr/>
          <p:nvPr/>
        </p:nvSpPr>
        <p:spPr>
          <a:xfrm>
            <a:off x="800101" y="4276594"/>
            <a:ext cx="105317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Error Handling</a:t>
            </a:r>
            <a:endParaRPr lang="en-US" sz="1116" dirty="0"/>
          </a:p>
        </p:txBody>
      </p:sp>
      <p:sp>
        <p:nvSpPr>
          <p:cNvPr id="24" name="Text 17"/>
          <p:cNvSpPr/>
          <p:nvPr/>
        </p:nvSpPr>
        <p:spPr>
          <a:xfrm>
            <a:off x="800101" y="4536131"/>
            <a:ext cx="5076825"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Implement comprehensive error handling with retry policies, circuit breakers, and dead letter queues.</a:t>
            </a:r>
            <a:endParaRPr lang="en-US" sz="976" dirty="0"/>
          </a:p>
        </p:txBody>
      </p:sp>
      <p:sp>
        <p:nvSpPr>
          <p:cNvPr id="25" name="Text 18"/>
          <p:cNvSpPr/>
          <p:nvPr/>
        </p:nvSpPr>
        <p:spPr>
          <a:xfrm>
            <a:off x="381000" y="5225963"/>
            <a:ext cx="2213748"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Implementation Tips</a:t>
            </a:r>
            <a:endParaRPr lang="en-US" sz="1651" dirty="0"/>
          </a:p>
        </p:txBody>
      </p:sp>
      <p:sp>
        <p:nvSpPr>
          <p:cNvPr id="26" name="Shape 19"/>
          <p:cNvSpPr/>
          <p:nvPr/>
        </p:nvSpPr>
        <p:spPr>
          <a:xfrm>
            <a:off x="381000" y="5648325"/>
            <a:ext cx="2747963" cy="781051"/>
          </a:xfrm>
          <a:prstGeom prst="rect">
            <a:avLst/>
          </a:prstGeom>
          <a:solidFill>
            <a:srgbClr val="E9C46A">
              <a:alpha val="5000"/>
            </a:srgbClr>
          </a:solidFill>
          <a:ln/>
        </p:spPr>
        <p:txBody>
          <a:bodyPr/>
          <a:lstStyle/>
          <a:p>
            <a:endParaRPr lang="en-IN" sz="2400"/>
          </a:p>
        </p:txBody>
      </p:sp>
      <p:sp>
        <p:nvSpPr>
          <p:cNvPr id="27" name="Shape 20"/>
          <p:cNvSpPr/>
          <p:nvPr/>
        </p:nvSpPr>
        <p:spPr>
          <a:xfrm>
            <a:off x="457200" y="5743575"/>
            <a:ext cx="228600" cy="228600"/>
          </a:xfrm>
          <a:prstGeom prst="ellipse">
            <a:avLst/>
          </a:prstGeom>
          <a:solidFill>
            <a:srgbClr val="E9C46A"/>
          </a:solidFill>
          <a:ln/>
        </p:spPr>
        <p:txBody>
          <a:bodyPr/>
          <a:lstStyle/>
          <a:p>
            <a:endParaRPr lang="en-IN" sz="2400"/>
          </a:p>
        </p:txBody>
      </p:sp>
      <p:pic>
        <p:nvPicPr>
          <p:cNvPr id="28" name="Image 5" descr="preencoded.png"/>
          <p:cNvPicPr>
            <a:picLocks noChangeAspect="1"/>
          </p:cNvPicPr>
          <p:nvPr/>
        </p:nvPicPr>
        <p:blipFill>
          <a:blip r:embed="rId7"/>
          <a:stretch>
            <a:fillRect/>
          </a:stretch>
        </p:blipFill>
        <p:spPr>
          <a:xfrm>
            <a:off x="513161" y="5853112"/>
            <a:ext cx="116681" cy="9525"/>
          </a:xfrm>
          <a:prstGeom prst="rect">
            <a:avLst/>
          </a:prstGeom>
        </p:spPr>
      </p:pic>
      <p:sp>
        <p:nvSpPr>
          <p:cNvPr id="29" name="Text 21"/>
          <p:cNvSpPr/>
          <p:nvPr/>
        </p:nvSpPr>
        <p:spPr>
          <a:xfrm>
            <a:off x="800100" y="5752968"/>
            <a:ext cx="111088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Version Control</a:t>
            </a:r>
            <a:endParaRPr lang="en-US" sz="1116" dirty="0"/>
          </a:p>
        </p:txBody>
      </p:sp>
      <p:sp>
        <p:nvSpPr>
          <p:cNvPr id="30" name="Text 22"/>
          <p:cNvSpPr/>
          <p:nvPr/>
        </p:nvSpPr>
        <p:spPr>
          <a:xfrm>
            <a:off x="800101" y="6012506"/>
            <a:ext cx="2252663"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Maintain workflow definitions in source control.</a:t>
            </a:r>
            <a:endParaRPr lang="en-US" sz="976" dirty="0"/>
          </a:p>
        </p:txBody>
      </p:sp>
      <p:sp>
        <p:nvSpPr>
          <p:cNvPr id="31" name="Shape 23"/>
          <p:cNvSpPr/>
          <p:nvPr/>
        </p:nvSpPr>
        <p:spPr>
          <a:xfrm>
            <a:off x="3205163" y="5648325"/>
            <a:ext cx="2747963" cy="781051"/>
          </a:xfrm>
          <a:prstGeom prst="rect">
            <a:avLst/>
          </a:prstGeom>
          <a:solidFill>
            <a:srgbClr val="E9C46A">
              <a:alpha val="5000"/>
            </a:srgbClr>
          </a:solidFill>
          <a:ln/>
        </p:spPr>
        <p:txBody>
          <a:bodyPr/>
          <a:lstStyle/>
          <a:p>
            <a:endParaRPr lang="en-IN" sz="2400"/>
          </a:p>
        </p:txBody>
      </p:sp>
      <p:sp>
        <p:nvSpPr>
          <p:cNvPr id="32" name="Shape 24"/>
          <p:cNvSpPr/>
          <p:nvPr/>
        </p:nvSpPr>
        <p:spPr>
          <a:xfrm>
            <a:off x="3281363" y="5743575"/>
            <a:ext cx="228600" cy="228600"/>
          </a:xfrm>
          <a:prstGeom prst="ellipse">
            <a:avLst/>
          </a:prstGeom>
          <a:solidFill>
            <a:srgbClr val="E9C46A"/>
          </a:solidFill>
          <a:ln/>
        </p:spPr>
        <p:txBody>
          <a:bodyPr/>
          <a:lstStyle/>
          <a:p>
            <a:endParaRPr lang="en-IN" sz="2400"/>
          </a:p>
        </p:txBody>
      </p:sp>
      <p:pic>
        <p:nvPicPr>
          <p:cNvPr id="33" name="Image 6" descr="preencoded.png"/>
          <p:cNvPicPr>
            <a:picLocks noChangeAspect="1"/>
          </p:cNvPicPr>
          <p:nvPr/>
        </p:nvPicPr>
        <p:blipFill>
          <a:blip r:embed="rId8"/>
          <a:stretch>
            <a:fillRect/>
          </a:stretch>
        </p:blipFill>
        <p:spPr>
          <a:xfrm>
            <a:off x="3320653" y="5853112"/>
            <a:ext cx="150019" cy="9525"/>
          </a:xfrm>
          <a:prstGeom prst="rect">
            <a:avLst/>
          </a:prstGeom>
        </p:spPr>
      </p:pic>
      <p:sp>
        <p:nvSpPr>
          <p:cNvPr id="34" name="Text 25"/>
          <p:cNvSpPr/>
          <p:nvPr/>
        </p:nvSpPr>
        <p:spPr>
          <a:xfrm>
            <a:off x="3624264" y="5752968"/>
            <a:ext cx="93134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Performance</a:t>
            </a:r>
            <a:endParaRPr lang="en-US" sz="1116" dirty="0"/>
          </a:p>
        </p:txBody>
      </p:sp>
      <p:sp>
        <p:nvSpPr>
          <p:cNvPr id="35" name="Text 26"/>
          <p:cNvSpPr/>
          <p:nvPr/>
        </p:nvSpPr>
        <p:spPr>
          <a:xfrm>
            <a:off x="3624263" y="6087591"/>
            <a:ext cx="2252663"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Use parallel execution where possible.</a:t>
            </a:r>
            <a:endParaRPr lang="en-US" sz="976" dirty="0"/>
          </a:p>
        </p:txBody>
      </p:sp>
      <p:sp>
        <p:nvSpPr>
          <p:cNvPr id="36" name="Text 27"/>
          <p:cNvSpPr/>
          <p:nvPr/>
        </p:nvSpPr>
        <p:spPr>
          <a:xfrm>
            <a:off x="6238876" y="1120688"/>
            <a:ext cx="2877391" cy="311325"/>
          </a:xfrm>
          <a:prstGeom prst="rect">
            <a:avLst/>
          </a:prstGeom>
          <a:noFill/>
          <a:ln/>
        </p:spPr>
        <p:txBody>
          <a:bodyPr wrap="none" lIns="0" tIns="0" rIns="0" bIns="56727" rtlCol="0" anchor="ctr">
            <a:spAutoFit/>
          </a:bodyPr>
          <a:lstStyle/>
          <a:p>
            <a:r>
              <a:rPr lang="en-US" sz="1651" b="1" dirty="0">
                <a:solidFill>
                  <a:srgbClr val="E9C46A"/>
                </a:solidFill>
                <a:latin typeface="Noto Sans" pitchFamily="34" charset="0"/>
                <a:ea typeface="Noto Sans" pitchFamily="34" charset="-122"/>
                <a:cs typeface="Noto Sans" pitchFamily="34" charset="-120"/>
              </a:rPr>
              <a:t>Monitoring &amp; Observability</a:t>
            </a:r>
            <a:endParaRPr lang="en-US" sz="1651" dirty="0"/>
          </a:p>
        </p:txBody>
      </p:sp>
      <p:sp>
        <p:nvSpPr>
          <p:cNvPr id="37" name="Shape 28"/>
          <p:cNvSpPr/>
          <p:nvPr/>
        </p:nvSpPr>
        <p:spPr>
          <a:xfrm>
            <a:off x="6238875" y="1543051"/>
            <a:ext cx="2747963" cy="781051"/>
          </a:xfrm>
          <a:prstGeom prst="rect">
            <a:avLst/>
          </a:prstGeom>
          <a:solidFill>
            <a:srgbClr val="E9C46A">
              <a:alpha val="5000"/>
            </a:srgbClr>
          </a:solidFill>
          <a:ln/>
        </p:spPr>
        <p:txBody>
          <a:bodyPr/>
          <a:lstStyle/>
          <a:p>
            <a:endParaRPr lang="en-IN" sz="2400"/>
          </a:p>
        </p:txBody>
      </p:sp>
      <p:sp>
        <p:nvSpPr>
          <p:cNvPr id="38" name="Shape 29"/>
          <p:cNvSpPr/>
          <p:nvPr/>
        </p:nvSpPr>
        <p:spPr>
          <a:xfrm>
            <a:off x="6315075" y="1638300"/>
            <a:ext cx="228600" cy="228600"/>
          </a:xfrm>
          <a:prstGeom prst="ellipse">
            <a:avLst/>
          </a:prstGeom>
          <a:solidFill>
            <a:srgbClr val="E9C46A"/>
          </a:solidFill>
          <a:ln/>
        </p:spPr>
        <p:txBody>
          <a:bodyPr/>
          <a:lstStyle/>
          <a:p>
            <a:endParaRPr lang="en-IN" sz="2400"/>
          </a:p>
        </p:txBody>
      </p:sp>
      <p:pic>
        <p:nvPicPr>
          <p:cNvPr id="39" name="Image 7" descr="preencoded.png"/>
          <p:cNvPicPr>
            <a:picLocks noChangeAspect="1"/>
          </p:cNvPicPr>
          <p:nvPr/>
        </p:nvPicPr>
        <p:blipFill>
          <a:blip r:embed="rId9"/>
          <a:stretch>
            <a:fillRect/>
          </a:stretch>
        </p:blipFill>
        <p:spPr>
          <a:xfrm>
            <a:off x="6362701" y="1747838"/>
            <a:ext cx="133351" cy="9525"/>
          </a:xfrm>
          <a:prstGeom prst="rect">
            <a:avLst/>
          </a:prstGeom>
        </p:spPr>
      </p:pic>
      <p:sp>
        <p:nvSpPr>
          <p:cNvPr id="40" name="Text 30"/>
          <p:cNvSpPr/>
          <p:nvPr/>
        </p:nvSpPr>
        <p:spPr>
          <a:xfrm>
            <a:off x="6657976" y="1647694"/>
            <a:ext cx="57547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Logging</a:t>
            </a:r>
            <a:endParaRPr lang="en-US" sz="1116" dirty="0"/>
          </a:p>
        </p:txBody>
      </p:sp>
      <p:sp>
        <p:nvSpPr>
          <p:cNvPr id="41" name="Text 31"/>
          <p:cNvSpPr/>
          <p:nvPr/>
        </p:nvSpPr>
        <p:spPr>
          <a:xfrm>
            <a:off x="6657975" y="1907231"/>
            <a:ext cx="2252663"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Use correlation IDs to track requests across components.</a:t>
            </a:r>
            <a:endParaRPr lang="en-US" sz="976" dirty="0"/>
          </a:p>
        </p:txBody>
      </p:sp>
      <p:sp>
        <p:nvSpPr>
          <p:cNvPr id="42" name="Shape 32"/>
          <p:cNvSpPr/>
          <p:nvPr/>
        </p:nvSpPr>
        <p:spPr>
          <a:xfrm>
            <a:off x="9063037" y="1543051"/>
            <a:ext cx="2747963" cy="781051"/>
          </a:xfrm>
          <a:prstGeom prst="rect">
            <a:avLst/>
          </a:prstGeom>
          <a:solidFill>
            <a:srgbClr val="E9C46A">
              <a:alpha val="5000"/>
            </a:srgbClr>
          </a:solidFill>
          <a:ln/>
        </p:spPr>
        <p:txBody>
          <a:bodyPr/>
          <a:lstStyle/>
          <a:p>
            <a:endParaRPr lang="en-IN" sz="2400"/>
          </a:p>
        </p:txBody>
      </p:sp>
      <p:sp>
        <p:nvSpPr>
          <p:cNvPr id="43" name="Shape 33"/>
          <p:cNvSpPr/>
          <p:nvPr/>
        </p:nvSpPr>
        <p:spPr>
          <a:xfrm>
            <a:off x="9139237" y="1638300"/>
            <a:ext cx="228600" cy="228600"/>
          </a:xfrm>
          <a:prstGeom prst="ellipse">
            <a:avLst/>
          </a:prstGeom>
          <a:solidFill>
            <a:srgbClr val="E9C46A"/>
          </a:solidFill>
          <a:ln/>
        </p:spPr>
        <p:txBody>
          <a:bodyPr/>
          <a:lstStyle/>
          <a:p>
            <a:endParaRPr lang="en-IN" sz="2400"/>
          </a:p>
        </p:txBody>
      </p:sp>
      <p:pic>
        <p:nvPicPr>
          <p:cNvPr id="44" name="Image 8" descr="preencoded.png"/>
          <p:cNvPicPr>
            <a:picLocks noChangeAspect="1"/>
          </p:cNvPicPr>
          <p:nvPr/>
        </p:nvPicPr>
        <p:blipFill>
          <a:blip r:embed="rId10"/>
          <a:stretch>
            <a:fillRect/>
          </a:stretch>
        </p:blipFill>
        <p:spPr>
          <a:xfrm>
            <a:off x="9195198" y="1747838"/>
            <a:ext cx="116681" cy="9525"/>
          </a:xfrm>
          <a:prstGeom prst="rect">
            <a:avLst/>
          </a:prstGeom>
        </p:spPr>
      </p:pic>
      <p:sp>
        <p:nvSpPr>
          <p:cNvPr id="45" name="Text 34"/>
          <p:cNvSpPr/>
          <p:nvPr/>
        </p:nvSpPr>
        <p:spPr>
          <a:xfrm>
            <a:off x="9482138" y="1647694"/>
            <a:ext cx="58349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Alerting</a:t>
            </a:r>
            <a:endParaRPr lang="en-US" sz="1116" dirty="0"/>
          </a:p>
        </p:txBody>
      </p:sp>
      <p:sp>
        <p:nvSpPr>
          <p:cNvPr id="46" name="Text 35"/>
          <p:cNvSpPr/>
          <p:nvPr/>
        </p:nvSpPr>
        <p:spPr>
          <a:xfrm>
            <a:off x="9482138" y="1907231"/>
            <a:ext cx="2252663"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Set up alerts for workflow failures and performance issues.</a:t>
            </a:r>
            <a:endParaRPr lang="en-US" sz="97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6799938"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Agentic Applications Pattern Deep Dive</a:t>
            </a:r>
            <a:endParaRPr lang="en-US" sz="2700" dirty="0"/>
          </a:p>
        </p:txBody>
      </p:sp>
      <p:grpSp>
        <p:nvGrpSpPr>
          <p:cNvPr id="46" name="Group 45">
            <a:extLst>
              <a:ext uri="{FF2B5EF4-FFF2-40B4-BE49-F238E27FC236}">
                <a16:creationId xmlns:a16="http://schemas.microsoft.com/office/drawing/2014/main" id="{BD7728D9-FEE6-7928-80FF-584C44A4FC46}"/>
              </a:ext>
            </a:extLst>
          </p:cNvPr>
          <p:cNvGrpSpPr/>
          <p:nvPr/>
        </p:nvGrpSpPr>
        <p:grpSpPr>
          <a:xfrm>
            <a:off x="381000" y="1120688"/>
            <a:ext cx="3503908" cy="1555969"/>
            <a:chOff x="381000" y="1120688"/>
            <a:chExt cx="3503908" cy="1555969"/>
          </a:xfrm>
        </p:grpSpPr>
        <p:sp>
          <p:nvSpPr>
            <p:cNvPr id="4" name="Text 1"/>
            <p:cNvSpPr/>
            <p:nvPr/>
          </p:nvSpPr>
          <p:spPr>
            <a:xfrm>
              <a:off x="381000" y="1120688"/>
              <a:ext cx="1332096"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When to Use</a:t>
              </a:r>
              <a:endParaRPr lang="en-US" sz="1651" dirty="0"/>
            </a:p>
          </p:txBody>
        </p:sp>
        <p:sp>
          <p:nvSpPr>
            <p:cNvPr id="5" name="Text 2"/>
            <p:cNvSpPr/>
            <p:nvPr/>
          </p:nvSpPr>
          <p:spPr>
            <a:xfrm>
              <a:off x="571500" y="1590543"/>
              <a:ext cx="3068148"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Complex tasks requiring multi-step reasoning</a:t>
              </a:r>
              <a:endParaRPr lang="en-US" sz="1116" dirty="0"/>
            </a:p>
          </p:txBody>
        </p:sp>
        <p:sp>
          <p:nvSpPr>
            <p:cNvPr id="6" name="Text 3"/>
            <p:cNvSpPr/>
            <p:nvPr/>
          </p:nvSpPr>
          <p:spPr>
            <a:xfrm>
              <a:off x="571501" y="1819143"/>
              <a:ext cx="306333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Scenarios needing external tool orchestration</a:t>
              </a:r>
              <a:endParaRPr lang="en-US" sz="1116" dirty="0"/>
            </a:p>
          </p:txBody>
        </p:sp>
        <p:sp>
          <p:nvSpPr>
            <p:cNvPr id="7" name="Text 4"/>
            <p:cNvSpPr/>
            <p:nvPr/>
          </p:nvSpPr>
          <p:spPr>
            <a:xfrm>
              <a:off x="571500" y="2047743"/>
              <a:ext cx="2729914"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Tasks requiring planning and adaptation</a:t>
              </a:r>
              <a:endParaRPr lang="en-US" sz="1116" dirty="0"/>
            </a:p>
          </p:txBody>
        </p:sp>
        <p:sp>
          <p:nvSpPr>
            <p:cNvPr id="8" name="Text 5"/>
            <p:cNvSpPr/>
            <p:nvPr/>
          </p:nvSpPr>
          <p:spPr>
            <a:xfrm>
              <a:off x="571500" y="2276343"/>
              <a:ext cx="3313408"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Autonomous workflows with minimal supervision</a:t>
              </a:r>
              <a:endParaRPr lang="en-US" sz="1116" dirty="0"/>
            </a:p>
          </p:txBody>
        </p:sp>
        <p:sp>
          <p:nvSpPr>
            <p:cNvPr id="9" name="Text 6"/>
            <p:cNvSpPr/>
            <p:nvPr/>
          </p:nvSpPr>
          <p:spPr>
            <a:xfrm>
              <a:off x="571501" y="2504943"/>
              <a:ext cx="283571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Research, data analysis, and creative tasks</a:t>
              </a:r>
              <a:endParaRPr lang="en-US" sz="1116" dirty="0"/>
            </a:p>
          </p:txBody>
        </p:sp>
      </p:grpSp>
      <p:grpSp>
        <p:nvGrpSpPr>
          <p:cNvPr id="47" name="Group 46">
            <a:extLst>
              <a:ext uri="{FF2B5EF4-FFF2-40B4-BE49-F238E27FC236}">
                <a16:creationId xmlns:a16="http://schemas.microsoft.com/office/drawing/2014/main" id="{F0174021-7140-9C9D-BD2C-72B313C71626}"/>
              </a:ext>
            </a:extLst>
          </p:cNvPr>
          <p:cNvGrpSpPr/>
          <p:nvPr/>
        </p:nvGrpSpPr>
        <p:grpSpPr>
          <a:xfrm>
            <a:off x="381001" y="3282863"/>
            <a:ext cx="3117583" cy="1555969"/>
            <a:chOff x="381001" y="3282863"/>
            <a:chExt cx="3117583" cy="1555969"/>
          </a:xfrm>
        </p:grpSpPr>
        <p:sp>
          <p:nvSpPr>
            <p:cNvPr id="10" name="Text 7"/>
            <p:cNvSpPr/>
            <p:nvPr/>
          </p:nvSpPr>
          <p:spPr>
            <a:xfrm>
              <a:off x="381001" y="3282863"/>
              <a:ext cx="1848263"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When NOT to Use</a:t>
              </a:r>
              <a:endParaRPr lang="en-US" sz="1651" dirty="0"/>
            </a:p>
          </p:txBody>
        </p:sp>
        <p:sp>
          <p:nvSpPr>
            <p:cNvPr id="11" name="Text 8"/>
            <p:cNvSpPr/>
            <p:nvPr/>
          </p:nvSpPr>
          <p:spPr>
            <a:xfrm>
              <a:off x="571501" y="3752718"/>
              <a:ext cx="246541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Simple queries with direct responses</a:t>
              </a:r>
              <a:endParaRPr lang="en-US" sz="1116" dirty="0"/>
            </a:p>
          </p:txBody>
        </p:sp>
        <p:sp>
          <p:nvSpPr>
            <p:cNvPr id="12" name="Text 9"/>
            <p:cNvSpPr/>
            <p:nvPr/>
          </p:nvSpPr>
          <p:spPr>
            <a:xfrm>
              <a:off x="571501" y="3981318"/>
              <a:ext cx="175208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Low-latency requirements</a:t>
              </a:r>
              <a:endParaRPr lang="en-US" sz="1116" dirty="0"/>
            </a:p>
          </p:txBody>
        </p:sp>
        <p:sp>
          <p:nvSpPr>
            <p:cNvPr id="13" name="Text 10"/>
            <p:cNvSpPr/>
            <p:nvPr/>
          </p:nvSpPr>
          <p:spPr>
            <a:xfrm>
              <a:off x="571501" y="4209918"/>
              <a:ext cx="195085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Highly predictable workflows</a:t>
              </a:r>
              <a:endParaRPr lang="en-US" sz="1116" dirty="0"/>
            </a:p>
          </p:txBody>
        </p:sp>
        <p:sp>
          <p:nvSpPr>
            <p:cNvPr id="14" name="Text 11"/>
            <p:cNvSpPr/>
            <p:nvPr/>
          </p:nvSpPr>
          <p:spPr>
            <a:xfrm>
              <a:off x="571501" y="4438518"/>
              <a:ext cx="1776127"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Cost-sensitive applications</a:t>
              </a:r>
              <a:endParaRPr lang="en-US" sz="1116" dirty="0"/>
            </a:p>
          </p:txBody>
        </p:sp>
        <p:sp>
          <p:nvSpPr>
            <p:cNvPr id="15" name="Text 12"/>
            <p:cNvSpPr/>
            <p:nvPr/>
          </p:nvSpPr>
          <p:spPr>
            <a:xfrm>
              <a:off x="571501" y="4667118"/>
              <a:ext cx="292708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Scenarios requiring deterministic outcomes</a:t>
              </a:r>
              <a:endParaRPr lang="en-US" sz="1116" dirty="0"/>
            </a:p>
          </p:txBody>
        </p:sp>
      </p:grpSp>
      <p:grpSp>
        <p:nvGrpSpPr>
          <p:cNvPr id="45" name="Group 44">
            <a:extLst>
              <a:ext uri="{FF2B5EF4-FFF2-40B4-BE49-F238E27FC236}">
                <a16:creationId xmlns:a16="http://schemas.microsoft.com/office/drawing/2014/main" id="{322AD022-41E8-2586-A711-CE71C56942D4}"/>
              </a:ext>
            </a:extLst>
          </p:cNvPr>
          <p:cNvGrpSpPr/>
          <p:nvPr/>
        </p:nvGrpSpPr>
        <p:grpSpPr>
          <a:xfrm>
            <a:off x="5440181" y="4386226"/>
            <a:ext cx="5572125" cy="2222588"/>
            <a:chOff x="381001" y="5445038"/>
            <a:chExt cx="5572125" cy="2222588"/>
          </a:xfrm>
        </p:grpSpPr>
        <p:sp>
          <p:nvSpPr>
            <p:cNvPr id="16" name="Text 13"/>
            <p:cNvSpPr/>
            <p:nvPr/>
          </p:nvSpPr>
          <p:spPr>
            <a:xfrm>
              <a:off x="381001" y="5445038"/>
              <a:ext cx="1854675"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Strengths &amp; Risks</a:t>
              </a:r>
              <a:endParaRPr lang="en-US" sz="1651" dirty="0"/>
            </a:p>
          </p:txBody>
        </p:sp>
        <p:sp>
          <p:nvSpPr>
            <p:cNvPr id="17" name="Shape 14"/>
            <p:cNvSpPr/>
            <p:nvPr/>
          </p:nvSpPr>
          <p:spPr>
            <a:xfrm>
              <a:off x="381001" y="5886451"/>
              <a:ext cx="2690812" cy="1781175"/>
            </a:xfrm>
            <a:prstGeom prst="rect">
              <a:avLst/>
            </a:prstGeom>
            <a:solidFill>
              <a:srgbClr val="2A9D8F">
                <a:alpha val="10000"/>
              </a:srgbClr>
            </a:solidFill>
            <a:ln/>
          </p:spPr>
          <p:txBody>
            <a:bodyPr/>
            <a:lstStyle/>
            <a:p>
              <a:endParaRPr lang="en-IN" sz="2400"/>
            </a:p>
          </p:txBody>
        </p:sp>
        <p:sp>
          <p:nvSpPr>
            <p:cNvPr id="18" name="Shape 15"/>
            <p:cNvSpPr/>
            <p:nvPr/>
          </p:nvSpPr>
          <p:spPr>
            <a:xfrm>
              <a:off x="381001" y="5886451"/>
              <a:ext cx="38100" cy="1781175"/>
            </a:xfrm>
            <a:prstGeom prst="rect">
              <a:avLst/>
            </a:prstGeom>
            <a:solidFill>
              <a:srgbClr val="2A9D8F"/>
            </a:solidFill>
            <a:ln/>
          </p:spPr>
          <p:txBody>
            <a:bodyPr/>
            <a:lstStyle/>
            <a:p>
              <a:endParaRPr lang="en-IN" sz="2400"/>
            </a:p>
          </p:txBody>
        </p:sp>
        <p:pic>
          <p:nvPicPr>
            <p:cNvPr id="19" name="Image 1" descr="preencoded.png"/>
            <p:cNvPicPr>
              <a:picLocks noChangeAspect="1"/>
            </p:cNvPicPr>
            <p:nvPr/>
          </p:nvPicPr>
          <p:blipFill>
            <a:blip r:embed="rId3"/>
            <a:stretch>
              <a:fillRect/>
            </a:stretch>
          </p:blipFill>
          <p:spPr>
            <a:xfrm>
              <a:off x="523875" y="6072188"/>
              <a:ext cx="171451" cy="171451"/>
            </a:xfrm>
            <a:prstGeom prst="rect">
              <a:avLst/>
            </a:prstGeom>
          </p:spPr>
        </p:pic>
        <p:sp>
          <p:nvSpPr>
            <p:cNvPr id="20" name="Text 16"/>
            <p:cNvSpPr/>
            <p:nvPr/>
          </p:nvSpPr>
          <p:spPr>
            <a:xfrm>
              <a:off x="771526" y="6061283"/>
              <a:ext cx="791883"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Strengths</a:t>
              </a:r>
              <a:endParaRPr lang="en-US" sz="1256" dirty="0"/>
            </a:p>
          </p:txBody>
        </p:sp>
        <p:sp>
          <p:nvSpPr>
            <p:cNvPr id="21" name="Text 17"/>
            <p:cNvSpPr/>
            <p:nvPr/>
          </p:nvSpPr>
          <p:spPr>
            <a:xfrm>
              <a:off x="714376" y="6410194"/>
              <a:ext cx="197650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Autonomous task completion</a:t>
              </a:r>
              <a:endParaRPr lang="en-US" sz="1116" dirty="0"/>
            </a:p>
          </p:txBody>
        </p:sp>
        <p:sp>
          <p:nvSpPr>
            <p:cNvPr id="22" name="Text 18"/>
            <p:cNvSpPr/>
            <p:nvPr/>
          </p:nvSpPr>
          <p:spPr>
            <a:xfrm>
              <a:off x="714375" y="6753094"/>
              <a:ext cx="2195512" cy="171714"/>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Complex reasoning capabilities</a:t>
              </a:r>
              <a:endParaRPr lang="en-US" sz="1116" dirty="0"/>
            </a:p>
          </p:txBody>
        </p:sp>
        <p:sp>
          <p:nvSpPr>
            <p:cNvPr id="23" name="Text 19"/>
            <p:cNvSpPr/>
            <p:nvPr/>
          </p:nvSpPr>
          <p:spPr>
            <a:xfrm>
              <a:off x="714375" y="7095994"/>
              <a:ext cx="171361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Tool integration flexibility</a:t>
              </a:r>
              <a:endParaRPr lang="en-US" sz="1116" dirty="0"/>
            </a:p>
          </p:txBody>
        </p:sp>
        <p:sp>
          <p:nvSpPr>
            <p:cNvPr id="24" name="Text 20"/>
            <p:cNvSpPr/>
            <p:nvPr/>
          </p:nvSpPr>
          <p:spPr>
            <a:xfrm>
              <a:off x="714375" y="7324594"/>
              <a:ext cx="172322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Adaptive problem-solving</a:t>
              </a:r>
              <a:endParaRPr lang="en-US" sz="1116" dirty="0"/>
            </a:p>
          </p:txBody>
        </p:sp>
        <p:sp>
          <p:nvSpPr>
            <p:cNvPr id="25" name="Shape 21"/>
            <p:cNvSpPr/>
            <p:nvPr/>
          </p:nvSpPr>
          <p:spPr>
            <a:xfrm>
              <a:off x="3243263" y="5886451"/>
              <a:ext cx="2709863" cy="1781175"/>
            </a:xfrm>
            <a:prstGeom prst="rect">
              <a:avLst/>
            </a:prstGeom>
            <a:solidFill>
              <a:srgbClr val="E76F51">
                <a:alpha val="10000"/>
              </a:srgbClr>
            </a:solidFill>
            <a:ln/>
          </p:spPr>
          <p:txBody>
            <a:bodyPr/>
            <a:lstStyle/>
            <a:p>
              <a:endParaRPr lang="en-IN" sz="2400"/>
            </a:p>
          </p:txBody>
        </p:sp>
        <p:sp>
          <p:nvSpPr>
            <p:cNvPr id="26" name="Shape 22"/>
            <p:cNvSpPr/>
            <p:nvPr/>
          </p:nvSpPr>
          <p:spPr>
            <a:xfrm>
              <a:off x="3243263" y="5886451"/>
              <a:ext cx="38100" cy="1781175"/>
            </a:xfrm>
            <a:prstGeom prst="rect">
              <a:avLst/>
            </a:prstGeom>
            <a:solidFill>
              <a:srgbClr val="E76F51"/>
            </a:solidFill>
            <a:ln/>
          </p:spPr>
          <p:txBody>
            <a:bodyPr/>
            <a:lstStyle/>
            <a:p>
              <a:endParaRPr lang="en-IN" sz="2400"/>
            </a:p>
          </p:txBody>
        </p:sp>
        <p:pic>
          <p:nvPicPr>
            <p:cNvPr id="27" name="Image 2" descr="preencoded.png"/>
            <p:cNvPicPr>
              <a:picLocks noChangeAspect="1"/>
            </p:cNvPicPr>
            <p:nvPr/>
          </p:nvPicPr>
          <p:blipFill>
            <a:blip r:embed="rId4"/>
            <a:stretch>
              <a:fillRect/>
            </a:stretch>
          </p:blipFill>
          <p:spPr>
            <a:xfrm>
              <a:off x="3405188" y="6072188"/>
              <a:ext cx="171451" cy="171451"/>
            </a:xfrm>
            <a:prstGeom prst="rect">
              <a:avLst/>
            </a:prstGeom>
          </p:spPr>
        </p:pic>
        <p:sp>
          <p:nvSpPr>
            <p:cNvPr id="28" name="Text 23"/>
            <p:cNvSpPr/>
            <p:nvPr/>
          </p:nvSpPr>
          <p:spPr>
            <a:xfrm>
              <a:off x="3652837" y="6061283"/>
              <a:ext cx="415178"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Risks</a:t>
              </a:r>
              <a:endParaRPr lang="en-US" sz="1256" dirty="0"/>
            </a:p>
          </p:txBody>
        </p:sp>
        <p:sp>
          <p:nvSpPr>
            <p:cNvPr id="29" name="Text 24"/>
            <p:cNvSpPr/>
            <p:nvPr/>
          </p:nvSpPr>
          <p:spPr>
            <a:xfrm>
              <a:off x="3595688" y="6410194"/>
              <a:ext cx="1578958"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Unpredictable behavior</a:t>
              </a:r>
              <a:endParaRPr lang="en-US" sz="1116" dirty="0"/>
            </a:p>
          </p:txBody>
        </p:sp>
        <p:sp>
          <p:nvSpPr>
            <p:cNvPr id="30" name="Text 25"/>
            <p:cNvSpPr/>
            <p:nvPr/>
          </p:nvSpPr>
          <p:spPr>
            <a:xfrm>
              <a:off x="3595688" y="6638794"/>
              <a:ext cx="164949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Higher costs and latency</a:t>
              </a:r>
              <a:endParaRPr lang="en-US" sz="1116" dirty="0"/>
            </a:p>
          </p:txBody>
        </p:sp>
        <p:sp>
          <p:nvSpPr>
            <p:cNvPr id="31" name="Text 26"/>
            <p:cNvSpPr/>
            <p:nvPr/>
          </p:nvSpPr>
          <p:spPr>
            <a:xfrm>
              <a:off x="3595689" y="6867394"/>
              <a:ext cx="169758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Complex implementation</a:t>
              </a:r>
              <a:endParaRPr lang="en-US" sz="1116" dirty="0"/>
            </a:p>
          </p:txBody>
        </p:sp>
        <p:sp>
          <p:nvSpPr>
            <p:cNvPr id="32" name="Text 27"/>
            <p:cNvSpPr/>
            <p:nvPr/>
          </p:nvSpPr>
          <p:spPr>
            <a:xfrm>
              <a:off x="3595689" y="7095994"/>
              <a:ext cx="150041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Tool security concerns</a:t>
              </a:r>
              <a:endParaRPr lang="en-US" sz="1116" dirty="0"/>
            </a:p>
          </p:txBody>
        </p:sp>
      </p:grpSp>
      <p:pic>
        <p:nvPicPr>
          <p:cNvPr id="33" name="Image 3" descr="preencoded.png"/>
          <p:cNvPicPr>
            <a:picLocks noChangeAspect="1"/>
          </p:cNvPicPr>
          <p:nvPr/>
        </p:nvPicPr>
        <p:blipFill>
          <a:blip r:embed="rId5"/>
          <a:srcRect l="12756" t="25431" r="12756" b="12114"/>
          <a:stretch>
            <a:fillRect/>
          </a:stretch>
        </p:blipFill>
        <p:spPr>
          <a:xfrm>
            <a:off x="5096100" y="1360480"/>
            <a:ext cx="6799938" cy="29238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5321970"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Agentic Template Architecture</a:t>
            </a:r>
            <a:endParaRPr lang="en-US" sz="2700" dirty="0"/>
          </a:p>
        </p:txBody>
      </p:sp>
      <p:sp>
        <p:nvSpPr>
          <p:cNvPr id="4" name="Text 1"/>
          <p:cNvSpPr/>
          <p:nvPr/>
        </p:nvSpPr>
        <p:spPr>
          <a:xfrm>
            <a:off x="381001" y="1120688"/>
            <a:ext cx="1883529"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Core Components</a:t>
            </a:r>
            <a:endParaRPr lang="en-US" sz="1651" dirty="0"/>
          </a:p>
        </p:txBody>
      </p:sp>
      <p:sp>
        <p:nvSpPr>
          <p:cNvPr id="5" name="Shape 2"/>
          <p:cNvSpPr/>
          <p:nvPr/>
        </p:nvSpPr>
        <p:spPr>
          <a:xfrm>
            <a:off x="381000" y="1543051"/>
            <a:ext cx="5572125" cy="590551"/>
          </a:xfrm>
          <a:prstGeom prst="rect">
            <a:avLst/>
          </a:prstGeom>
          <a:solidFill>
            <a:srgbClr val="F4A261">
              <a:alpha val="5000"/>
            </a:srgbClr>
          </a:solidFill>
          <a:ln/>
        </p:spPr>
        <p:txBody>
          <a:bodyPr/>
          <a:lstStyle/>
          <a:p>
            <a:endParaRPr lang="en-IN" sz="2400"/>
          </a:p>
        </p:txBody>
      </p:sp>
      <p:sp>
        <p:nvSpPr>
          <p:cNvPr id="6" name="Shape 3"/>
          <p:cNvSpPr/>
          <p:nvPr/>
        </p:nvSpPr>
        <p:spPr>
          <a:xfrm>
            <a:off x="457200" y="1685925"/>
            <a:ext cx="304800" cy="304800"/>
          </a:xfrm>
          <a:prstGeom prst="rect">
            <a:avLst/>
          </a:prstGeom>
          <a:solidFill>
            <a:srgbClr val="F4A261"/>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33400" y="1762125"/>
            <a:ext cx="152400" cy="152400"/>
          </a:xfrm>
          <a:prstGeom prst="rect">
            <a:avLst/>
          </a:prstGeom>
        </p:spPr>
      </p:pic>
      <p:sp>
        <p:nvSpPr>
          <p:cNvPr id="8" name="Text 4"/>
          <p:cNvSpPr/>
          <p:nvPr/>
        </p:nvSpPr>
        <p:spPr>
          <a:xfrm>
            <a:off x="876300" y="1647694"/>
            <a:ext cx="135453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Planner/Controller</a:t>
            </a:r>
            <a:endParaRPr lang="en-US" sz="1116" dirty="0"/>
          </a:p>
        </p:txBody>
      </p:sp>
      <p:sp>
        <p:nvSpPr>
          <p:cNvPr id="9" name="Text 5"/>
          <p:cNvSpPr/>
          <p:nvPr/>
        </p:nvSpPr>
        <p:spPr>
          <a:xfrm>
            <a:off x="876300" y="1887066"/>
            <a:ext cx="253114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Decomposes tasks, creates execution plans</a:t>
            </a:r>
            <a:endParaRPr lang="en-US" sz="976" dirty="0"/>
          </a:p>
        </p:txBody>
      </p:sp>
      <p:sp>
        <p:nvSpPr>
          <p:cNvPr id="10" name="Shape 6"/>
          <p:cNvSpPr/>
          <p:nvPr/>
        </p:nvSpPr>
        <p:spPr>
          <a:xfrm>
            <a:off x="381000" y="2228851"/>
            <a:ext cx="5572125" cy="590551"/>
          </a:xfrm>
          <a:prstGeom prst="rect">
            <a:avLst/>
          </a:prstGeom>
          <a:solidFill>
            <a:srgbClr val="F4A261">
              <a:alpha val="5000"/>
            </a:srgbClr>
          </a:solidFill>
          <a:ln/>
        </p:spPr>
        <p:txBody>
          <a:bodyPr/>
          <a:lstStyle/>
          <a:p>
            <a:endParaRPr lang="en-IN" sz="2400"/>
          </a:p>
        </p:txBody>
      </p:sp>
      <p:sp>
        <p:nvSpPr>
          <p:cNvPr id="11" name="Shape 7"/>
          <p:cNvSpPr/>
          <p:nvPr/>
        </p:nvSpPr>
        <p:spPr>
          <a:xfrm>
            <a:off x="457200" y="2371725"/>
            <a:ext cx="304800" cy="304800"/>
          </a:xfrm>
          <a:prstGeom prst="rect">
            <a:avLst/>
          </a:prstGeom>
          <a:solidFill>
            <a:srgbClr val="F4A261"/>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33400" y="2447925"/>
            <a:ext cx="152400" cy="152400"/>
          </a:xfrm>
          <a:prstGeom prst="rect">
            <a:avLst/>
          </a:prstGeom>
        </p:spPr>
      </p:pic>
      <p:sp>
        <p:nvSpPr>
          <p:cNvPr id="13" name="Text 8"/>
          <p:cNvSpPr/>
          <p:nvPr/>
        </p:nvSpPr>
        <p:spPr>
          <a:xfrm>
            <a:off x="876300" y="2333494"/>
            <a:ext cx="93294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Tool Registry</a:t>
            </a:r>
            <a:endParaRPr lang="en-US" sz="1116" dirty="0"/>
          </a:p>
        </p:txBody>
      </p:sp>
      <p:sp>
        <p:nvSpPr>
          <p:cNvPr id="14" name="Text 9"/>
          <p:cNvSpPr/>
          <p:nvPr/>
        </p:nvSpPr>
        <p:spPr>
          <a:xfrm>
            <a:off x="876300" y="2572866"/>
            <a:ext cx="235481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Manages available tools and capabilities</a:t>
            </a:r>
            <a:endParaRPr lang="en-US" sz="976" dirty="0"/>
          </a:p>
        </p:txBody>
      </p:sp>
      <p:sp>
        <p:nvSpPr>
          <p:cNvPr id="15" name="Shape 10"/>
          <p:cNvSpPr/>
          <p:nvPr/>
        </p:nvSpPr>
        <p:spPr>
          <a:xfrm>
            <a:off x="381000" y="2914651"/>
            <a:ext cx="5572125" cy="590551"/>
          </a:xfrm>
          <a:prstGeom prst="rect">
            <a:avLst/>
          </a:prstGeom>
          <a:solidFill>
            <a:srgbClr val="F4A261">
              <a:alpha val="5000"/>
            </a:srgbClr>
          </a:solidFill>
          <a:ln/>
        </p:spPr>
        <p:txBody>
          <a:bodyPr/>
          <a:lstStyle/>
          <a:p>
            <a:endParaRPr lang="en-IN" sz="2400"/>
          </a:p>
        </p:txBody>
      </p:sp>
      <p:sp>
        <p:nvSpPr>
          <p:cNvPr id="16" name="Shape 11"/>
          <p:cNvSpPr/>
          <p:nvPr/>
        </p:nvSpPr>
        <p:spPr>
          <a:xfrm>
            <a:off x="457200" y="3057525"/>
            <a:ext cx="304800" cy="304800"/>
          </a:xfrm>
          <a:prstGeom prst="rect">
            <a:avLst/>
          </a:prstGeom>
          <a:solidFill>
            <a:srgbClr val="F4A261"/>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23875" y="3133725"/>
            <a:ext cx="171451" cy="152400"/>
          </a:xfrm>
          <a:prstGeom prst="rect">
            <a:avLst/>
          </a:prstGeom>
        </p:spPr>
      </p:pic>
      <p:sp>
        <p:nvSpPr>
          <p:cNvPr id="18" name="Text 12"/>
          <p:cNvSpPr/>
          <p:nvPr/>
        </p:nvSpPr>
        <p:spPr>
          <a:xfrm>
            <a:off x="876300" y="3019294"/>
            <a:ext cx="115256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Memory System</a:t>
            </a:r>
            <a:endParaRPr lang="en-US" sz="1116" dirty="0"/>
          </a:p>
        </p:txBody>
      </p:sp>
      <p:sp>
        <p:nvSpPr>
          <p:cNvPr id="19" name="Text 13"/>
          <p:cNvSpPr/>
          <p:nvPr/>
        </p:nvSpPr>
        <p:spPr>
          <a:xfrm>
            <a:off x="876300" y="3258666"/>
            <a:ext cx="232114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Stores context and conversation history</a:t>
            </a:r>
            <a:endParaRPr lang="en-US" sz="976" dirty="0"/>
          </a:p>
        </p:txBody>
      </p:sp>
      <p:sp>
        <p:nvSpPr>
          <p:cNvPr id="20" name="Shape 14"/>
          <p:cNvSpPr/>
          <p:nvPr/>
        </p:nvSpPr>
        <p:spPr>
          <a:xfrm>
            <a:off x="381000" y="3600451"/>
            <a:ext cx="5572125" cy="590551"/>
          </a:xfrm>
          <a:prstGeom prst="rect">
            <a:avLst/>
          </a:prstGeom>
          <a:solidFill>
            <a:srgbClr val="F4A261">
              <a:alpha val="5000"/>
            </a:srgbClr>
          </a:solidFill>
          <a:ln/>
        </p:spPr>
        <p:txBody>
          <a:bodyPr/>
          <a:lstStyle/>
          <a:p>
            <a:endParaRPr lang="en-IN" sz="2400"/>
          </a:p>
        </p:txBody>
      </p:sp>
      <p:sp>
        <p:nvSpPr>
          <p:cNvPr id="21" name="Shape 15"/>
          <p:cNvSpPr/>
          <p:nvPr/>
        </p:nvSpPr>
        <p:spPr>
          <a:xfrm>
            <a:off x="457200" y="3743325"/>
            <a:ext cx="304800" cy="304800"/>
          </a:xfrm>
          <a:prstGeom prst="rect">
            <a:avLst/>
          </a:prstGeom>
          <a:solidFill>
            <a:srgbClr val="F4A261"/>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533400" y="3819525"/>
            <a:ext cx="152400" cy="152400"/>
          </a:xfrm>
          <a:prstGeom prst="rect">
            <a:avLst/>
          </a:prstGeom>
        </p:spPr>
      </p:pic>
      <p:sp>
        <p:nvSpPr>
          <p:cNvPr id="23" name="Text 16"/>
          <p:cNvSpPr/>
          <p:nvPr/>
        </p:nvSpPr>
        <p:spPr>
          <a:xfrm>
            <a:off x="876301" y="3705094"/>
            <a:ext cx="88646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Safety Layer</a:t>
            </a:r>
            <a:endParaRPr lang="en-US" sz="1116" dirty="0"/>
          </a:p>
        </p:txBody>
      </p:sp>
      <p:sp>
        <p:nvSpPr>
          <p:cNvPr id="24" name="Text 17"/>
          <p:cNvSpPr/>
          <p:nvPr/>
        </p:nvSpPr>
        <p:spPr>
          <a:xfrm>
            <a:off x="876300" y="3944466"/>
            <a:ext cx="261449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Enforces permissions and content guardrails</a:t>
            </a:r>
            <a:endParaRPr lang="en-US" sz="976" dirty="0"/>
          </a:p>
        </p:txBody>
      </p:sp>
      <p:sp>
        <p:nvSpPr>
          <p:cNvPr id="25" name="Shape 18"/>
          <p:cNvSpPr/>
          <p:nvPr/>
        </p:nvSpPr>
        <p:spPr>
          <a:xfrm>
            <a:off x="381000" y="4286251"/>
            <a:ext cx="5572125" cy="590551"/>
          </a:xfrm>
          <a:prstGeom prst="rect">
            <a:avLst/>
          </a:prstGeom>
          <a:solidFill>
            <a:srgbClr val="F4A261">
              <a:alpha val="5000"/>
            </a:srgbClr>
          </a:solidFill>
          <a:ln/>
        </p:spPr>
        <p:txBody>
          <a:bodyPr/>
          <a:lstStyle/>
          <a:p>
            <a:endParaRPr lang="en-IN" sz="2400"/>
          </a:p>
        </p:txBody>
      </p:sp>
      <p:sp>
        <p:nvSpPr>
          <p:cNvPr id="26" name="Shape 19"/>
          <p:cNvSpPr/>
          <p:nvPr/>
        </p:nvSpPr>
        <p:spPr>
          <a:xfrm>
            <a:off x="457200" y="4429125"/>
            <a:ext cx="304800" cy="304800"/>
          </a:xfrm>
          <a:prstGeom prst="rect">
            <a:avLst/>
          </a:prstGeom>
          <a:solidFill>
            <a:srgbClr val="F4A261"/>
          </a:solidFill>
          <a:ln/>
        </p:spPr>
        <p:txBody>
          <a:bodyPr/>
          <a:lstStyle/>
          <a:p>
            <a:endParaRPr lang="en-IN" sz="2400"/>
          </a:p>
        </p:txBody>
      </p:sp>
      <p:pic>
        <p:nvPicPr>
          <p:cNvPr id="27" name="Image 5" descr="preencoded.png"/>
          <p:cNvPicPr>
            <a:picLocks noChangeAspect="1"/>
          </p:cNvPicPr>
          <p:nvPr/>
        </p:nvPicPr>
        <p:blipFill>
          <a:blip r:embed="rId7"/>
          <a:stretch>
            <a:fillRect/>
          </a:stretch>
        </p:blipFill>
        <p:spPr>
          <a:xfrm>
            <a:off x="514351" y="4505325"/>
            <a:ext cx="190500" cy="152400"/>
          </a:xfrm>
          <a:prstGeom prst="rect">
            <a:avLst/>
          </a:prstGeom>
        </p:spPr>
      </p:pic>
      <p:sp>
        <p:nvSpPr>
          <p:cNvPr id="28" name="Text 20"/>
          <p:cNvSpPr/>
          <p:nvPr/>
        </p:nvSpPr>
        <p:spPr>
          <a:xfrm>
            <a:off x="876300" y="4390894"/>
            <a:ext cx="122950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Execution Engine</a:t>
            </a:r>
            <a:endParaRPr lang="en-US" sz="1116" dirty="0"/>
          </a:p>
        </p:txBody>
      </p:sp>
      <p:sp>
        <p:nvSpPr>
          <p:cNvPr id="29" name="Text 21"/>
          <p:cNvSpPr/>
          <p:nvPr/>
        </p:nvSpPr>
        <p:spPr>
          <a:xfrm>
            <a:off x="876301" y="4630266"/>
            <a:ext cx="279884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Orchestrates tool execution and handles results</a:t>
            </a:r>
            <a:endParaRPr lang="en-US" sz="976" dirty="0"/>
          </a:p>
        </p:txBody>
      </p:sp>
      <p:sp>
        <p:nvSpPr>
          <p:cNvPr id="30" name="Text 22"/>
          <p:cNvSpPr/>
          <p:nvPr/>
        </p:nvSpPr>
        <p:spPr>
          <a:xfrm>
            <a:off x="381000" y="5149763"/>
            <a:ext cx="2189702"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Recommended Tools</a:t>
            </a:r>
            <a:endParaRPr lang="en-US" sz="1651" dirty="0"/>
          </a:p>
        </p:txBody>
      </p:sp>
      <p:pic>
        <p:nvPicPr>
          <p:cNvPr id="31" name="Image 6" descr="preencoded.png"/>
          <p:cNvPicPr>
            <a:picLocks noChangeAspect="1"/>
          </p:cNvPicPr>
          <p:nvPr/>
        </p:nvPicPr>
        <p:blipFill>
          <a:blip r:embed="rId8"/>
          <a:stretch>
            <a:fillRect/>
          </a:stretch>
        </p:blipFill>
        <p:spPr>
          <a:xfrm>
            <a:off x="381001" y="5600701"/>
            <a:ext cx="133351" cy="133351"/>
          </a:xfrm>
          <a:prstGeom prst="rect">
            <a:avLst/>
          </a:prstGeom>
        </p:spPr>
      </p:pic>
      <p:sp>
        <p:nvSpPr>
          <p:cNvPr id="32" name="Text 23"/>
          <p:cNvSpPr/>
          <p:nvPr/>
        </p:nvSpPr>
        <p:spPr>
          <a:xfrm>
            <a:off x="552451" y="5592292"/>
            <a:ext cx="109805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 LangChain Agents</a:t>
            </a:r>
            <a:endParaRPr lang="en-US" sz="976" dirty="0"/>
          </a:p>
        </p:txBody>
      </p:sp>
      <p:pic>
        <p:nvPicPr>
          <p:cNvPr id="33" name="Image 7" descr="preencoded.png"/>
          <p:cNvPicPr>
            <a:picLocks noChangeAspect="1"/>
          </p:cNvPicPr>
          <p:nvPr/>
        </p:nvPicPr>
        <p:blipFill>
          <a:blip r:embed="rId9"/>
          <a:stretch>
            <a:fillRect/>
          </a:stretch>
        </p:blipFill>
        <p:spPr>
          <a:xfrm>
            <a:off x="3205163" y="5600701"/>
            <a:ext cx="133351" cy="133351"/>
          </a:xfrm>
          <a:prstGeom prst="rect">
            <a:avLst/>
          </a:prstGeom>
        </p:spPr>
      </p:pic>
      <p:sp>
        <p:nvSpPr>
          <p:cNvPr id="34" name="Text 24"/>
          <p:cNvSpPr/>
          <p:nvPr/>
        </p:nvSpPr>
        <p:spPr>
          <a:xfrm>
            <a:off x="3376613" y="5592292"/>
            <a:ext cx="54822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 AutoGen</a:t>
            </a:r>
            <a:endParaRPr lang="en-US" sz="976" dirty="0"/>
          </a:p>
        </p:txBody>
      </p:sp>
      <p:pic>
        <p:nvPicPr>
          <p:cNvPr id="35" name="Image 8" descr="preencoded.png"/>
          <p:cNvPicPr>
            <a:picLocks noChangeAspect="1"/>
          </p:cNvPicPr>
          <p:nvPr/>
        </p:nvPicPr>
        <p:blipFill>
          <a:blip r:embed="rId8"/>
          <a:stretch>
            <a:fillRect/>
          </a:stretch>
        </p:blipFill>
        <p:spPr>
          <a:xfrm>
            <a:off x="381001" y="5867401"/>
            <a:ext cx="133351" cy="133351"/>
          </a:xfrm>
          <a:prstGeom prst="rect">
            <a:avLst/>
          </a:prstGeom>
        </p:spPr>
      </p:pic>
      <p:sp>
        <p:nvSpPr>
          <p:cNvPr id="36" name="Text 25"/>
          <p:cNvSpPr/>
          <p:nvPr/>
        </p:nvSpPr>
        <p:spPr>
          <a:xfrm>
            <a:off x="552452" y="5858992"/>
            <a:ext cx="98584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Google Vertex AI</a:t>
            </a:r>
            <a:endParaRPr lang="en-US" sz="976" dirty="0"/>
          </a:p>
        </p:txBody>
      </p:sp>
      <p:pic>
        <p:nvPicPr>
          <p:cNvPr id="37" name="Image 9" descr="preencoded.png"/>
          <p:cNvPicPr>
            <a:picLocks noChangeAspect="1"/>
          </p:cNvPicPr>
          <p:nvPr/>
        </p:nvPicPr>
        <p:blipFill>
          <a:blip r:embed="rId9"/>
          <a:stretch>
            <a:fillRect/>
          </a:stretch>
        </p:blipFill>
        <p:spPr>
          <a:xfrm>
            <a:off x="3205163" y="5867401"/>
            <a:ext cx="133351" cy="133351"/>
          </a:xfrm>
          <a:prstGeom prst="rect">
            <a:avLst/>
          </a:prstGeom>
        </p:spPr>
      </p:pic>
      <p:sp>
        <p:nvSpPr>
          <p:cNvPr id="38" name="Text 26"/>
          <p:cNvSpPr/>
          <p:nvPr/>
        </p:nvSpPr>
        <p:spPr>
          <a:xfrm>
            <a:off x="3376613" y="5858992"/>
            <a:ext cx="73417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 Google ADK</a:t>
            </a:r>
            <a:endParaRPr lang="en-US" sz="97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3664465"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Multi-Agent Patterns</a:t>
            </a:r>
            <a:endParaRPr lang="en-US" sz="2700" dirty="0"/>
          </a:p>
        </p:txBody>
      </p:sp>
      <p:sp>
        <p:nvSpPr>
          <p:cNvPr id="4" name="Text 1"/>
          <p:cNvSpPr/>
          <p:nvPr/>
        </p:nvSpPr>
        <p:spPr>
          <a:xfrm>
            <a:off x="381001" y="1120688"/>
            <a:ext cx="3773469"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Common Multi-Agent Architectures</a:t>
            </a:r>
            <a:endParaRPr lang="en-US" sz="1651" dirty="0"/>
          </a:p>
        </p:txBody>
      </p:sp>
      <p:sp>
        <p:nvSpPr>
          <p:cNvPr id="5" name="Shape 2"/>
          <p:cNvSpPr/>
          <p:nvPr/>
        </p:nvSpPr>
        <p:spPr>
          <a:xfrm>
            <a:off x="381000" y="1562101"/>
            <a:ext cx="5572125" cy="1638300"/>
          </a:xfrm>
          <a:prstGeom prst="rect">
            <a:avLst/>
          </a:prstGeom>
          <a:solidFill>
            <a:srgbClr val="F4A261">
              <a:alpha val="5000"/>
            </a:srgbClr>
          </a:solidFill>
          <a:ln/>
        </p:spPr>
        <p:txBody>
          <a:bodyPr/>
          <a:lstStyle/>
          <a:p>
            <a:endParaRPr lang="en-IN" sz="2400"/>
          </a:p>
        </p:txBody>
      </p:sp>
      <p:sp>
        <p:nvSpPr>
          <p:cNvPr id="6" name="Shape 3"/>
          <p:cNvSpPr/>
          <p:nvPr/>
        </p:nvSpPr>
        <p:spPr>
          <a:xfrm>
            <a:off x="381001" y="1562101"/>
            <a:ext cx="38100" cy="1638300"/>
          </a:xfrm>
          <a:prstGeom prst="rect">
            <a:avLst/>
          </a:prstGeom>
          <a:solidFill>
            <a:srgbClr val="F4A261"/>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95300" y="1719263"/>
            <a:ext cx="150019" cy="171451"/>
          </a:xfrm>
          <a:prstGeom prst="rect">
            <a:avLst/>
          </a:prstGeom>
        </p:spPr>
      </p:pic>
      <p:sp>
        <p:nvSpPr>
          <p:cNvPr id="8" name="Text 4"/>
          <p:cNvSpPr/>
          <p:nvPr/>
        </p:nvSpPr>
        <p:spPr>
          <a:xfrm>
            <a:off x="740569" y="1708359"/>
            <a:ext cx="2170466"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Supervisor-Worker Pattern</a:t>
            </a:r>
            <a:endParaRPr lang="en-US" sz="1256" dirty="0"/>
          </a:p>
        </p:txBody>
      </p:sp>
      <p:sp>
        <p:nvSpPr>
          <p:cNvPr id="9" name="Text 5"/>
          <p:cNvSpPr/>
          <p:nvPr/>
        </p:nvSpPr>
        <p:spPr>
          <a:xfrm>
            <a:off x="495300" y="2038086"/>
            <a:ext cx="5343525"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 central supervisor agent coordinates specialized worker agents, each with specific capabilities.</a:t>
            </a:r>
            <a:endParaRPr lang="en-US" sz="1116" dirty="0"/>
          </a:p>
        </p:txBody>
      </p:sp>
      <p:sp>
        <p:nvSpPr>
          <p:cNvPr id="10" name="Text 6"/>
          <p:cNvSpPr/>
          <p:nvPr/>
        </p:nvSpPr>
        <p:spPr>
          <a:xfrm>
            <a:off x="685801" y="2534766"/>
            <a:ext cx="398025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Supervisor decomposes tasks and delegates to appropriate workers</a:t>
            </a:r>
            <a:endParaRPr lang="en-US" sz="976" dirty="0"/>
          </a:p>
        </p:txBody>
      </p:sp>
      <p:sp>
        <p:nvSpPr>
          <p:cNvPr id="11" name="Text 7"/>
          <p:cNvSpPr/>
          <p:nvPr/>
        </p:nvSpPr>
        <p:spPr>
          <a:xfrm>
            <a:off x="685800" y="2725266"/>
            <a:ext cx="331501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Workers report results back to supervisor for integration</a:t>
            </a:r>
            <a:endParaRPr lang="en-US" sz="976" dirty="0"/>
          </a:p>
        </p:txBody>
      </p:sp>
      <p:sp>
        <p:nvSpPr>
          <p:cNvPr id="12" name="Text 8"/>
          <p:cNvSpPr/>
          <p:nvPr/>
        </p:nvSpPr>
        <p:spPr>
          <a:xfrm>
            <a:off x="685801" y="2915766"/>
            <a:ext cx="2834109"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Clear chain of command with centralized control</a:t>
            </a:r>
            <a:endParaRPr lang="en-US" sz="976" dirty="0"/>
          </a:p>
        </p:txBody>
      </p:sp>
      <p:sp>
        <p:nvSpPr>
          <p:cNvPr id="13" name="Shape 9"/>
          <p:cNvSpPr/>
          <p:nvPr/>
        </p:nvSpPr>
        <p:spPr>
          <a:xfrm>
            <a:off x="381000" y="3343275"/>
            <a:ext cx="5572125" cy="1409700"/>
          </a:xfrm>
          <a:prstGeom prst="rect">
            <a:avLst/>
          </a:prstGeom>
          <a:solidFill>
            <a:srgbClr val="F4A261">
              <a:alpha val="5000"/>
            </a:srgbClr>
          </a:solidFill>
          <a:ln/>
        </p:spPr>
        <p:txBody>
          <a:bodyPr/>
          <a:lstStyle/>
          <a:p>
            <a:endParaRPr lang="en-IN" sz="2400"/>
          </a:p>
        </p:txBody>
      </p:sp>
      <p:sp>
        <p:nvSpPr>
          <p:cNvPr id="14" name="Shape 10"/>
          <p:cNvSpPr/>
          <p:nvPr/>
        </p:nvSpPr>
        <p:spPr>
          <a:xfrm>
            <a:off x="381001" y="3343275"/>
            <a:ext cx="38100" cy="1409700"/>
          </a:xfrm>
          <a:prstGeom prst="rect">
            <a:avLst/>
          </a:prstGeom>
          <a:solidFill>
            <a:srgbClr val="F4A261"/>
          </a:solidFill>
          <a:ln/>
        </p:spPr>
        <p:txBody>
          <a:bodyPr/>
          <a:lstStyle/>
          <a:p>
            <a:endParaRPr lang="en-IN" sz="2400"/>
          </a:p>
        </p:txBody>
      </p:sp>
      <p:pic>
        <p:nvPicPr>
          <p:cNvPr id="15" name="Image 2" descr="preencoded.png"/>
          <p:cNvPicPr>
            <a:picLocks noChangeAspect="1"/>
          </p:cNvPicPr>
          <p:nvPr/>
        </p:nvPicPr>
        <p:blipFill>
          <a:blip r:embed="rId4"/>
          <a:stretch>
            <a:fillRect/>
          </a:stretch>
        </p:blipFill>
        <p:spPr>
          <a:xfrm>
            <a:off x="495301" y="3500437"/>
            <a:ext cx="192881" cy="171451"/>
          </a:xfrm>
          <a:prstGeom prst="rect">
            <a:avLst/>
          </a:prstGeom>
        </p:spPr>
      </p:pic>
      <p:sp>
        <p:nvSpPr>
          <p:cNvPr id="16" name="Text 11"/>
          <p:cNvSpPr/>
          <p:nvPr/>
        </p:nvSpPr>
        <p:spPr>
          <a:xfrm>
            <a:off x="783431" y="3489533"/>
            <a:ext cx="1638269"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Hierarchical Pattern</a:t>
            </a:r>
            <a:endParaRPr lang="en-US" sz="1256" dirty="0"/>
          </a:p>
        </p:txBody>
      </p:sp>
      <p:sp>
        <p:nvSpPr>
          <p:cNvPr id="17" name="Text 12"/>
          <p:cNvSpPr/>
          <p:nvPr/>
        </p:nvSpPr>
        <p:spPr>
          <a:xfrm>
            <a:off x="495301" y="3790818"/>
            <a:ext cx="4946867"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Multi-level structure with delegation flowing down and results flowing up.</a:t>
            </a:r>
            <a:endParaRPr lang="en-US" sz="1116" dirty="0"/>
          </a:p>
        </p:txBody>
      </p:sp>
      <p:sp>
        <p:nvSpPr>
          <p:cNvPr id="18" name="Text 13"/>
          <p:cNvSpPr/>
          <p:nvPr/>
        </p:nvSpPr>
        <p:spPr>
          <a:xfrm>
            <a:off x="685801" y="4087341"/>
            <a:ext cx="251671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Top-level agents handle strategic decisions</a:t>
            </a:r>
            <a:endParaRPr lang="en-US" sz="976" dirty="0"/>
          </a:p>
        </p:txBody>
      </p:sp>
      <p:sp>
        <p:nvSpPr>
          <p:cNvPr id="19" name="Text 14"/>
          <p:cNvSpPr/>
          <p:nvPr/>
        </p:nvSpPr>
        <p:spPr>
          <a:xfrm>
            <a:off x="685800" y="4277841"/>
            <a:ext cx="253114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Mid-level agents manage tactical execution</a:t>
            </a:r>
            <a:endParaRPr lang="en-US" sz="976" dirty="0"/>
          </a:p>
        </p:txBody>
      </p:sp>
      <p:sp>
        <p:nvSpPr>
          <p:cNvPr id="20" name="Text 15"/>
          <p:cNvSpPr/>
          <p:nvPr/>
        </p:nvSpPr>
        <p:spPr>
          <a:xfrm>
            <a:off x="685801" y="4468341"/>
            <a:ext cx="253595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Leaf agents perform specialized operations</a:t>
            </a:r>
            <a:endParaRPr lang="en-US" sz="976" dirty="0"/>
          </a:p>
        </p:txBody>
      </p:sp>
      <p:sp>
        <p:nvSpPr>
          <p:cNvPr id="21" name="Shape 16"/>
          <p:cNvSpPr/>
          <p:nvPr/>
        </p:nvSpPr>
        <p:spPr>
          <a:xfrm>
            <a:off x="6199369" y="1562101"/>
            <a:ext cx="5572125" cy="1409700"/>
          </a:xfrm>
          <a:prstGeom prst="rect">
            <a:avLst/>
          </a:prstGeom>
          <a:solidFill>
            <a:srgbClr val="F4A261">
              <a:alpha val="5000"/>
            </a:srgbClr>
          </a:solidFill>
          <a:ln/>
        </p:spPr>
        <p:txBody>
          <a:bodyPr/>
          <a:lstStyle/>
          <a:p>
            <a:endParaRPr lang="en-IN" sz="2400"/>
          </a:p>
        </p:txBody>
      </p:sp>
      <p:sp>
        <p:nvSpPr>
          <p:cNvPr id="22" name="Shape 17"/>
          <p:cNvSpPr/>
          <p:nvPr/>
        </p:nvSpPr>
        <p:spPr>
          <a:xfrm>
            <a:off x="6199370" y="1562101"/>
            <a:ext cx="38100" cy="1409700"/>
          </a:xfrm>
          <a:prstGeom prst="rect">
            <a:avLst/>
          </a:prstGeom>
          <a:solidFill>
            <a:srgbClr val="F4A261"/>
          </a:solidFill>
          <a:ln/>
        </p:spPr>
        <p:txBody>
          <a:bodyPr/>
          <a:lstStyle/>
          <a:p>
            <a:endParaRPr lang="en-IN" sz="2400"/>
          </a:p>
        </p:txBody>
      </p:sp>
      <p:pic>
        <p:nvPicPr>
          <p:cNvPr id="23" name="Image 3" descr="preencoded.png"/>
          <p:cNvPicPr>
            <a:picLocks noChangeAspect="1"/>
          </p:cNvPicPr>
          <p:nvPr/>
        </p:nvPicPr>
        <p:blipFill>
          <a:blip r:embed="rId5"/>
          <a:stretch>
            <a:fillRect/>
          </a:stretch>
        </p:blipFill>
        <p:spPr>
          <a:xfrm>
            <a:off x="6313669" y="1719262"/>
            <a:ext cx="214312" cy="171451"/>
          </a:xfrm>
          <a:prstGeom prst="rect">
            <a:avLst/>
          </a:prstGeom>
        </p:spPr>
      </p:pic>
      <p:sp>
        <p:nvSpPr>
          <p:cNvPr id="24" name="Text 18"/>
          <p:cNvSpPr/>
          <p:nvPr/>
        </p:nvSpPr>
        <p:spPr>
          <a:xfrm>
            <a:off x="6623232" y="1708359"/>
            <a:ext cx="1671933"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Peer-to-Peer Pattern</a:t>
            </a:r>
            <a:endParaRPr lang="en-US" sz="1256" dirty="0"/>
          </a:p>
        </p:txBody>
      </p:sp>
      <p:sp>
        <p:nvSpPr>
          <p:cNvPr id="25" name="Text 19"/>
          <p:cNvSpPr/>
          <p:nvPr/>
        </p:nvSpPr>
        <p:spPr>
          <a:xfrm>
            <a:off x="6313669" y="2009644"/>
            <a:ext cx="469840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Agents collaborate as equals, communicating directly with each other.</a:t>
            </a:r>
            <a:endParaRPr lang="en-US" sz="1116" dirty="0"/>
          </a:p>
        </p:txBody>
      </p:sp>
      <p:sp>
        <p:nvSpPr>
          <p:cNvPr id="26" name="Text 20"/>
          <p:cNvSpPr/>
          <p:nvPr/>
        </p:nvSpPr>
        <p:spPr>
          <a:xfrm>
            <a:off x="6504169" y="2306167"/>
            <a:ext cx="3039294"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No central coordinator; distributed decision-making</a:t>
            </a:r>
            <a:endParaRPr lang="en-US" sz="976" dirty="0"/>
          </a:p>
        </p:txBody>
      </p:sp>
      <p:sp>
        <p:nvSpPr>
          <p:cNvPr id="27" name="Text 21"/>
          <p:cNvSpPr/>
          <p:nvPr/>
        </p:nvSpPr>
        <p:spPr>
          <a:xfrm>
            <a:off x="6504170" y="2496667"/>
            <a:ext cx="282769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Agents negotiate and collaborate autonomously</a:t>
            </a:r>
            <a:endParaRPr lang="en-US" sz="976" dirty="0"/>
          </a:p>
        </p:txBody>
      </p:sp>
      <p:sp>
        <p:nvSpPr>
          <p:cNvPr id="28" name="Text 22"/>
          <p:cNvSpPr/>
          <p:nvPr/>
        </p:nvSpPr>
        <p:spPr>
          <a:xfrm>
            <a:off x="6504169" y="2687167"/>
            <a:ext cx="306814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Highly resilient but potentially complex coordination</a:t>
            </a:r>
            <a:endParaRPr lang="en-US" sz="976" dirty="0"/>
          </a:p>
        </p:txBody>
      </p:sp>
      <p:grpSp>
        <p:nvGrpSpPr>
          <p:cNvPr id="41" name="Group 40">
            <a:extLst>
              <a:ext uri="{FF2B5EF4-FFF2-40B4-BE49-F238E27FC236}">
                <a16:creationId xmlns:a16="http://schemas.microsoft.com/office/drawing/2014/main" id="{822093E3-262D-9181-B222-95474C465EFF}"/>
              </a:ext>
            </a:extLst>
          </p:cNvPr>
          <p:cNvGrpSpPr/>
          <p:nvPr/>
        </p:nvGrpSpPr>
        <p:grpSpPr>
          <a:xfrm>
            <a:off x="6238874" y="3343275"/>
            <a:ext cx="5572125" cy="1409700"/>
            <a:chOff x="6238874" y="3343275"/>
            <a:chExt cx="5572125" cy="1409700"/>
          </a:xfrm>
        </p:grpSpPr>
        <p:sp>
          <p:nvSpPr>
            <p:cNvPr id="29" name="Shape 23"/>
            <p:cNvSpPr/>
            <p:nvPr/>
          </p:nvSpPr>
          <p:spPr>
            <a:xfrm>
              <a:off x="6238874" y="3343275"/>
              <a:ext cx="5572125" cy="1409700"/>
            </a:xfrm>
            <a:prstGeom prst="rect">
              <a:avLst/>
            </a:prstGeom>
            <a:solidFill>
              <a:srgbClr val="F4A261">
                <a:alpha val="5000"/>
              </a:srgbClr>
            </a:solidFill>
            <a:ln/>
          </p:spPr>
          <p:txBody>
            <a:bodyPr/>
            <a:lstStyle/>
            <a:p>
              <a:endParaRPr lang="en-IN" sz="2400"/>
            </a:p>
          </p:txBody>
        </p:sp>
        <p:sp>
          <p:nvSpPr>
            <p:cNvPr id="30" name="Shape 24"/>
            <p:cNvSpPr/>
            <p:nvPr/>
          </p:nvSpPr>
          <p:spPr>
            <a:xfrm>
              <a:off x="6238875" y="3343275"/>
              <a:ext cx="38100" cy="1409700"/>
            </a:xfrm>
            <a:prstGeom prst="rect">
              <a:avLst/>
            </a:prstGeom>
            <a:solidFill>
              <a:srgbClr val="F4A261"/>
            </a:solidFill>
            <a:ln/>
          </p:spPr>
          <p:txBody>
            <a:bodyPr/>
            <a:lstStyle/>
            <a:p>
              <a:endParaRPr lang="en-IN" sz="2400"/>
            </a:p>
          </p:txBody>
        </p:sp>
        <p:pic>
          <p:nvPicPr>
            <p:cNvPr id="31" name="Image 4" descr="preencoded.png"/>
            <p:cNvPicPr>
              <a:picLocks noChangeAspect="1"/>
            </p:cNvPicPr>
            <p:nvPr/>
          </p:nvPicPr>
          <p:blipFill>
            <a:blip r:embed="rId6"/>
            <a:stretch>
              <a:fillRect/>
            </a:stretch>
          </p:blipFill>
          <p:spPr>
            <a:xfrm>
              <a:off x="6353174" y="3500437"/>
              <a:ext cx="214312" cy="171451"/>
            </a:xfrm>
            <a:prstGeom prst="rect">
              <a:avLst/>
            </a:prstGeom>
          </p:spPr>
        </p:pic>
        <p:sp>
          <p:nvSpPr>
            <p:cNvPr id="32" name="Text 25"/>
            <p:cNvSpPr/>
            <p:nvPr/>
          </p:nvSpPr>
          <p:spPr>
            <a:xfrm>
              <a:off x="6662737" y="3489533"/>
              <a:ext cx="1234312"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Debate Pattern</a:t>
              </a:r>
              <a:endParaRPr lang="en-US" sz="1256" dirty="0"/>
            </a:p>
          </p:txBody>
        </p:sp>
        <p:sp>
          <p:nvSpPr>
            <p:cNvPr id="33" name="Text 26"/>
            <p:cNvSpPr/>
            <p:nvPr/>
          </p:nvSpPr>
          <p:spPr>
            <a:xfrm>
              <a:off x="6353174" y="3790817"/>
              <a:ext cx="474328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Multiple agents with different perspectives debate to reach consensus.</a:t>
              </a:r>
              <a:endParaRPr lang="en-US" sz="1116" dirty="0"/>
            </a:p>
          </p:txBody>
        </p:sp>
        <p:sp>
          <p:nvSpPr>
            <p:cNvPr id="34" name="Text 27"/>
            <p:cNvSpPr/>
            <p:nvPr/>
          </p:nvSpPr>
          <p:spPr>
            <a:xfrm>
              <a:off x="6543675" y="4087340"/>
              <a:ext cx="2999219"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Agents present arguments and counter-arguments</a:t>
              </a:r>
              <a:endParaRPr lang="en-US" sz="976" dirty="0"/>
            </a:p>
          </p:txBody>
        </p:sp>
        <p:sp>
          <p:nvSpPr>
            <p:cNvPr id="35" name="Text 28"/>
            <p:cNvSpPr/>
            <p:nvPr/>
          </p:nvSpPr>
          <p:spPr>
            <a:xfrm>
              <a:off x="6543675" y="4277840"/>
              <a:ext cx="297196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Judge agent evaluates and determines final output</a:t>
              </a:r>
              <a:endParaRPr lang="en-US" sz="976" dirty="0"/>
            </a:p>
          </p:txBody>
        </p:sp>
        <p:sp>
          <p:nvSpPr>
            <p:cNvPr id="36" name="Text 29"/>
            <p:cNvSpPr/>
            <p:nvPr/>
          </p:nvSpPr>
          <p:spPr>
            <a:xfrm>
              <a:off x="6543674" y="4468340"/>
              <a:ext cx="233237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Improves reasoning and reduces biases</a:t>
              </a:r>
              <a:endParaRPr lang="en-US" sz="976"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4047583"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Multi-Agent Topologies</a:t>
            </a:r>
            <a:endParaRPr lang="en-US" sz="2700" dirty="0"/>
          </a:p>
        </p:txBody>
      </p:sp>
      <p:sp>
        <p:nvSpPr>
          <p:cNvPr id="4" name="Text 1"/>
          <p:cNvSpPr/>
          <p:nvPr/>
        </p:nvSpPr>
        <p:spPr>
          <a:xfrm>
            <a:off x="381001" y="1120688"/>
            <a:ext cx="2843727"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Common Agent Topologies</a:t>
            </a:r>
            <a:endParaRPr lang="en-US" sz="1651" dirty="0"/>
          </a:p>
        </p:txBody>
      </p:sp>
      <p:sp>
        <p:nvSpPr>
          <p:cNvPr id="5" name="Shape 2"/>
          <p:cNvSpPr/>
          <p:nvPr/>
        </p:nvSpPr>
        <p:spPr>
          <a:xfrm>
            <a:off x="316332" y="2171701"/>
            <a:ext cx="5429251" cy="1219200"/>
          </a:xfrm>
          <a:prstGeom prst="rect">
            <a:avLst/>
          </a:prstGeom>
          <a:solidFill>
            <a:srgbClr val="F4A261">
              <a:alpha val="5000"/>
            </a:srgbClr>
          </a:solidFill>
          <a:ln/>
        </p:spPr>
        <p:txBody>
          <a:bodyPr/>
          <a:lstStyle/>
          <a:p>
            <a:endParaRPr lang="en-IN" sz="2400"/>
          </a:p>
        </p:txBody>
      </p:sp>
      <p:sp>
        <p:nvSpPr>
          <p:cNvPr id="6" name="Shape 3"/>
          <p:cNvSpPr/>
          <p:nvPr/>
        </p:nvSpPr>
        <p:spPr>
          <a:xfrm>
            <a:off x="316333" y="2171701"/>
            <a:ext cx="38100" cy="1219200"/>
          </a:xfrm>
          <a:prstGeom prst="rect">
            <a:avLst/>
          </a:prstGeom>
          <a:solidFill>
            <a:srgbClr val="F4A261"/>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30632" y="2328864"/>
            <a:ext cx="150019" cy="171451"/>
          </a:xfrm>
          <a:prstGeom prst="rect">
            <a:avLst/>
          </a:prstGeom>
        </p:spPr>
      </p:pic>
      <p:sp>
        <p:nvSpPr>
          <p:cNvPr id="8" name="Text 4"/>
          <p:cNvSpPr/>
          <p:nvPr/>
        </p:nvSpPr>
        <p:spPr>
          <a:xfrm>
            <a:off x="675901" y="2317960"/>
            <a:ext cx="2266646"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Supervisor (Hub-and-Spoke)</a:t>
            </a:r>
            <a:endParaRPr lang="en-US" sz="1256" dirty="0"/>
          </a:p>
        </p:txBody>
      </p:sp>
      <p:sp>
        <p:nvSpPr>
          <p:cNvPr id="9" name="Text 5"/>
          <p:cNvSpPr/>
          <p:nvPr/>
        </p:nvSpPr>
        <p:spPr>
          <a:xfrm>
            <a:off x="430632" y="2647687"/>
            <a:ext cx="5200651"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A central controller agent coordinates specialized worker agents, delegating tasks and aggregating results.</a:t>
            </a:r>
            <a:endParaRPr lang="en-US" sz="1116" dirty="0"/>
          </a:p>
        </p:txBody>
      </p:sp>
      <p:sp>
        <p:nvSpPr>
          <p:cNvPr id="10" name="Text 6"/>
          <p:cNvSpPr/>
          <p:nvPr/>
        </p:nvSpPr>
        <p:spPr>
          <a:xfrm>
            <a:off x="430632" y="3106267"/>
            <a:ext cx="527388"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Best for:</a:t>
            </a:r>
            <a:endParaRPr lang="en-US" sz="976" dirty="0"/>
          </a:p>
        </p:txBody>
      </p:sp>
      <p:sp>
        <p:nvSpPr>
          <p:cNvPr id="11" name="Text 7"/>
          <p:cNvSpPr/>
          <p:nvPr/>
        </p:nvSpPr>
        <p:spPr>
          <a:xfrm>
            <a:off x="990597" y="3106267"/>
            <a:ext cx="3422412"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Complex tasks requiring diverse expertise, clear hierarchy</a:t>
            </a:r>
            <a:endParaRPr lang="en-US" sz="976" dirty="0"/>
          </a:p>
        </p:txBody>
      </p:sp>
      <p:sp>
        <p:nvSpPr>
          <p:cNvPr id="12" name="Shape 8"/>
          <p:cNvSpPr/>
          <p:nvPr/>
        </p:nvSpPr>
        <p:spPr>
          <a:xfrm>
            <a:off x="316332" y="3533776"/>
            <a:ext cx="5429251" cy="1219200"/>
          </a:xfrm>
          <a:prstGeom prst="rect">
            <a:avLst/>
          </a:prstGeom>
          <a:solidFill>
            <a:srgbClr val="F4A261">
              <a:alpha val="5000"/>
            </a:srgbClr>
          </a:solidFill>
          <a:ln/>
        </p:spPr>
        <p:txBody>
          <a:bodyPr/>
          <a:lstStyle/>
          <a:p>
            <a:endParaRPr lang="en-IN" sz="2400"/>
          </a:p>
        </p:txBody>
      </p:sp>
      <p:sp>
        <p:nvSpPr>
          <p:cNvPr id="13" name="Shape 9"/>
          <p:cNvSpPr/>
          <p:nvPr/>
        </p:nvSpPr>
        <p:spPr>
          <a:xfrm>
            <a:off x="316333" y="3533776"/>
            <a:ext cx="38100" cy="1219200"/>
          </a:xfrm>
          <a:prstGeom prst="rect">
            <a:avLst/>
          </a:prstGeom>
          <a:solidFill>
            <a:srgbClr val="F4A261"/>
          </a:solidFill>
          <a:ln/>
        </p:spPr>
        <p:txBody>
          <a:bodyPr/>
          <a:lstStyle/>
          <a:p>
            <a:endParaRPr lang="en-IN" sz="2400"/>
          </a:p>
        </p:txBody>
      </p:sp>
      <p:pic>
        <p:nvPicPr>
          <p:cNvPr id="14" name="Image 2" descr="preencoded.png"/>
          <p:cNvPicPr>
            <a:picLocks noChangeAspect="1"/>
          </p:cNvPicPr>
          <p:nvPr/>
        </p:nvPicPr>
        <p:blipFill>
          <a:blip r:embed="rId4"/>
          <a:stretch>
            <a:fillRect/>
          </a:stretch>
        </p:blipFill>
        <p:spPr>
          <a:xfrm>
            <a:off x="430633" y="3690938"/>
            <a:ext cx="192881" cy="171451"/>
          </a:xfrm>
          <a:prstGeom prst="rect">
            <a:avLst/>
          </a:prstGeom>
        </p:spPr>
      </p:pic>
      <p:sp>
        <p:nvSpPr>
          <p:cNvPr id="15" name="Text 10"/>
          <p:cNvSpPr/>
          <p:nvPr/>
        </p:nvSpPr>
        <p:spPr>
          <a:xfrm>
            <a:off x="718763" y="3680034"/>
            <a:ext cx="1505220"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Hierarchical (Tree)</a:t>
            </a:r>
            <a:endParaRPr lang="en-US" sz="1256" dirty="0"/>
          </a:p>
        </p:txBody>
      </p:sp>
      <p:sp>
        <p:nvSpPr>
          <p:cNvPr id="16" name="Text 11"/>
          <p:cNvSpPr/>
          <p:nvPr/>
        </p:nvSpPr>
        <p:spPr>
          <a:xfrm>
            <a:off x="430632" y="4009764"/>
            <a:ext cx="5200651"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Multi-level structure with delegation chains and specialized sub-teams for complex problem decomposition.</a:t>
            </a:r>
            <a:endParaRPr lang="en-US" sz="1116" dirty="0"/>
          </a:p>
        </p:txBody>
      </p:sp>
      <p:sp>
        <p:nvSpPr>
          <p:cNvPr id="17" name="Text 12"/>
          <p:cNvSpPr/>
          <p:nvPr/>
        </p:nvSpPr>
        <p:spPr>
          <a:xfrm>
            <a:off x="430632" y="4468342"/>
            <a:ext cx="527388"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Best for:</a:t>
            </a:r>
            <a:endParaRPr lang="en-US" sz="976" dirty="0"/>
          </a:p>
        </p:txBody>
      </p:sp>
      <p:sp>
        <p:nvSpPr>
          <p:cNvPr id="18" name="Text 13"/>
          <p:cNvSpPr/>
          <p:nvPr/>
        </p:nvSpPr>
        <p:spPr>
          <a:xfrm>
            <a:off x="990598" y="4468342"/>
            <a:ext cx="2845331"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Large-scale projects, nested task decomposition</a:t>
            </a:r>
            <a:endParaRPr lang="en-US" sz="976" dirty="0"/>
          </a:p>
        </p:txBody>
      </p:sp>
      <p:sp>
        <p:nvSpPr>
          <p:cNvPr id="19" name="Shape 14"/>
          <p:cNvSpPr/>
          <p:nvPr/>
        </p:nvSpPr>
        <p:spPr>
          <a:xfrm>
            <a:off x="6381748" y="2171701"/>
            <a:ext cx="5429251" cy="1219200"/>
          </a:xfrm>
          <a:prstGeom prst="rect">
            <a:avLst/>
          </a:prstGeom>
          <a:solidFill>
            <a:srgbClr val="F4A261">
              <a:alpha val="5000"/>
            </a:srgbClr>
          </a:solidFill>
          <a:ln/>
        </p:spPr>
        <p:txBody>
          <a:bodyPr/>
          <a:lstStyle/>
          <a:p>
            <a:endParaRPr lang="en-IN" sz="2400"/>
          </a:p>
        </p:txBody>
      </p:sp>
      <p:sp>
        <p:nvSpPr>
          <p:cNvPr id="20" name="Shape 15"/>
          <p:cNvSpPr/>
          <p:nvPr/>
        </p:nvSpPr>
        <p:spPr>
          <a:xfrm>
            <a:off x="6381749" y="2171701"/>
            <a:ext cx="38100" cy="1219200"/>
          </a:xfrm>
          <a:prstGeom prst="rect">
            <a:avLst/>
          </a:prstGeom>
          <a:solidFill>
            <a:srgbClr val="F4A261"/>
          </a:solidFill>
          <a:ln/>
        </p:spPr>
        <p:txBody>
          <a:bodyPr/>
          <a:lstStyle/>
          <a:p>
            <a:endParaRPr lang="en-IN" sz="2400"/>
          </a:p>
        </p:txBody>
      </p:sp>
      <p:pic>
        <p:nvPicPr>
          <p:cNvPr id="21" name="Image 3" descr="preencoded.png"/>
          <p:cNvPicPr>
            <a:picLocks noChangeAspect="1"/>
          </p:cNvPicPr>
          <p:nvPr/>
        </p:nvPicPr>
        <p:blipFill>
          <a:blip r:embed="rId5"/>
          <a:stretch>
            <a:fillRect/>
          </a:stretch>
        </p:blipFill>
        <p:spPr>
          <a:xfrm>
            <a:off x="6496048" y="2328862"/>
            <a:ext cx="214312" cy="171451"/>
          </a:xfrm>
          <a:prstGeom prst="rect">
            <a:avLst/>
          </a:prstGeom>
        </p:spPr>
      </p:pic>
      <p:sp>
        <p:nvSpPr>
          <p:cNvPr id="22" name="Text 16"/>
          <p:cNvSpPr/>
          <p:nvPr/>
        </p:nvSpPr>
        <p:spPr>
          <a:xfrm>
            <a:off x="6805612" y="2317959"/>
            <a:ext cx="1889941"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Peer-to-Peer (Network)</a:t>
            </a:r>
            <a:endParaRPr lang="en-US" sz="1256" dirty="0"/>
          </a:p>
        </p:txBody>
      </p:sp>
      <p:sp>
        <p:nvSpPr>
          <p:cNvPr id="23" name="Text 17"/>
          <p:cNvSpPr/>
          <p:nvPr/>
        </p:nvSpPr>
        <p:spPr>
          <a:xfrm>
            <a:off x="6496048" y="2647689"/>
            <a:ext cx="5200651"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Decentralized structure where agents communicate directly with each other as equals, sharing information and collaborating.</a:t>
            </a:r>
            <a:endParaRPr lang="en-US" sz="1116" dirty="0"/>
          </a:p>
        </p:txBody>
      </p:sp>
      <p:sp>
        <p:nvSpPr>
          <p:cNvPr id="24" name="Text 18"/>
          <p:cNvSpPr/>
          <p:nvPr/>
        </p:nvSpPr>
        <p:spPr>
          <a:xfrm>
            <a:off x="6496048" y="3106266"/>
            <a:ext cx="527388"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Best for:</a:t>
            </a:r>
            <a:endParaRPr lang="en-US" sz="976" dirty="0"/>
          </a:p>
        </p:txBody>
      </p:sp>
      <p:sp>
        <p:nvSpPr>
          <p:cNvPr id="25" name="Text 19"/>
          <p:cNvSpPr/>
          <p:nvPr/>
        </p:nvSpPr>
        <p:spPr>
          <a:xfrm>
            <a:off x="7056013" y="3106266"/>
            <a:ext cx="2659382"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Collaborative problem-solving, creative tasks</a:t>
            </a:r>
            <a:endParaRPr lang="en-US" sz="976" dirty="0"/>
          </a:p>
        </p:txBody>
      </p:sp>
      <p:sp>
        <p:nvSpPr>
          <p:cNvPr id="26" name="Shape 20"/>
          <p:cNvSpPr/>
          <p:nvPr/>
        </p:nvSpPr>
        <p:spPr>
          <a:xfrm>
            <a:off x="6381748" y="3533775"/>
            <a:ext cx="5429251" cy="1219200"/>
          </a:xfrm>
          <a:prstGeom prst="rect">
            <a:avLst/>
          </a:prstGeom>
          <a:solidFill>
            <a:srgbClr val="F4A261">
              <a:alpha val="5000"/>
            </a:srgbClr>
          </a:solidFill>
          <a:ln/>
        </p:spPr>
        <p:txBody>
          <a:bodyPr/>
          <a:lstStyle/>
          <a:p>
            <a:endParaRPr lang="en-IN" sz="2400"/>
          </a:p>
        </p:txBody>
      </p:sp>
      <p:sp>
        <p:nvSpPr>
          <p:cNvPr id="27" name="Shape 21"/>
          <p:cNvSpPr/>
          <p:nvPr/>
        </p:nvSpPr>
        <p:spPr>
          <a:xfrm>
            <a:off x="6381749" y="3533775"/>
            <a:ext cx="38100" cy="1219200"/>
          </a:xfrm>
          <a:prstGeom prst="rect">
            <a:avLst/>
          </a:prstGeom>
          <a:solidFill>
            <a:srgbClr val="F4A261"/>
          </a:solidFill>
          <a:ln/>
        </p:spPr>
        <p:txBody>
          <a:bodyPr/>
          <a:lstStyle/>
          <a:p>
            <a:endParaRPr lang="en-IN" sz="2400"/>
          </a:p>
        </p:txBody>
      </p:sp>
      <p:pic>
        <p:nvPicPr>
          <p:cNvPr id="28" name="Image 4" descr="preencoded.png"/>
          <p:cNvPicPr>
            <a:picLocks noChangeAspect="1"/>
          </p:cNvPicPr>
          <p:nvPr/>
        </p:nvPicPr>
        <p:blipFill>
          <a:blip r:embed="rId6"/>
          <a:stretch>
            <a:fillRect/>
          </a:stretch>
        </p:blipFill>
        <p:spPr>
          <a:xfrm>
            <a:off x="6496049" y="3690938"/>
            <a:ext cx="192881" cy="171451"/>
          </a:xfrm>
          <a:prstGeom prst="rect">
            <a:avLst/>
          </a:prstGeom>
        </p:spPr>
      </p:pic>
      <p:sp>
        <p:nvSpPr>
          <p:cNvPr id="29" name="Text 22"/>
          <p:cNvSpPr/>
          <p:nvPr/>
        </p:nvSpPr>
        <p:spPr>
          <a:xfrm>
            <a:off x="6784179" y="3680034"/>
            <a:ext cx="1965282"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Assembly Line (Pipeline)</a:t>
            </a:r>
            <a:endParaRPr lang="en-US" sz="1256" dirty="0"/>
          </a:p>
        </p:txBody>
      </p:sp>
      <p:sp>
        <p:nvSpPr>
          <p:cNvPr id="30" name="Text 23"/>
          <p:cNvSpPr/>
          <p:nvPr/>
        </p:nvSpPr>
        <p:spPr>
          <a:xfrm>
            <a:off x="6496048" y="4009763"/>
            <a:ext cx="5200651"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Sequential processing where each agent performs a specific transformation on data before passing it to the next agent.</a:t>
            </a:r>
            <a:endParaRPr lang="en-US" sz="1116" dirty="0"/>
          </a:p>
        </p:txBody>
      </p:sp>
      <p:sp>
        <p:nvSpPr>
          <p:cNvPr id="31" name="Text 24"/>
          <p:cNvSpPr/>
          <p:nvPr/>
        </p:nvSpPr>
        <p:spPr>
          <a:xfrm>
            <a:off x="6496048" y="4468342"/>
            <a:ext cx="527388"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Best for:</a:t>
            </a:r>
            <a:endParaRPr lang="en-US" sz="976" dirty="0"/>
          </a:p>
        </p:txBody>
      </p:sp>
      <p:sp>
        <p:nvSpPr>
          <p:cNvPr id="32" name="Text 25"/>
          <p:cNvSpPr/>
          <p:nvPr/>
        </p:nvSpPr>
        <p:spPr>
          <a:xfrm>
            <a:off x="7056014" y="4468342"/>
            <a:ext cx="2824491"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Content transformation, multi-stage processing</a:t>
            </a:r>
            <a:endParaRPr lang="en-US" sz="976"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3837589"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Agentic Best Practices</a:t>
            </a:r>
            <a:endParaRPr lang="en-US" sz="2700" dirty="0"/>
          </a:p>
        </p:txBody>
      </p:sp>
      <p:sp>
        <p:nvSpPr>
          <p:cNvPr id="4" name="Text 1"/>
          <p:cNvSpPr/>
          <p:nvPr/>
        </p:nvSpPr>
        <p:spPr>
          <a:xfrm>
            <a:off x="381001" y="1120688"/>
            <a:ext cx="2507097"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Agent Design Principles</a:t>
            </a:r>
            <a:endParaRPr lang="en-US" sz="1651" dirty="0"/>
          </a:p>
        </p:txBody>
      </p:sp>
      <p:sp>
        <p:nvSpPr>
          <p:cNvPr id="5" name="Shape 2"/>
          <p:cNvSpPr/>
          <p:nvPr/>
        </p:nvSpPr>
        <p:spPr>
          <a:xfrm>
            <a:off x="381000" y="1543051"/>
            <a:ext cx="5572125" cy="781051"/>
          </a:xfrm>
          <a:prstGeom prst="rect">
            <a:avLst/>
          </a:prstGeom>
          <a:solidFill>
            <a:srgbClr val="F4A261">
              <a:alpha val="5000"/>
            </a:srgbClr>
          </a:solidFill>
          <a:ln/>
        </p:spPr>
        <p:txBody>
          <a:bodyPr/>
          <a:lstStyle/>
          <a:p>
            <a:endParaRPr lang="en-IN" sz="2400"/>
          </a:p>
        </p:txBody>
      </p:sp>
      <p:sp>
        <p:nvSpPr>
          <p:cNvPr id="6" name="Shape 3"/>
          <p:cNvSpPr/>
          <p:nvPr/>
        </p:nvSpPr>
        <p:spPr>
          <a:xfrm>
            <a:off x="457200" y="1638300"/>
            <a:ext cx="228600" cy="228600"/>
          </a:xfrm>
          <a:prstGeom prst="ellipse">
            <a:avLst/>
          </a:prstGeom>
          <a:solidFill>
            <a:srgbClr val="F4A261"/>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04826" y="1747838"/>
            <a:ext cx="133351" cy="9525"/>
          </a:xfrm>
          <a:prstGeom prst="rect">
            <a:avLst/>
          </a:prstGeom>
        </p:spPr>
      </p:pic>
      <p:sp>
        <p:nvSpPr>
          <p:cNvPr id="8" name="Text 4"/>
          <p:cNvSpPr/>
          <p:nvPr/>
        </p:nvSpPr>
        <p:spPr>
          <a:xfrm>
            <a:off x="800101" y="1647694"/>
            <a:ext cx="1439497"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Task Decomposition</a:t>
            </a:r>
            <a:endParaRPr lang="en-US" sz="1116" dirty="0"/>
          </a:p>
        </p:txBody>
      </p:sp>
      <p:sp>
        <p:nvSpPr>
          <p:cNvPr id="9" name="Text 5"/>
          <p:cNvSpPr/>
          <p:nvPr/>
        </p:nvSpPr>
        <p:spPr>
          <a:xfrm>
            <a:off x="800101" y="1982316"/>
            <a:ext cx="5076825"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Break complex tasks into smaller, manageable subtasks for specialized agents or tools.</a:t>
            </a:r>
            <a:endParaRPr lang="en-US" sz="976" dirty="0"/>
          </a:p>
        </p:txBody>
      </p:sp>
      <p:sp>
        <p:nvSpPr>
          <p:cNvPr id="10" name="Shape 6"/>
          <p:cNvSpPr/>
          <p:nvPr/>
        </p:nvSpPr>
        <p:spPr>
          <a:xfrm>
            <a:off x="381000" y="2495551"/>
            <a:ext cx="5572125" cy="781051"/>
          </a:xfrm>
          <a:prstGeom prst="rect">
            <a:avLst/>
          </a:prstGeom>
          <a:solidFill>
            <a:srgbClr val="F4A261">
              <a:alpha val="5000"/>
            </a:srgbClr>
          </a:solidFill>
          <a:ln/>
        </p:spPr>
        <p:txBody>
          <a:bodyPr/>
          <a:lstStyle/>
          <a:p>
            <a:endParaRPr lang="en-IN" sz="2400"/>
          </a:p>
        </p:txBody>
      </p:sp>
      <p:sp>
        <p:nvSpPr>
          <p:cNvPr id="11" name="Shape 7"/>
          <p:cNvSpPr/>
          <p:nvPr/>
        </p:nvSpPr>
        <p:spPr>
          <a:xfrm>
            <a:off x="457200" y="2590800"/>
            <a:ext cx="228600" cy="228600"/>
          </a:xfrm>
          <a:prstGeom prst="ellipse">
            <a:avLst/>
          </a:prstGeom>
          <a:solidFill>
            <a:srgbClr val="F4A261"/>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04826" y="2700338"/>
            <a:ext cx="133351" cy="9525"/>
          </a:xfrm>
          <a:prstGeom prst="rect">
            <a:avLst/>
          </a:prstGeom>
        </p:spPr>
      </p:pic>
      <p:sp>
        <p:nvSpPr>
          <p:cNvPr id="13" name="Text 8"/>
          <p:cNvSpPr/>
          <p:nvPr/>
        </p:nvSpPr>
        <p:spPr>
          <a:xfrm>
            <a:off x="800100" y="2600194"/>
            <a:ext cx="123751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Safety Guardrails</a:t>
            </a:r>
            <a:endParaRPr lang="en-US" sz="1116" dirty="0"/>
          </a:p>
        </p:txBody>
      </p:sp>
      <p:sp>
        <p:nvSpPr>
          <p:cNvPr id="14" name="Text 9"/>
          <p:cNvSpPr/>
          <p:nvPr/>
        </p:nvSpPr>
        <p:spPr>
          <a:xfrm>
            <a:off x="800101" y="2934816"/>
            <a:ext cx="5076825"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Implement permission systems and content filters to ensure responsible operation.</a:t>
            </a:r>
            <a:endParaRPr lang="en-US" sz="976" dirty="0"/>
          </a:p>
        </p:txBody>
      </p:sp>
      <p:sp>
        <p:nvSpPr>
          <p:cNvPr id="15" name="Shape 10"/>
          <p:cNvSpPr/>
          <p:nvPr/>
        </p:nvSpPr>
        <p:spPr>
          <a:xfrm>
            <a:off x="381000" y="3448051"/>
            <a:ext cx="5572125" cy="781051"/>
          </a:xfrm>
          <a:prstGeom prst="rect">
            <a:avLst/>
          </a:prstGeom>
          <a:solidFill>
            <a:srgbClr val="F4A261">
              <a:alpha val="5000"/>
            </a:srgbClr>
          </a:solidFill>
          <a:ln/>
        </p:spPr>
        <p:txBody>
          <a:bodyPr/>
          <a:lstStyle/>
          <a:p>
            <a:endParaRPr lang="en-IN" sz="2400"/>
          </a:p>
        </p:txBody>
      </p:sp>
      <p:sp>
        <p:nvSpPr>
          <p:cNvPr id="16" name="Shape 11"/>
          <p:cNvSpPr/>
          <p:nvPr/>
        </p:nvSpPr>
        <p:spPr>
          <a:xfrm>
            <a:off x="457200" y="3543300"/>
            <a:ext cx="228600" cy="228600"/>
          </a:xfrm>
          <a:prstGeom prst="ellipse">
            <a:avLst/>
          </a:prstGeom>
          <a:solidFill>
            <a:srgbClr val="F4A261"/>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496491" y="3652838"/>
            <a:ext cx="150019" cy="9525"/>
          </a:xfrm>
          <a:prstGeom prst="rect">
            <a:avLst/>
          </a:prstGeom>
        </p:spPr>
      </p:pic>
      <p:sp>
        <p:nvSpPr>
          <p:cNvPr id="18" name="Text 12"/>
          <p:cNvSpPr/>
          <p:nvPr/>
        </p:nvSpPr>
        <p:spPr>
          <a:xfrm>
            <a:off x="800100" y="3552694"/>
            <a:ext cx="225382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Effective Memory Management</a:t>
            </a:r>
            <a:endParaRPr lang="en-US" sz="1116" dirty="0"/>
          </a:p>
        </p:txBody>
      </p:sp>
      <p:sp>
        <p:nvSpPr>
          <p:cNvPr id="19" name="Text 13"/>
          <p:cNvSpPr/>
          <p:nvPr/>
        </p:nvSpPr>
        <p:spPr>
          <a:xfrm>
            <a:off x="800101" y="3812231"/>
            <a:ext cx="5076825"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Balance context retention with token efficiency. Implement summarization for long tasks.</a:t>
            </a:r>
            <a:endParaRPr lang="en-US" sz="976" dirty="0"/>
          </a:p>
        </p:txBody>
      </p:sp>
      <p:sp>
        <p:nvSpPr>
          <p:cNvPr id="20" name="Text 14"/>
          <p:cNvSpPr/>
          <p:nvPr/>
        </p:nvSpPr>
        <p:spPr>
          <a:xfrm>
            <a:off x="381001" y="4502063"/>
            <a:ext cx="1726435"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Tool Integration</a:t>
            </a:r>
            <a:endParaRPr lang="en-US" sz="1651" dirty="0"/>
          </a:p>
        </p:txBody>
      </p:sp>
      <p:sp>
        <p:nvSpPr>
          <p:cNvPr id="21" name="Shape 15"/>
          <p:cNvSpPr/>
          <p:nvPr/>
        </p:nvSpPr>
        <p:spPr>
          <a:xfrm>
            <a:off x="381000" y="4924425"/>
            <a:ext cx="5572125" cy="781051"/>
          </a:xfrm>
          <a:prstGeom prst="rect">
            <a:avLst/>
          </a:prstGeom>
          <a:solidFill>
            <a:srgbClr val="F4A261">
              <a:alpha val="5000"/>
            </a:srgbClr>
          </a:solidFill>
          <a:ln/>
        </p:spPr>
        <p:txBody>
          <a:bodyPr/>
          <a:lstStyle/>
          <a:p>
            <a:endParaRPr lang="en-IN" sz="2400"/>
          </a:p>
        </p:txBody>
      </p:sp>
      <p:sp>
        <p:nvSpPr>
          <p:cNvPr id="22" name="Shape 16"/>
          <p:cNvSpPr/>
          <p:nvPr/>
        </p:nvSpPr>
        <p:spPr>
          <a:xfrm>
            <a:off x="457200" y="5019675"/>
            <a:ext cx="228600" cy="228600"/>
          </a:xfrm>
          <a:prstGeom prst="ellipse">
            <a:avLst/>
          </a:prstGeom>
          <a:solidFill>
            <a:srgbClr val="F4A261"/>
          </a:solidFill>
          <a:ln/>
        </p:spPr>
        <p:txBody>
          <a:bodyPr/>
          <a:lstStyle/>
          <a:p>
            <a:endParaRPr lang="en-IN" sz="2400"/>
          </a:p>
        </p:txBody>
      </p:sp>
      <p:pic>
        <p:nvPicPr>
          <p:cNvPr id="23" name="Image 4" descr="preencoded.png"/>
          <p:cNvPicPr>
            <a:picLocks noChangeAspect="1"/>
          </p:cNvPicPr>
          <p:nvPr/>
        </p:nvPicPr>
        <p:blipFill>
          <a:blip r:embed="rId6"/>
          <a:stretch>
            <a:fillRect/>
          </a:stretch>
        </p:blipFill>
        <p:spPr>
          <a:xfrm>
            <a:off x="504826" y="5129212"/>
            <a:ext cx="133351" cy="9525"/>
          </a:xfrm>
          <a:prstGeom prst="rect">
            <a:avLst/>
          </a:prstGeom>
        </p:spPr>
      </p:pic>
      <p:sp>
        <p:nvSpPr>
          <p:cNvPr id="24" name="Text 17"/>
          <p:cNvSpPr/>
          <p:nvPr/>
        </p:nvSpPr>
        <p:spPr>
          <a:xfrm>
            <a:off x="800101" y="5029068"/>
            <a:ext cx="148438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Clear Tool Interfaces</a:t>
            </a:r>
            <a:endParaRPr lang="en-US" sz="1116" dirty="0"/>
          </a:p>
        </p:txBody>
      </p:sp>
      <p:sp>
        <p:nvSpPr>
          <p:cNvPr id="25" name="Text 18"/>
          <p:cNvSpPr/>
          <p:nvPr/>
        </p:nvSpPr>
        <p:spPr>
          <a:xfrm>
            <a:off x="800101" y="5363691"/>
            <a:ext cx="5076825"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Define precise function signatures with documentation to guide proper tool usage.</a:t>
            </a:r>
            <a:endParaRPr lang="en-US" sz="976" dirty="0"/>
          </a:p>
        </p:txBody>
      </p:sp>
      <p:sp>
        <p:nvSpPr>
          <p:cNvPr id="26" name="Shape 19"/>
          <p:cNvSpPr/>
          <p:nvPr/>
        </p:nvSpPr>
        <p:spPr>
          <a:xfrm>
            <a:off x="381000" y="5876926"/>
            <a:ext cx="5572125" cy="590551"/>
          </a:xfrm>
          <a:prstGeom prst="rect">
            <a:avLst/>
          </a:prstGeom>
          <a:solidFill>
            <a:srgbClr val="F4A261">
              <a:alpha val="5000"/>
            </a:srgbClr>
          </a:solidFill>
          <a:ln/>
        </p:spPr>
        <p:txBody>
          <a:bodyPr/>
          <a:lstStyle/>
          <a:p>
            <a:endParaRPr lang="en-IN" sz="2400"/>
          </a:p>
        </p:txBody>
      </p:sp>
      <p:sp>
        <p:nvSpPr>
          <p:cNvPr id="27" name="Shape 20"/>
          <p:cNvSpPr/>
          <p:nvPr/>
        </p:nvSpPr>
        <p:spPr>
          <a:xfrm>
            <a:off x="457200" y="5972175"/>
            <a:ext cx="228600" cy="228600"/>
          </a:xfrm>
          <a:prstGeom prst="ellipse">
            <a:avLst/>
          </a:prstGeom>
          <a:solidFill>
            <a:srgbClr val="F4A261"/>
          </a:solidFill>
          <a:ln/>
        </p:spPr>
        <p:txBody>
          <a:bodyPr/>
          <a:lstStyle/>
          <a:p>
            <a:endParaRPr lang="en-IN" sz="2400"/>
          </a:p>
        </p:txBody>
      </p:sp>
      <p:pic>
        <p:nvPicPr>
          <p:cNvPr id="28" name="Image 5" descr="preencoded.png"/>
          <p:cNvPicPr>
            <a:picLocks noChangeAspect="1"/>
          </p:cNvPicPr>
          <p:nvPr/>
        </p:nvPicPr>
        <p:blipFill>
          <a:blip r:embed="rId7"/>
          <a:stretch>
            <a:fillRect/>
          </a:stretch>
        </p:blipFill>
        <p:spPr>
          <a:xfrm>
            <a:off x="496491" y="6081712"/>
            <a:ext cx="150019" cy="9525"/>
          </a:xfrm>
          <a:prstGeom prst="rect">
            <a:avLst/>
          </a:prstGeom>
        </p:spPr>
      </p:pic>
      <p:sp>
        <p:nvSpPr>
          <p:cNvPr id="29" name="Text 21"/>
          <p:cNvSpPr/>
          <p:nvPr/>
        </p:nvSpPr>
        <p:spPr>
          <a:xfrm>
            <a:off x="800100" y="5981568"/>
            <a:ext cx="134652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Tool Orchestration</a:t>
            </a:r>
            <a:endParaRPr lang="en-US" sz="1116" dirty="0"/>
          </a:p>
        </p:txBody>
      </p:sp>
      <p:sp>
        <p:nvSpPr>
          <p:cNvPr id="30" name="Text 22"/>
          <p:cNvSpPr/>
          <p:nvPr/>
        </p:nvSpPr>
        <p:spPr>
          <a:xfrm>
            <a:off x="800101" y="6220941"/>
            <a:ext cx="467435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Implement mechanisms to coordinate tool usage and optimize execution order.</a:t>
            </a:r>
            <a:endParaRPr lang="en-US" sz="976" dirty="0"/>
          </a:p>
        </p:txBody>
      </p:sp>
      <p:sp>
        <p:nvSpPr>
          <p:cNvPr id="31" name="Text 23"/>
          <p:cNvSpPr/>
          <p:nvPr/>
        </p:nvSpPr>
        <p:spPr>
          <a:xfrm>
            <a:off x="6238875" y="1120688"/>
            <a:ext cx="2713884" cy="311325"/>
          </a:xfrm>
          <a:prstGeom prst="rect">
            <a:avLst/>
          </a:prstGeom>
          <a:noFill/>
          <a:ln/>
        </p:spPr>
        <p:txBody>
          <a:bodyPr wrap="none" lIns="0" tIns="0" rIns="0" bIns="56727" rtlCol="0" anchor="ctr">
            <a:spAutoFit/>
          </a:bodyPr>
          <a:lstStyle/>
          <a:p>
            <a:r>
              <a:rPr lang="en-US" sz="1651" b="1" dirty="0">
                <a:solidFill>
                  <a:srgbClr val="F4A261"/>
                </a:solidFill>
                <a:latin typeface="Noto Sans" pitchFamily="34" charset="0"/>
                <a:ea typeface="Noto Sans" pitchFamily="34" charset="-122"/>
                <a:cs typeface="Noto Sans" pitchFamily="34" charset="-120"/>
              </a:rPr>
              <a:t>Multi-Agent Coordination</a:t>
            </a:r>
            <a:endParaRPr lang="en-US" sz="1651" dirty="0"/>
          </a:p>
        </p:txBody>
      </p:sp>
      <p:sp>
        <p:nvSpPr>
          <p:cNvPr id="32" name="Shape 24"/>
          <p:cNvSpPr/>
          <p:nvPr/>
        </p:nvSpPr>
        <p:spPr>
          <a:xfrm>
            <a:off x="6238875" y="1543051"/>
            <a:ext cx="5572125" cy="590551"/>
          </a:xfrm>
          <a:prstGeom prst="rect">
            <a:avLst/>
          </a:prstGeom>
          <a:solidFill>
            <a:srgbClr val="F4A261">
              <a:alpha val="5000"/>
            </a:srgbClr>
          </a:solidFill>
          <a:ln/>
        </p:spPr>
        <p:txBody>
          <a:bodyPr/>
          <a:lstStyle/>
          <a:p>
            <a:endParaRPr lang="en-IN" sz="2400"/>
          </a:p>
        </p:txBody>
      </p:sp>
      <p:sp>
        <p:nvSpPr>
          <p:cNvPr id="33" name="Shape 25"/>
          <p:cNvSpPr/>
          <p:nvPr/>
        </p:nvSpPr>
        <p:spPr>
          <a:xfrm>
            <a:off x="6315075" y="1638300"/>
            <a:ext cx="228600" cy="228600"/>
          </a:xfrm>
          <a:prstGeom prst="ellipse">
            <a:avLst/>
          </a:prstGeom>
          <a:solidFill>
            <a:srgbClr val="F4A261"/>
          </a:solidFill>
          <a:ln/>
        </p:spPr>
        <p:txBody>
          <a:bodyPr/>
          <a:lstStyle/>
          <a:p>
            <a:endParaRPr lang="en-IN" sz="2400"/>
          </a:p>
        </p:txBody>
      </p:sp>
      <p:pic>
        <p:nvPicPr>
          <p:cNvPr id="34" name="Image 6" descr="preencoded.png"/>
          <p:cNvPicPr>
            <a:picLocks noChangeAspect="1"/>
          </p:cNvPicPr>
          <p:nvPr/>
        </p:nvPicPr>
        <p:blipFill>
          <a:blip r:embed="rId8"/>
          <a:stretch>
            <a:fillRect/>
          </a:stretch>
        </p:blipFill>
        <p:spPr>
          <a:xfrm>
            <a:off x="6346031" y="1747838"/>
            <a:ext cx="166688" cy="9525"/>
          </a:xfrm>
          <a:prstGeom prst="rect">
            <a:avLst/>
          </a:prstGeom>
        </p:spPr>
      </p:pic>
      <p:sp>
        <p:nvSpPr>
          <p:cNvPr id="35" name="Text 26"/>
          <p:cNvSpPr/>
          <p:nvPr/>
        </p:nvSpPr>
        <p:spPr>
          <a:xfrm>
            <a:off x="6657975" y="1647694"/>
            <a:ext cx="184986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Communication Protocols</a:t>
            </a:r>
            <a:endParaRPr lang="en-US" sz="1116" dirty="0"/>
          </a:p>
        </p:txBody>
      </p:sp>
      <p:sp>
        <p:nvSpPr>
          <p:cNvPr id="36" name="Text 27"/>
          <p:cNvSpPr/>
          <p:nvPr/>
        </p:nvSpPr>
        <p:spPr>
          <a:xfrm>
            <a:off x="6657975" y="1887066"/>
            <a:ext cx="440345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Establish structured message formats for clear inter-agent communication.</a:t>
            </a:r>
            <a:endParaRPr lang="en-US" sz="976" dirty="0"/>
          </a:p>
        </p:txBody>
      </p:sp>
      <p:sp>
        <p:nvSpPr>
          <p:cNvPr id="37" name="Shape 28"/>
          <p:cNvSpPr/>
          <p:nvPr/>
        </p:nvSpPr>
        <p:spPr>
          <a:xfrm>
            <a:off x="6238875" y="2305051"/>
            <a:ext cx="5572125" cy="590551"/>
          </a:xfrm>
          <a:prstGeom prst="rect">
            <a:avLst/>
          </a:prstGeom>
          <a:solidFill>
            <a:srgbClr val="F4A261">
              <a:alpha val="5000"/>
            </a:srgbClr>
          </a:solidFill>
          <a:ln/>
        </p:spPr>
        <p:txBody>
          <a:bodyPr/>
          <a:lstStyle/>
          <a:p>
            <a:endParaRPr lang="en-IN" sz="2400"/>
          </a:p>
        </p:txBody>
      </p:sp>
      <p:sp>
        <p:nvSpPr>
          <p:cNvPr id="38" name="Shape 29"/>
          <p:cNvSpPr/>
          <p:nvPr/>
        </p:nvSpPr>
        <p:spPr>
          <a:xfrm>
            <a:off x="6315075" y="2400300"/>
            <a:ext cx="228600" cy="228600"/>
          </a:xfrm>
          <a:prstGeom prst="ellipse">
            <a:avLst/>
          </a:prstGeom>
          <a:solidFill>
            <a:srgbClr val="F4A261"/>
          </a:solidFill>
          <a:ln/>
        </p:spPr>
        <p:txBody>
          <a:bodyPr/>
          <a:lstStyle/>
          <a:p>
            <a:endParaRPr lang="en-IN" sz="2400"/>
          </a:p>
        </p:txBody>
      </p:sp>
      <p:pic>
        <p:nvPicPr>
          <p:cNvPr id="39" name="Image 7" descr="preencoded.png"/>
          <p:cNvPicPr>
            <a:picLocks noChangeAspect="1"/>
          </p:cNvPicPr>
          <p:nvPr/>
        </p:nvPicPr>
        <p:blipFill>
          <a:blip r:embed="rId9"/>
          <a:stretch>
            <a:fillRect/>
          </a:stretch>
        </p:blipFill>
        <p:spPr>
          <a:xfrm>
            <a:off x="6371036" y="2509838"/>
            <a:ext cx="116681" cy="9525"/>
          </a:xfrm>
          <a:prstGeom prst="rect">
            <a:avLst/>
          </a:prstGeom>
        </p:spPr>
      </p:pic>
      <p:sp>
        <p:nvSpPr>
          <p:cNvPr id="40" name="Text 30"/>
          <p:cNvSpPr/>
          <p:nvPr/>
        </p:nvSpPr>
        <p:spPr>
          <a:xfrm>
            <a:off x="6657975" y="2409694"/>
            <a:ext cx="133690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Role Specialization</a:t>
            </a:r>
            <a:endParaRPr lang="en-US" sz="1116" dirty="0"/>
          </a:p>
        </p:txBody>
      </p:sp>
      <p:sp>
        <p:nvSpPr>
          <p:cNvPr id="41" name="Text 31"/>
          <p:cNvSpPr/>
          <p:nvPr/>
        </p:nvSpPr>
        <p:spPr>
          <a:xfrm>
            <a:off x="6657976" y="2649066"/>
            <a:ext cx="395300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Assign clear responsibilities to each agent based on their strengths.</a:t>
            </a:r>
            <a:endParaRPr lang="en-US" sz="976"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617833-9F3D-0F9B-6642-53EB0EF66F73}"/>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Agentic AI Design Pattern</a:t>
            </a:r>
          </a:p>
        </p:txBody>
      </p:sp>
      <p:graphicFrame>
        <p:nvGraphicFramePr>
          <p:cNvPr id="4" name="Content Placeholder 3">
            <a:extLst>
              <a:ext uri="{FF2B5EF4-FFF2-40B4-BE49-F238E27FC236}">
                <a16:creationId xmlns:a16="http://schemas.microsoft.com/office/drawing/2014/main" id="{521E18C8-FB6F-1117-C0B2-3B29DADD2766}"/>
              </a:ext>
            </a:extLst>
          </p:cNvPr>
          <p:cNvGraphicFramePr>
            <a:graphicFrameLocks noGrp="1"/>
          </p:cNvGraphicFramePr>
          <p:nvPr>
            <p:ph idx="1"/>
            <p:extLst>
              <p:ext uri="{D42A27DB-BD31-4B8C-83A1-F6EECF244321}">
                <p14:modId xmlns:p14="http://schemas.microsoft.com/office/powerpoint/2010/main" val="2124920100"/>
              </p:ext>
            </p:extLst>
          </p:nvPr>
        </p:nvGraphicFramePr>
        <p:xfrm>
          <a:off x="670638" y="1819872"/>
          <a:ext cx="11019860" cy="4878639"/>
        </p:xfrm>
        <a:graphic>
          <a:graphicData uri="http://schemas.openxmlformats.org/drawingml/2006/table">
            <a:tbl>
              <a:tblPr firstRow="1">
                <a:tableStyleId>{B301B821-A1FF-4177-AEE7-76D212191A09}</a:tableStyleId>
              </a:tblPr>
              <a:tblGrid>
                <a:gridCol w="1136993">
                  <a:extLst>
                    <a:ext uri="{9D8B030D-6E8A-4147-A177-3AD203B41FA5}">
                      <a16:colId xmlns:a16="http://schemas.microsoft.com/office/drawing/2014/main" val="463684754"/>
                    </a:ext>
                  </a:extLst>
                </a:gridCol>
                <a:gridCol w="3638880">
                  <a:extLst>
                    <a:ext uri="{9D8B030D-6E8A-4147-A177-3AD203B41FA5}">
                      <a16:colId xmlns:a16="http://schemas.microsoft.com/office/drawing/2014/main" val="3279139937"/>
                    </a:ext>
                  </a:extLst>
                </a:gridCol>
                <a:gridCol w="3634949">
                  <a:extLst>
                    <a:ext uri="{9D8B030D-6E8A-4147-A177-3AD203B41FA5}">
                      <a16:colId xmlns:a16="http://schemas.microsoft.com/office/drawing/2014/main" val="1726317793"/>
                    </a:ext>
                  </a:extLst>
                </a:gridCol>
                <a:gridCol w="2609038">
                  <a:extLst>
                    <a:ext uri="{9D8B030D-6E8A-4147-A177-3AD203B41FA5}">
                      <a16:colId xmlns:a16="http://schemas.microsoft.com/office/drawing/2014/main" val="2110277295"/>
                    </a:ext>
                  </a:extLst>
                </a:gridCol>
              </a:tblGrid>
              <a:tr h="380253">
                <a:tc>
                  <a:txBody>
                    <a:bodyPr/>
                    <a:lstStyle/>
                    <a:p>
                      <a:r>
                        <a:rPr lang="en-IN" sz="1200"/>
                        <a:t>Pattern</a:t>
                      </a:r>
                    </a:p>
                  </a:txBody>
                  <a:tcPr marL="56830" marR="56830" marT="28415" marB="28415" anchor="ctr"/>
                </a:tc>
                <a:tc>
                  <a:txBody>
                    <a:bodyPr/>
                    <a:lstStyle/>
                    <a:p>
                      <a:r>
                        <a:rPr lang="en-IN" sz="1200"/>
                        <a:t>Description</a:t>
                      </a:r>
                    </a:p>
                  </a:txBody>
                  <a:tcPr marL="56830" marR="56830" marT="28415" marB="28415" anchor="ctr"/>
                </a:tc>
                <a:tc>
                  <a:txBody>
                    <a:bodyPr/>
                    <a:lstStyle/>
                    <a:p>
                      <a:r>
                        <a:rPr lang="en-IN" sz="1200"/>
                        <a:t>Ideal Use Case</a:t>
                      </a:r>
                    </a:p>
                  </a:txBody>
                  <a:tcPr marL="56830" marR="56830" marT="28415" marB="28415" anchor="ctr"/>
                </a:tc>
                <a:tc>
                  <a:txBody>
                    <a:bodyPr/>
                    <a:lstStyle/>
                    <a:p>
                      <a:r>
                        <a:rPr lang="en-IN" sz="1200"/>
                        <a:t>Frameworks / Examples</a:t>
                      </a:r>
                    </a:p>
                  </a:txBody>
                  <a:tcPr marL="56830" marR="56830" marT="28415" marB="28415" anchor="ctr"/>
                </a:tc>
                <a:extLst>
                  <a:ext uri="{0D108BD9-81ED-4DB2-BD59-A6C34878D82A}">
                    <a16:rowId xmlns:a16="http://schemas.microsoft.com/office/drawing/2014/main" val="3560867811"/>
                  </a:ext>
                </a:extLst>
              </a:tr>
              <a:tr h="626572">
                <a:tc>
                  <a:txBody>
                    <a:bodyPr/>
                    <a:lstStyle/>
                    <a:p>
                      <a:r>
                        <a:rPr lang="en-IN" sz="1200" b="1"/>
                        <a:t>Single-Agent</a:t>
                      </a:r>
                      <a:endParaRPr lang="en-IN" sz="1200"/>
                    </a:p>
                  </a:txBody>
                  <a:tcPr marL="56830" marR="56830" marT="28415" marB="28415" anchor="ctr"/>
                </a:tc>
                <a:tc>
                  <a:txBody>
                    <a:bodyPr/>
                    <a:lstStyle/>
                    <a:p>
                      <a:r>
                        <a:rPr lang="en-US" sz="1200"/>
                        <a:t>One agent handles entire task end-to-end via a single prompt or tool invocation</a:t>
                      </a:r>
                    </a:p>
                  </a:txBody>
                  <a:tcPr marL="56830" marR="56830" marT="28415" marB="28415" anchor="ctr"/>
                </a:tc>
                <a:tc>
                  <a:txBody>
                    <a:bodyPr/>
                    <a:lstStyle/>
                    <a:p>
                      <a:r>
                        <a:rPr lang="en-US" sz="1200" dirty="0"/>
                        <a:t>Simple Q&amp;A, form filling, single API orchestration</a:t>
                      </a:r>
                    </a:p>
                  </a:txBody>
                  <a:tcPr marL="56830" marR="56830" marT="28415" marB="28415" anchor="ctr"/>
                </a:tc>
                <a:tc>
                  <a:txBody>
                    <a:bodyPr/>
                    <a:lstStyle/>
                    <a:p>
                      <a:r>
                        <a:rPr lang="en-US" sz="1200"/>
                        <a:t>Direct LLM calls, basic LangChain Chains</a:t>
                      </a:r>
                    </a:p>
                  </a:txBody>
                  <a:tcPr marL="56830" marR="56830" marT="28415" marB="28415" anchor="ctr"/>
                </a:tc>
                <a:extLst>
                  <a:ext uri="{0D108BD9-81ED-4DB2-BD59-A6C34878D82A}">
                    <a16:rowId xmlns:a16="http://schemas.microsoft.com/office/drawing/2014/main" val="1760645798"/>
                  </a:ext>
                </a:extLst>
              </a:tr>
              <a:tr h="872890">
                <a:tc>
                  <a:txBody>
                    <a:bodyPr/>
                    <a:lstStyle/>
                    <a:p>
                      <a:r>
                        <a:rPr lang="en-IN" sz="1200" b="1"/>
                        <a:t>Supervisor</a:t>
                      </a:r>
                      <a:endParaRPr lang="en-IN" sz="1200"/>
                    </a:p>
                  </a:txBody>
                  <a:tcPr marL="56830" marR="56830" marT="28415" marB="28415" anchor="ctr"/>
                </a:tc>
                <a:tc>
                  <a:txBody>
                    <a:bodyPr/>
                    <a:lstStyle/>
                    <a:p>
                      <a:r>
                        <a:rPr lang="en-US" sz="1200" dirty="0"/>
                        <a:t>Central “supervisor” delegates subtasks to specialized sub-agents, then aggregates and validates results </a:t>
                      </a:r>
                    </a:p>
                  </a:txBody>
                  <a:tcPr marL="56830" marR="56830" marT="28415" marB="28415" anchor="ctr"/>
                </a:tc>
                <a:tc>
                  <a:txBody>
                    <a:bodyPr/>
                    <a:lstStyle/>
                    <a:p>
                      <a:r>
                        <a:rPr lang="en-US" sz="1200"/>
                        <a:t>Complex workflows needing specialized steps (e.g., data extraction → validation → summarization)</a:t>
                      </a:r>
                    </a:p>
                  </a:txBody>
                  <a:tcPr marL="56830" marR="56830" marT="28415" marB="28415" anchor="ctr"/>
                </a:tc>
                <a:tc>
                  <a:txBody>
                    <a:bodyPr/>
                    <a:lstStyle/>
                    <a:p>
                      <a:r>
                        <a:rPr lang="en-IN" sz="1200"/>
                        <a:t>AWS RoboMaker/Augmented AI, LangGraph Hierarchy</a:t>
                      </a:r>
                    </a:p>
                  </a:txBody>
                  <a:tcPr marL="56830" marR="56830" marT="28415" marB="28415" anchor="ctr"/>
                </a:tc>
                <a:extLst>
                  <a:ext uri="{0D108BD9-81ED-4DB2-BD59-A6C34878D82A}">
                    <a16:rowId xmlns:a16="http://schemas.microsoft.com/office/drawing/2014/main" val="3484017655"/>
                  </a:ext>
                </a:extLst>
              </a:tr>
              <a:tr h="872890">
                <a:tc>
                  <a:txBody>
                    <a:bodyPr/>
                    <a:lstStyle/>
                    <a:p>
                      <a:r>
                        <a:rPr lang="en-IN" sz="1200" b="1"/>
                        <a:t>Hierarchical</a:t>
                      </a:r>
                      <a:endParaRPr lang="en-IN" sz="1200"/>
                    </a:p>
                  </a:txBody>
                  <a:tcPr marL="56830" marR="56830" marT="28415" marB="28415" anchor="ctr"/>
                </a:tc>
                <a:tc>
                  <a:txBody>
                    <a:bodyPr/>
                    <a:lstStyle/>
                    <a:p>
                      <a:r>
                        <a:rPr lang="en-US" sz="1200"/>
                        <a:t>Multi-level hierarchy: top-level supervisor → mid-level managers → executor agents; layered decision-making</a:t>
                      </a:r>
                    </a:p>
                  </a:txBody>
                  <a:tcPr marL="56830" marR="56830" marT="28415" marB="28415" anchor="ctr"/>
                </a:tc>
                <a:tc>
                  <a:txBody>
                    <a:bodyPr/>
                    <a:lstStyle/>
                    <a:p>
                      <a:r>
                        <a:rPr lang="en-IN" sz="1200"/>
                        <a:t>Large, modular enterprise pipelines</a:t>
                      </a:r>
                    </a:p>
                  </a:txBody>
                  <a:tcPr marL="56830" marR="56830" marT="28415" marB="28415" anchor="ctr"/>
                </a:tc>
                <a:tc>
                  <a:txBody>
                    <a:bodyPr/>
                    <a:lstStyle/>
                    <a:p>
                      <a:r>
                        <a:rPr lang="en-IN" sz="1200" dirty="0"/>
                        <a:t>LangChain Multi-Agent, Agentic Mesh</a:t>
                      </a:r>
                    </a:p>
                  </a:txBody>
                  <a:tcPr marL="56830" marR="56830" marT="28415" marB="28415" anchor="ctr"/>
                </a:tc>
                <a:extLst>
                  <a:ext uri="{0D108BD9-81ED-4DB2-BD59-A6C34878D82A}">
                    <a16:rowId xmlns:a16="http://schemas.microsoft.com/office/drawing/2014/main" val="2032138581"/>
                  </a:ext>
                </a:extLst>
              </a:tr>
              <a:tr h="626572">
                <a:tc>
                  <a:txBody>
                    <a:bodyPr/>
                    <a:lstStyle/>
                    <a:p>
                      <a:r>
                        <a:rPr lang="en-IN" sz="1200" b="1"/>
                        <a:t>Network</a:t>
                      </a:r>
                      <a:endParaRPr lang="en-IN" sz="1200"/>
                    </a:p>
                  </a:txBody>
                  <a:tcPr marL="56830" marR="56830" marT="28415" marB="28415" anchor="ctr"/>
                </a:tc>
                <a:tc>
                  <a:txBody>
                    <a:bodyPr/>
                    <a:lstStyle/>
                    <a:p>
                      <a:r>
                        <a:rPr lang="en-US" sz="1200"/>
                        <a:t>Peer-to-peer mesh of agents; no strict hierarchy, agents collaborate dynamically</a:t>
                      </a:r>
                    </a:p>
                  </a:txBody>
                  <a:tcPr marL="56830" marR="56830" marT="28415" marB="28415" anchor="ctr"/>
                </a:tc>
                <a:tc>
                  <a:txBody>
                    <a:bodyPr/>
                    <a:lstStyle/>
                    <a:p>
                      <a:r>
                        <a:rPr lang="en-US" sz="1200" dirty="0"/>
                        <a:t>Interdisciplinary research assistants requiring emergent behavior </a:t>
                      </a:r>
                    </a:p>
                  </a:txBody>
                  <a:tcPr marL="56830" marR="56830" marT="28415" marB="28415" anchor="ctr"/>
                </a:tc>
                <a:tc>
                  <a:txBody>
                    <a:bodyPr/>
                    <a:lstStyle/>
                    <a:p>
                      <a:r>
                        <a:rPr lang="en-IN" sz="1200"/>
                        <a:t>Agentic Mesh, custom microservices</a:t>
                      </a:r>
                    </a:p>
                  </a:txBody>
                  <a:tcPr marL="56830" marR="56830" marT="28415" marB="28415" anchor="ctr"/>
                </a:tc>
                <a:extLst>
                  <a:ext uri="{0D108BD9-81ED-4DB2-BD59-A6C34878D82A}">
                    <a16:rowId xmlns:a16="http://schemas.microsoft.com/office/drawing/2014/main" val="196099771"/>
                  </a:ext>
                </a:extLst>
              </a:tr>
              <a:tr h="626572">
                <a:tc>
                  <a:txBody>
                    <a:bodyPr/>
                    <a:lstStyle/>
                    <a:p>
                      <a:r>
                        <a:rPr lang="en-IN" sz="1200" b="1"/>
                        <a:t>Swarm</a:t>
                      </a:r>
                      <a:endParaRPr lang="en-IN" sz="1200"/>
                    </a:p>
                  </a:txBody>
                  <a:tcPr marL="56830" marR="56830" marT="28415" marB="28415" anchor="ctr"/>
                </a:tc>
                <a:tc>
                  <a:txBody>
                    <a:bodyPr/>
                    <a:lstStyle/>
                    <a:p>
                      <a:r>
                        <a:rPr lang="en-US" sz="1200"/>
                        <a:t>Many identical agents explore in parallel and vote/aggregate results</a:t>
                      </a:r>
                    </a:p>
                  </a:txBody>
                  <a:tcPr marL="56830" marR="56830" marT="28415" marB="28415" anchor="ctr"/>
                </a:tc>
                <a:tc>
                  <a:txBody>
                    <a:bodyPr/>
                    <a:lstStyle/>
                    <a:p>
                      <a:r>
                        <a:rPr lang="en-US" sz="1200" dirty="0"/>
                        <a:t>Optimization problems, large-scale A/B testing</a:t>
                      </a:r>
                    </a:p>
                  </a:txBody>
                  <a:tcPr marL="56830" marR="56830" marT="28415" marB="28415" anchor="ctr"/>
                </a:tc>
                <a:tc>
                  <a:txBody>
                    <a:bodyPr/>
                    <a:lstStyle/>
                    <a:p>
                      <a:r>
                        <a:rPr lang="en-IN" sz="1200"/>
                        <a:t>LangChain Swarm prototypes</a:t>
                      </a:r>
                    </a:p>
                  </a:txBody>
                  <a:tcPr marL="56830" marR="56830" marT="28415" marB="28415" anchor="ctr"/>
                </a:tc>
                <a:extLst>
                  <a:ext uri="{0D108BD9-81ED-4DB2-BD59-A6C34878D82A}">
                    <a16:rowId xmlns:a16="http://schemas.microsoft.com/office/drawing/2014/main" val="233249620"/>
                  </a:ext>
                </a:extLst>
              </a:tr>
              <a:tr h="872890">
                <a:tc>
                  <a:txBody>
                    <a:bodyPr/>
                    <a:lstStyle/>
                    <a:p>
                      <a:r>
                        <a:rPr lang="en-IN" sz="1200" b="1"/>
                        <a:t>Debating</a:t>
                      </a:r>
                      <a:endParaRPr lang="en-IN" sz="1200"/>
                    </a:p>
                  </a:txBody>
                  <a:tcPr marL="56830" marR="56830" marT="28415" marB="28415" anchor="ctr"/>
                </a:tc>
                <a:tc>
                  <a:txBody>
                    <a:bodyPr/>
                    <a:lstStyle/>
                    <a:p>
                      <a:r>
                        <a:rPr lang="en-US" sz="1200"/>
                        <a:t>Multiple agents propose independent solutions; a “checker” agent adjudicates or merges outputs to reach consensus</a:t>
                      </a:r>
                    </a:p>
                  </a:txBody>
                  <a:tcPr marL="56830" marR="56830" marT="28415" marB="28415" anchor="ctr"/>
                </a:tc>
                <a:tc>
                  <a:txBody>
                    <a:bodyPr/>
                    <a:lstStyle/>
                    <a:p>
                      <a:r>
                        <a:rPr lang="en-US" sz="1200" dirty="0"/>
                        <a:t>High-stakes decisions (legal reasoning, code review)</a:t>
                      </a:r>
                    </a:p>
                  </a:txBody>
                  <a:tcPr marL="56830" marR="56830" marT="28415" marB="28415" anchor="ctr"/>
                </a:tc>
                <a:tc>
                  <a:txBody>
                    <a:bodyPr/>
                    <a:lstStyle/>
                    <a:p>
                      <a:r>
                        <a:rPr lang="en-US" sz="1200" dirty="0"/>
                        <a:t>Gemini Debating, LangChain multi-agent workflows</a:t>
                      </a:r>
                    </a:p>
                  </a:txBody>
                  <a:tcPr marL="56830" marR="56830" marT="28415" marB="28415" anchor="ctr"/>
                </a:tc>
                <a:extLst>
                  <a:ext uri="{0D108BD9-81ED-4DB2-BD59-A6C34878D82A}">
                    <a16:rowId xmlns:a16="http://schemas.microsoft.com/office/drawing/2014/main" val="231392477"/>
                  </a:ext>
                </a:extLst>
              </a:tr>
            </a:tbl>
          </a:graphicData>
        </a:graphic>
      </p:graphicFrame>
    </p:spTree>
    <p:extLst>
      <p:ext uri="{BB962C8B-B14F-4D97-AF65-F5344CB8AC3E}">
        <p14:creationId xmlns:p14="http://schemas.microsoft.com/office/powerpoint/2010/main" val="1757678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6269345"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RAG Pattern Overview &amp; Simple RAG</a:t>
            </a:r>
            <a:endParaRPr lang="en-US" sz="2700" dirty="0"/>
          </a:p>
        </p:txBody>
      </p:sp>
      <p:sp>
        <p:nvSpPr>
          <p:cNvPr id="4" name="Text 1"/>
          <p:cNvSpPr/>
          <p:nvPr/>
        </p:nvSpPr>
        <p:spPr>
          <a:xfrm>
            <a:off x="381000" y="1120688"/>
            <a:ext cx="2013372"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RAG Fundamentals</a:t>
            </a:r>
            <a:endParaRPr lang="en-US" sz="1651" dirty="0"/>
          </a:p>
        </p:txBody>
      </p:sp>
      <p:sp>
        <p:nvSpPr>
          <p:cNvPr id="5" name="Text 2"/>
          <p:cNvSpPr/>
          <p:nvPr/>
        </p:nvSpPr>
        <p:spPr>
          <a:xfrm>
            <a:off x="381000" y="1599939"/>
            <a:ext cx="5572125" cy="343427"/>
          </a:xfrm>
          <a:prstGeom prst="rect">
            <a:avLst/>
          </a:prstGeom>
          <a:noFill/>
          <a:ln/>
        </p:spPr>
        <p:txBody>
          <a:bodyPr wrap="squar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Retrieval Augmented Generation (RAG) combines retrieval systems with generative AI to produce outputs grounded in accurate information.</a:t>
            </a:r>
            <a:endParaRPr lang="en-US" sz="1116" dirty="0"/>
          </a:p>
        </p:txBody>
      </p:sp>
      <p:sp>
        <p:nvSpPr>
          <p:cNvPr id="6" name="Shape 3"/>
          <p:cNvSpPr/>
          <p:nvPr/>
        </p:nvSpPr>
        <p:spPr>
          <a:xfrm>
            <a:off x="381000" y="2114551"/>
            <a:ext cx="5572125" cy="704851"/>
          </a:xfrm>
          <a:prstGeom prst="rect">
            <a:avLst/>
          </a:prstGeom>
          <a:solidFill>
            <a:srgbClr val="E76F51">
              <a:alpha val="10000"/>
            </a:srgbClr>
          </a:solidFill>
          <a:ln/>
        </p:spPr>
        <p:txBody>
          <a:bodyPr/>
          <a:lstStyle/>
          <a:p>
            <a:endParaRPr lang="en-IN" sz="2400"/>
          </a:p>
        </p:txBody>
      </p:sp>
      <p:sp>
        <p:nvSpPr>
          <p:cNvPr id="7" name="Shape 4"/>
          <p:cNvSpPr/>
          <p:nvPr/>
        </p:nvSpPr>
        <p:spPr>
          <a:xfrm>
            <a:off x="381001" y="2114551"/>
            <a:ext cx="38100" cy="704851"/>
          </a:xfrm>
          <a:prstGeom prst="rect">
            <a:avLst/>
          </a:prstGeom>
          <a:solidFill>
            <a:srgbClr val="E76F51"/>
          </a:solidFill>
          <a:ln/>
        </p:spPr>
        <p:txBody>
          <a:bodyPr/>
          <a:lstStyle/>
          <a:p>
            <a:endParaRPr lang="en-IN" sz="2400"/>
          </a:p>
        </p:txBody>
      </p:sp>
      <p:pic>
        <p:nvPicPr>
          <p:cNvPr id="8" name="Image 1" descr="preencoded.png"/>
          <p:cNvPicPr>
            <a:picLocks noChangeAspect="1"/>
          </p:cNvPicPr>
          <p:nvPr/>
        </p:nvPicPr>
        <p:blipFill>
          <a:blip r:embed="rId3"/>
          <a:stretch>
            <a:fillRect/>
          </a:stretch>
        </p:blipFill>
        <p:spPr>
          <a:xfrm>
            <a:off x="476251" y="2252663"/>
            <a:ext cx="171451" cy="171451"/>
          </a:xfrm>
          <a:prstGeom prst="rect">
            <a:avLst/>
          </a:prstGeom>
        </p:spPr>
      </p:pic>
      <p:sp>
        <p:nvSpPr>
          <p:cNvPr id="9" name="Text 5"/>
          <p:cNvSpPr/>
          <p:nvPr/>
        </p:nvSpPr>
        <p:spPr>
          <a:xfrm>
            <a:off x="742951" y="2241759"/>
            <a:ext cx="1223092"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Retrieval Stage</a:t>
            </a:r>
            <a:endParaRPr lang="en-US" sz="1256" dirty="0"/>
          </a:p>
        </p:txBody>
      </p:sp>
      <p:sp>
        <p:nvSpPr>
          <p:cNvPr id="10" name="Text 6"/>
          <p:cNvSpPr/>
          <p:nvPr/>
        </p:nvSpPr>
        <p:spPr>
          <a:xfrm>
            <a:off x="476251" y="2523994"/>
            <a:ext cx="4735271"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Fetches relevant documents from external sources based on the query</a:t>
            </a:r>
            <a:endParaRPr lang="en-US" sz="1116" dirty="0"/>
          </a:p>
        </p:txBody>
      </p:sp>
      <p:sp>
        <p:nvSpPr>
          <p:cNvPr id="11" name="Shape 7"/>
          <p:cNvSpPr/>
          <p:nvPr/>
        </p:nvSpPr>
        <p:spPr>
          <a:xfrm>
            <a:off x="381000" y="2914651"/>
            <a:ext cx="5572125" cy="933451"/>
          </a:xfrm>
          <a:prstGeom prst="rect">
            <a:avLst/>
          </a:prstGeom>
          <a:solidFill>
            <a:srgbClr val="E76F51">
              <a:alpha val="10000"/>
            </a:srgbClr>
          </a:solidFill>
          <a:ln/>
        </p:spPr>
        <p:txBody>
          <a:bodyPr/>
          <a:lstStyle/>
          <a:p>
            <a:endParaRPr lang="en-IN" sz="2400"/>
          </a:p>
        </p:txBody>
      </p:sp>
      <p:sp>
        <p:nvSpPr>
          <p:cNvPr id="12" name="Shape 8"/>
          <p:cNvSpPr/>
          <p:nvPr/>
        </p:nvSpPr>
        <p:spPr>
          <a:xfrm>
            <a:off x="381001" y="2914651"/>
            <a:ext cx="38100" cy="933451"/>
          </a:xfrm>
          <a:prstGeom prst="rect">
            <a:avLst/>
          </a:prstGeom>
          <a:solidFill>
            <a:srgbClr val="E76F51"/>
          </a:solidFill>
          <a:ln/>
        </p:spPr>
        <p:txBody>
          <a:bodyPr/>
          <a:lstStyle/>
          <a:p>
            <a:endParaRPr lang="en-IN" sz="2400"/>
          </a:p>
        </p:txBody>
      </p:sp>
      <p:pic>
        <p:nvPicPr>
          <p:cNvPr id="13" name="Image 2" descr="preencoded.png"/>
          <p:cNvPicPr>
            <a:picLocks noChangeAspect="1"/>
          </p:cNvPicPr>
          <p:nvPr/>
        </p:nvPicPr>
        <p:blipFill>
          <a:blip r:embed="rId4"/>
          <a:stretch>
            <a:fillRect/>
          </a:stretch>
        </p:blipFill>
        <p:spPr>
          <a:xfrm>
            <a:off x="476251" y="3052763"/>
            <a:ext cx="171451" cy="171451"/>
          </a:xfrm>
          <a:prstGeom prst="rect">
            <a:avLst/>
          </a:prstGeom>
        </p:spPr>
      </p:pic>
      <p:sp>
        <p:nvSpPr>
          <p:cNvPr id="14" name="Text 9"/>
          <p:cNvSpPr/>
          <p:nvPr/>
        </p:nvSpPr>
        <p:spPr>
          <a:xfrm>
            <a:off x="742951" y="3041859"/>
            <a:ext cx="1404231"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Generation Stage</a:t>
            </a:r>
            <a:endParaRPr lang="en-US" sz="1256" dirty="0"/>
          </a:p>
        </p:txBody>
      </p:sp>
      <p:sp>
        <p:nvSpPr>
          <p:cNvPr id="15" name="Text 10"/>
          <p:cNvSpPr/>
          <p:nvPr/>
        </p:nvSpPr>
        <p:spPr>
          <a:xfrm>
            <a:off x="476252" y="3438394"/>
            <a:ext cx="5381625" cy="171714"/>
          </a:xfrm>
          <a:prstGeom prst="rect">
            <a:avLst/>
          </a:prstGeom>
          <a:noFill/>
          <a:ln/>
        </p:spPr>
        <p:txBody>
          <a:bodyPr wrap="squar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Processes retrieved data and generates a response grounded in the context</a:t>
            </a:r>
            <a:endParaRPr lang="en-US" sz="1116" dirty="0"/>
          </a:p>
        </p:txBody>
      </p:sp>
      <p:sp>
        <p:nvSpPr>
          <p:cNvPr id="16" name="Text 11"/>
          <p:cNvSpPr/>
          <p:nvPr/>
        </p:nvSpPr>
        <p:spPr>
          <a:xfrm>
            <a:off x="381001" y="4302038"/>
            <a:ext cx="2593659"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Simple RAG Architecture</a:t>
            </a:r>
            <a:endParaRPr lang="en-US" sz="1651" dirty="0"/>
          </a:p>
        </p:txBody>
      </p:sp>
      <p:sp>
        <p:nvSpPr>
          <p:cNvPr id="17" name="Text 12"/>
          <p:cNvSpPr/>
          <p:nvPr/>
        </p:nvSpPr>
        <p:spPr>
          <a:xfrm>
            <a:off x="571501" y="4751654"/>
            <a:ext cx="921727"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Query Input:</a:t>
            </a:r>
            <a:endParaRPr lang="en-US" sz="1116" dirty="0"/>
          </a:p>
        </p:txBody>
      </p:sp>
      <p:sp>
        <p:nvSpPr>
          <p:cNvPr id="18" name="Text 13"/>
          <p:cNvSpPr/>
          <p:nvPr/>
        </p:nvSpPr>
        <p:spPr>
          <a:xfrm>
            <a:off x="1544129" y="4751654"/>
            <a:ext cx="243496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User provides a prompt or question</a:t>
            </a:r>
            <a:endParaRPr lang="en-US" sz="1116" dirty="0"/>
          </a:p>
        </p:txBody>
      </p:sp>
      <p:sp>
        <p:nvSpPr>
          <p:cNvPr id="19" name="Text 14"/>
          <p:cNvSpPr/>
          <p:nvPr/>
        </p:nvSpPr>
        <p:spPr>
          <a:xfrm>
            <a:off x="571500" y="5018354"/>
            <a:ext cx="1476366"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Document Retrieval:</a:t>
            </a:r>
            <a:endParaRPr lang="en-US" sz="1116" dirty="0"/>
          </a:p>
        </p:txBody>
      </p:sp>
      <p:sp>
        <p:nvSpPr>
          <p:cNvPr id="20" name="Text 15"/>
          <p:cNvSpPr/>
          <p:nvPr/>
        </p:nvSpPr>
        <p:spPr>
          <a:xfrm>
            <a:off x="2130884" y="5018354"/>
            <a:ext cx="3459280"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System searches database for relevant information</a:t>
            </a:r>
            <a:endParaRPr lang="en-US" sz="1116" dirty="0"/>
          </a:p>
        </p:txBody>
      </p:sp>
      <p:sp>
        <p:nvSpPr>
          <p:cNvPr id="21" name="Text 16"/>
          <p:cNvSpPr/>
          <p:nvPr/>
        </p:nvSpPr>
        <p:spPr>
          <a:xfrm>
            <a:off x="571500" y="5285054"/>
            <a:ext cx="856004"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Generation:</a:t>
            </a:r>
            <a:endParaRPr lang="en-US" sz="1116" dirty="0"/>
          </a:p>
        </p:txBody>
      </p:sp>
      <p:sp>
        <p:nvSpPr>
          <p:cNvPr id="22" name="Text 17"/>
          <p:cNvSpPr/>
          <p:nvPr/>
        </p:nvSpPr>
        <p:spPr>
          <a:xfrm>
            <a:off x="1470832" y="5285054"/>
            <a:ext cx="410529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LLM generates a response grounded in retrieved documents</a:t>
            </a:r>
            <a:endParaRPr lang="en-US" sz="1116" dirty="0"/>
          </a:p>
        </p:txBody>
      </p:sp>
      <p:grpSp>
        <p:nvGrpSpPr>
          <p:cNvPr id="31" name="Group 30">
            <a:extLst>
              <a:ext uri="{FF2B5EF4-FFF2-40B4-BE49-F238E27FC236}">
                <a16:creationId xmlns:a16="http://schemas.microsoft.com/office/drawing/2014/main" id="{43EDBE0D-E124-2709-F10F-9B541BEDD260}"/>
              </a:ext>
            </a:extLst>
          </p:cNvPr>
          <p:cNvGrpSpPr/>
          <p:nvPr/>
        </p:nvGrpSpPr>
        <p:grpSpPr>
          <a:xfrm>
            <a:off x="7186534" y="4373777"/>
            <a:ext cx="4214038" cy="1079720"/>
            <a:chOff x="381000" y="5883188"/>
            <a:chExt cx="4214038" cy="1079720"/>
          </a:xfrm>
        </p:grpSpPr>
        <p:sp>
          <p:nvSpPr>
            <p:cNvPr id="23" name="Text 18"/>
            <p:cNvSpPr/>
            <p:nvPr/>
          </p:nvSpPr>
          <p:spPr>
            <a:xfrm>
              <a:off x="381000" y="5883188"/>
              <a:ext cx="1316066"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Key Benefits</a:t>
              </a:r>
              <a:endParaRPr lang="en-US" sz="1651" dirty="0"/>
            </a:p>
          </p:txBody>
        </p:sp>
        <p:sp>
          <p:nvSpPr>
            <p:cNvPr id="24" name="Text 19"/>
            <p:cNvSpPr/>
            <p:nvPr/>
          </p:nvSpPr>
          <p:spPr>
            <a:xfrm>
              <a:off x="571501" y="6333994"/>
              <a:ext cx="4002699"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Reduces hallucinations by grounding responses in real data</a:t>
              </a:r>
              <a:endParaRPr lang="en-US" sz="1116" dirty="0"/>
            </a:p>
          </p:txBody>
        </p:sp>
        <p:sp>
          <p:nvSpPr>
            <p:cNvPr id="25" name="Text 20"/>
            <p:cNvSpPr/>
            <p:nvPr/>
          </p:nvSpPr>
          <p:spPr>
            <a:xfrm>
              <a:off x="571501" y="6562594"/>
              <a:ext cx="387766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Provides up-to-date information without model retraining</a:t>
              </a:r>
              <a:endParaRPr lang="en-US" sz="1116" dirty="0"/>
            </a:p>
          </p:txBody>
        </p:sp>
        <p:sp>
          <p:nvSpPr>
            <p:cNvPr id="26" name="Text 21"/>
            <p:cNvSpPr/>
            <p:nvPr/>
          </p:nvSpPr>
          <p:spPr>
            <a:xfrm>
              <a:off x="571501" y="6791194"/>
              <a:ext cx="4023537"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Enables access to proprietary or domain-specific knowledge</a:t>
              </a:r>
              <a:endParaRPr lang="en-US" sz="1116" dirty="0"/>
            </a:p>
          </p:txBody>
        </p:sp>
      </p:grpSp>
      <p:pic>
        <p:nvPicPr>
          <p:cNvPr id="27" name="Image 3" descr="preencoded.png"/>
          <p:cNvPicPr>
            <a:picLocks noChangeAspect="1"/>
          </p:cNvPicPr>
          <p:nvPr/>
        </p:nvPicPr>
        <p:blipFill>
          <a:blip r:embed="rId5"/>
          <a:stretch>
            <a:fillRect/>
          </a:stretch>
        </p:blipFill>
        <p:spPr>
          <a:xfrm>
            <a:off x="6238875" y="1085851"/>
            <a:ext cx="5572125" cy="304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4081245"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Advanced RAG Patterns</a:t>
            </a:r>
            <a:endParaRPr lang="en-US" sz="2700" dirty="0"/>
          </a:p>
        </p:txBody>
      </p:sp>
      <p:sp>
        <p:nvSpPr>
          <p:cNvPr id="4" name="Text 1"/>
          <p:cNvSpPr/>
          <p:nvPr/>
        </p:nvSpPr>
        <p:spPr>
          <a:xfrm>
            <a:off x="381000" y="988799"/>
            <a:ext cx="2055050"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Beyond Simple RAG</a:t>
            </a:r>
            <a:endParaRPr lang="en-US" sz="1651" dirty="0"/>
          </a:p>
        </p:txBody>
      </p:sp>
      <p:sp>
        <p:nvSpPr>
          <p:cNvPr id="5" name="Shape 2"/>
          <p:cNvSpPr/>
          <p:nvPr/>
        </p:nvSpPr>
        <p:spPr>
          <a:xfrm>
            <a:off x="381000" y="1359735"/>
            <a:ext cx="5572125" cy="1219200"/>
          </a:xfrm>
          <a:prstGeom prst="rect">
            <a:avLst/>
          </a:prstGeom>
          <a:solidFill>
            <a:srgbClr val="E76F51">
              <a:alpha val="5000"/>
            </a:srgbClr>
          </a:solidFill>
          <a:ln/>
        </p:spPr>
        <p:txBody>
          <a:bodyPr/>
          <a:lstStyle/>
          <a:p>
            <a:endParaRPr lang="en-IN" sz="2400"/>
          </a:p>
        </p:txBody>
      </p:sp>
      <p:sp>
        <p:nvSpPr>
          <p:cNvPr id="6" name="Shape 3"/>
          <p:cNvSpPr/>
          <p:nvPr/>
        </p:nvSpPr>
        <p:spPr>
          <a:xfrm>
            <a:off x="381001" y="1359735"/>
            <a:ext cx="38100" cy="1219200"/>
          </a:xfrm>
          <a:prstGeom prst="rect">
            <a:avLst/>
          </a:prstGeom>
          <a:solidFill>
            <a:srgbClr val="E76F51"/>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95300" y="1516898"/>
            <a:ext cx="150019" cy="171451"/>
          </a:xfrm>
          <a:prstGeom prst="rect">
            <a:avLst/>
          </a:prstGeom>
        </p:spPr>
      </p:pic>
      <p:sp>
        <p:nvSpPr>
          <p:cNvPr id="8" name="Text 4"/>
          <p:cNvSpPr/>
          <p:nvPr/>
        </p:nvSpPr>
        <p:spPr>
          <a:xfrm>
            <a:off x="740569" y="1505994"/>
            <a:ext cx="1231106" cy="193258"/>
          </a:xfrm>
          <a:prstGeom prst="rect">
            <a:avLst/>
          </a:prstGeom>
          <a:noFill/>
          <a:ln/>
        </p:spPr>
        <p:txBody>
          <a:bodyPr wrap="none" lIns="0" tIns="0" rIns="0" bIns="0" rtlCol="0" anchor="ctr">
            <a:spAutoFit/>
          </a:bodyPr>
          <a:lstStyle/>
          <a:p>
            <a:r>
              <a:rPr lang="en-US" sz="1256" b="1" dirty="0">
                <a:solidFill>
                  <a:srgbClr val="1A365D"/>
                </a:solidFill>
                <a:latin typeface="Noto Sans" pitchFamily="34" charset="0"/>
                <a:ea typeface="Noto Sans" pitchFamily="34" charset="-122"/>
                <a:cs typeface="Noto Sans" pitchFamily="34" charset="-120"/>
              </a:rPr>
              <a:t> Branched RAG </a:t>
            </a:r>
            <a:endParaRPr lang="en-US" sz="1256" dirty="0"/>
          </a:p>
        </p:txBody>
      </p:sp>
      <p:sp>
        <p:nvSpPr>
          <p:cNvPr id="9" name="Text 5"/>
          <p:cNvSpPr/>
          <p:nvPr/>
        </p:nvSpPr>
        <p:spPr>
          <a:xfrm>
            <a:off x="495300" y="1835721"/>
            <a:ext cx="5343525"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Evaluates queries and selects the most relevant data source(s) instead of querying all available sources.</a:t>
            </a:r>
            <a:endParaRPr lang="en-US" sz="1116" dirty="0"/>
          </a:p>
        </p:txBody>
      </p:sp>
      <p:sp>
        <p:nvSpPr>
          <p:cNvPr id="10" name="Text 6"/>
          <p:cNvSpPr/>
          <p:nvPr/>
        </p:nvSpPr>
        <p:spPr>
          <a:xfrm>
            <a:off x="495301" y="2294301"/>
            <a:ext cx="578685"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Use case:</a:t>
            </a:r>
            <a:endParaRPr lang="en-US" sz="976" dirty="0"/>
          </a:p>
        </p:txBody>
      </p:sp>
      <p:sp>
        <p:nvSpPr>
          <p:cNvPr id="11" name="Text 7"/>
          <p:cNvSpPr/>
          <p:nvPr/>
        </p:nvSpPr>
        <p:spPr>
          <a:xfrm>
            <a:off x="1108063" y="2294301"/>
            <a:ext cx="4164602"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Legal tools, multidisciplinary research requiring specialized knowledge</a:t>
            </a:r>
            <a:endParaRPr lang="en-US" sz="976" dirty="0"/>
          </a:p>
        </p:txBody>
      </p:sp>
      <p:sp>
        <p:nvSpPr>
          <p:cNvPr id="12" name="Shape 8"/>
          <p:cNvSpPr/>
          <p:nvPr/>
        </p:nvSpPr>
        <p:spPr>
          <a:xfrm>
            <a:off x="381000" y="2721810"/>
            <a:ext cx="5572125" cy="1219200"/>
          </a:xfrm>
          <a:prstGeom prst="rect">
            <a:avLst/>
          </a:prstGeom>
          <a:solidFill>
            <a:srgbClr val="E76F51">
              <a:alpha val="5000"/>
            </a:srgbClr>
          </a:solidFill>
          <a:ln/>
        </p:spPr>
        <p:txBody>
          <a:bodyPr/>
          <a:lstStyle/>
          <a:p>
            <a:endParaRPr lang="en-IN" sz="2400"/>
          </a:p>
        </p:txBody>
      </p:sp>
      <p:sp>
        <p:nvSpPr>
          <p:cNvPr id="13" name="Shape 9"/>
          <p:cNvSpPr/>
          <p:nvPr/>
        </p:nvSpPr>
        <p:spPr>
          <a:xfrm>
            <a:off x="381001" y="2721810"/>
            <a:ext cx="38100" cy="1219200"/>
          </a:xfrm>
          <a:prstGeom prst="rect">
            <a:avLst/>
          </a:prstGeom>
          <a:solidFill>
            <a:srgbClr val="E76F51"/>
          </a:solidFill>
          <a:ln/>
        </p:spPr>
        <p:txBody>
          <a:bodyPr/>
          <a:lstStyle/>
          <a:p>
            <a:endParaRPr lang="en-IN" sz="2400"/>
          </a:p>
        </p:txBody>
      </p:sp>
      <p:pic>
        <p:nvPicPr>
          <p:cNvPr id="14" name="Image 2" descr="preencoded.png"/>
          <p:cNvPicPr>
            <a:picLocks noChangeAspect="1"/>
          </p:cNvPicPr>
          <p:nvPr/>
        </p:nvPicPr>
        <p:blipFill>
          <a:blip r:embed="rId4"/>
          <a:stretch>
            <a:fillRect/>
          </a:stretch>
        </p:blipFill>
        <p:spPr>
          <a:xfrm>
            <a:off x="495301" y="2878972"/>
            <a:ext cx="128588" cy="171451"/>
          </a:xfrm>
          <a:prstGeom prst="rect">
            <a:avLst/>
          </a:prstGeom>
        </p:spPr>
      </p:pic>
      <p:sp>
        <p:nvSpPr>
          <p:cNvPr id="15" name="Text 10"/>
          <p:cNvSpPr/>
          <p:nvPr/>
        </p:nvSpPr>
        <p:spPr>
          <a:xfrm>
            <a:off x="719138" y="2868068"/>
            <a:ext cx="3545842" cy="193258"/>
          </a:xfrm>
          <a:prstGeom prst="rect">
            <a:avLst/>
          </a:prstGeom>
          <a:noFill/>
          <a:ln/>
        </p:spPr>
        <p:txBody>
          <a:bodyPr wrap="none" lIns="0" tIns="0" rIns="0" bIns="0" rtlCol="0" anchor="ctr">
            <a:spAutoFit/>
          </a:bodyPr>
          <a:lstStyle/>
          <a:p>
            <a:r>
              <a:rPr lang="en-US" sz="1256" b="1" dirty="0">
                <a:solidFill>
                  <a:srgbClr val="1A365D"/>
                </a:solidFill>
                <a:latin typeface="Noto Sans" pitchFamily="34" charset="0"/>
                <a:ea typeface="Noto Sans" pitchFamily="34" charset="-122"/>
                <a:cs typeface="Noto Sans" pitchFamily="34" charset="-120"/>
              </a:rPr>
              <a:t> HyDe (Hypothetical Document Embedding) </a:t>
            </a:r>
            <a:endParaRPr lang="en-US" sz="1256" dirty="0"/>
          </a:p>
        </p:txBody>
      </p:sp>
      <p:sp>
        <p:nvSpPr>
          <p:cNvPr id="16" name="Text 11"/>
          <p:cNvSpPr/>
          <p:nvPr/>
        </p:nvSpPr>
        <p:spPr>
          <a:xfrm>
            <a:off x="495300" y="3197798"/>
            <a:ext cx="5343525"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Generates hypothetical documents based on queries before retrieving relevant information, using embedded representations to guide retrieval.</a:t>
            </a:r>
            <a:endParaRPr lang="en-US" sz="1116" dirty="0"/>
          </a:p>
        </p:txBody>
      </p:sp>
      <p:sp>
        <p:nvSpPr>
          <p:cNvPr id="17" name="Text 12"/>
          <p:cNvSpPr/>
          <p:nvPr/>
        </p:nvSpPr>
        <p:spPr>
          <a:xfrm>
            <a:off x="495301" y="3656376"/>
            <a:ext cx="578685"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Use case:</a:t>
            </a:r>
            <a:endParaRPr lang="en-US" sz="976" dirty="0"/>
          </a:p>
        </p:txBody>
      </p:sp>
      <p:sp>
        <p:nvSpPr>
          <p:cNvPr id="18" name="Text 13"/>
          <p:cNvSpPr/>
          <p:nvPr/>
        </p:nvSpPr>
        <p:spPr>
          <a:xfrm>
            <a:off x="1108063" y="3656376"/>
            <a:ext cx="3399970"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Research with vague queries, creative content generation</a:t>
            </a:r>
            <a:endParaRPr lang="en-US" sz="976" dirty="0"/>
          </a:p>
        </p:txBody>
      </p:sp>
      <p:sp>
        <p:nvSpPr>
          <p:cNvPr id="19" name="Shape 14"/>
          <p:cNvSpPr/>
          <p:nvPr/>
        </p:nvSpPr>
        <p:spPr>
          <a:xfrm>
            <a:off x="381000" y="4083886"/>
            <a:ext cx="5572125" cy="1219200"/>
          </a:xfrm>
          <a:prstGeom prst="rect">
            <a:avLst/>
          </a:prstGeom>
          <a:solidFill>
            <a:srgbClr val="E76F51">
              <a:alpha val="5000"/>
            </a:srgbClr>
          </a:solidFill>
          <a:ln/>
        </p:spPr>
        <p:txBody>
          <a:bodyPr/>
          <a:lstStyle/>
          <a:p>
            <a:endParaRPr lang="en-IN" sz="2400"/>
          </a:p>
        </p:txBody>
      </p:sp>
      <p:sp>
        <p:nvSpPr>
          <p:cNvPr id="20" name="Shape 15"/>
          <p:cNvSpPr/>
          <p:nvPr/>
        </p:nvSpPr>
        <p:spPr>
          <a:xfrm>
            <a:off x="381001" y="4083886"/>
            <a:ext cx="38100" cy="1219200"/>
          </a:xfrm>
          <a:prstGeom prst="rect">
            <a:avLst/>
          </a:prstGeom>
          <a:solidFill>
            <a:srgbClr val="E76F51"/>
          </a:solidFill>
          <a:ln/>
        </p:spPr>
        <p:txBody>
          <a:bodyPr/>
          <a:lstStyle/>
          <a:p>
            <a:endParaRPr lang="en-IN" sz="2400"/>
          </a:p>
        </p:txBody>
      </p:sp>
      <p:pic>
        <p:nvPicPr>
          <p:cNvPr id="21" name="Image 3" descr="preencoded.png"/>
          <p:cNvPicPr>
            <a:picLocks noChangeAspect="1"/>
          </p:cNvPicPr>
          <p:nvPr/>
        </p:nvPicPr>
        <p:blipFill>
          <a:blip r:embed="rId5"/>
          <a:stretch>
            <a:fillRect/>
          </a:stretch>
        </p:blipFill>
        <p:spPr>
          <a:xfrm>
            <a:off x="495300" y="4241047"/>
            <a:ext cx="171451" cy="171451"/>
          </a:xfrm>
          <a:prstGeom prst="rect">
            <a:avLst/>
          </a:prstGeom>
        </p:spPr>
      </p:pic>
      <p:sp>
        <p:nvSpPr>
          <p:cNvPr id="22" name="Text 16"/>
          <p:cNvSpPr/>
          <p:nvPr/>
        </p:nvSpPr>
        <p:spPr>
          <a:xfrm>
            <a:off x="762000" y="4230143"/>
            <a:ext cx="1178208" cy="193258"/>
          </a:xfrm>
          <a:prstGeom prst="rect">
            <a:avLst/>
          </a:prstGeom>
          <a:noFill/>
          <a:ln/>
        </p:spPr>
        <p:txBody>
          <a:bodyPr wrap="none" lIns="0" tIns="0" rIns="0" bIns="0" rtlCol="0" anchor="ctr">
            <a:spAutoFit/>
          </a:bodyPr>
          <a:lstStyle/>
          <a:p>
            <a:r>
              <a:rPr lang="en-US" sz="1256" b="1" dirty="0">
                <a:solidFill>
                  <a:srgbClr val="1A365D"/>
                </a:solidFill>
                <a:latin typeface="Noto Sans" pitchFamily="34" charset="0"/>
                <a:ea typeface="Noto Sans" pitchFamily="34" charset="-122"/>
                <a:cs typeface="Noto Sans" pitchFamily="34" charset="-120"/>
              </a:rPr>
              <a:t> Adaptive RAG </a:t>
            </a:r>
            <a:endParaRPr lang="en-US" sz="1256" dirty="0"/>
          </a:p>
        </p:txBody>
      </p:sp>
      <p:sp>
        <p:nvSpPr>
          <p:cNvPr id="23" name="Text 17"/>
          <p:cNvSpPr/>
          <p:nvPr/>
        </p:nvSpPr>
        <p:spPr>
          <a:xfrm>
            <a:off x="495300" y="4559872"/>
            <a:ext cx="5343525"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Dynamically adjusts retrieval strategy based on query complexity or nature in real-time.</a:t>
            </a:r>
            <a:endParaRPr lang="en-US" sz="1116" dirty="0"/>
          </a:p>
        </p:txBody>
      </p:sp>
      <p:sp>
        <p:nvSpPr>
          <p:cNvPr id="24" name="Text 18"/>
          <p:cNvSpPr/>
          <p:nvPr/>
        </p:nvSpPr>
        <p:spPr>
          <a:xfrm>
            <a:off x="495301" y="5018451"/>
            <a:ext cx="578685"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Use case:</a:t>
            </a:r>
            <a:endParaRPr lang="en-US" sz="976" dirty="0"/>
          </a:p>
        </p:txBody>
      </p:sp>
      <p:sp>
        <p:nvSpPr>
          <p:cNvPr id="25" name="Text 19"/>
          <p:cNvSpPr/>
          <p:nvPr/>
        </p:nvSpPr>
        <p:spPr>
          <a:xfrm>
            <a:off x="1108063" y="5018451"/>
            <a:ext cx="3355086"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Enterprise search systems with varying query complexity</a:t>
            </a:r>
            <a:endParaRPr lang="en-US" sz="976" dirty="0"/>
          </a:p>
        </p:txBody>
      </p:sp>
      <p:sp>
        <p:nvSpPr>
          <p:cNvPr id="26" name="Shape 20"/>
          <p:cNvSpPr/>
          <p:nvPr/>
        </p:nvSpPr>
        <p:spPr>
          <a:xfrm>
            <a:off x="381000" y="5445960"/>
            <a:ext cx="5572125" cy="1219200"/>
          </a:xfrm>
          <a:prstGeom prst="rect">
            <a:avLst/>
          </a:prstGeom>
          <a:solidFill>
            <a:srgbClr val="E76F51">
              <a:alpha val="5000"/>
            </a:srgbClr>
          </a:solidFill>
          <a:ln/>
        </p:spPr>
        <p:txBody>
          <a:bodyPr/>
          <a:lstStyle/>
          <a:p>
            <a:endParaRPr lang="en-IN" sz="2400"/>
          </a:p>
        </p:txBody>
      </p:sp>
      <p:sp>
        <p:nvSpPr>
          <p:cNvPr id="27" name="Shape 21"/>
          <p:cNvSpPr/>
          <p:nvPr/>
        </p:nvSpPr>
        <p:spPr>
          <a:xfrm>
            <a:off x="381001" y="5445960"/>
            <a:ext cx="38100" cy="1219200"/>
          </a:xfrm>
          <a:prstGeom prst="rect">
            <a:avLst/>
          </a:prstGeom>
          <a:solidFill>
            <a:srgbClr val="E76F51"/>
          </a:solidFill>
          <a:ln/>
        </p:spPr>
        <p:txBody>
          <a:bodyPr/>
          <a:lstStyle/>
          <a:p>
            <a:endParaRPr lang="en-IN" sz="2400"/>
          </a:p>
        </p:txBody>
      </p:sp>
      <p:pic>
        <p:nvPicPr>
          <p:cNvPr id="28" name="Image 4" descr="preencoded.png"/>
          <p:cNvPicPr>
            <a:picLocks noChangeAspect="1"/>
          </p:cNvPicPr>
          <p:nvPr/>
        </p:nvPicPr>
        <p:blipFill>
          <a:blip r:embed="rId6"/>
          <a:stretch>
            <a:fillRect/>
          </a:stretch>
        </p:blipFill>
        <p:spPr>
          <a:xfrm>
            <a:off x="495300" y="5603123"/>
            <a:ext cx="171451" cy="171451"/>
          </a:xfrm>
          <a:prstGeom prst="rect">
            <a:avLst/>
          </a:prstGeom>
        </p:spPr>
      </p:pic>
      <p:sp>
        <p:nvSpPr>
          <p:cNvPr id="29" name="Text 22"/>
          <p:cNvSpPr/>
          <p:nvPr/>
        </p:nvSpPr>
        <p:spPr>
          <a:xfrm>
            <a:off x="762001" y="5592218"/>
            <a:ext cx="771045" cy="193258"/>
          </a:xfrm>
          <a:prstGeom prst="rect">
            <a:avLst/>
          </a:prstGeom>
          <a:noFill/>
          <a:ln/>
        </p:spPr>
        <p:txBody>
          <a:bodyPr wrap="none" lIns="0" tIns="0" rIns="0" bIns="0" rtlCol="0" anchor="ctr">
            <a:spAutoFit/>
          </a:bodyPr>
          <a:lstStyle/>
          <a:p>
            <a:r>
              <a:rPr lang="en-US" sz="1256" b="1" dirty="0">
                <a:solidFill>
                  <a:srgbClr val="1A365D"/>
                </a:solidFill>
                <a:latin typeface="Noto Sans" pitchFamily="34" charset="0"/>
                <a:ea typeface="Noto Sans" pitchFamily="34" charset="-122"/>
                <a:cs typeface="Noto Sans" pitchFamily="34" charset="-120"/>
              </a:rPr>
              <a:t> Self-RAG </a:t>
            </a:r>
            <a:endParaRPr lang="en-US" sz="1256" dirty="0"/>
          </a:p>
        </p:txBody>
      </p:sp>
      <p:sp>
        <p:nvSpPr>
          <p:cNvPr id="30" name="Text 23"/>
          <p:cNvSpPr/>
          <p:nvPr/>
        </p:nvSpPr>
        <p:spPr>
          <a:xfrm>
            <a:off x="495300" y="5921948"/>
            <a:ext cx="5343525"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Introduces self-retrieval mechanism allowing autonomous generation of retrieval queries during the generation process.</a:t>
            </a:r>
            <a:endParaRPr lang="en-US" sz="1116" dirty="0"/>
          </a:p>
        </p:txBody>
      </p:sp>
      <p:sp>
        <p:nvSpPr>
          <p:cNvPr id="31" name="Text 24"/>
          <p:cNvSpPr/>
          <p:nvPr/>
        </p:nvSpPr>
        <p:spPr>
          <a:xfrm>
            <a:off x="495301" y="6380527"/>
            <a:ext cx="578685" cy="150169"/>
          </a:xfrm>
          <a:prstGeom prst="rect">
            <a:avLst/>
          </a:prstGeom>
          <a:noFill/>
          <a:ln/>
        </p:spPr>
        <p:txBody>
          <a:bodyPr wrap="none" lIns="0" tIns="0" rIns="0" bIns="0" rtlCol="0" anchor="ctr">
            <a:spAutoFit/>
          </a:bodyPr>
          <a:lstStyle/>
          <a:p>
            <a:r>
              <a:rPr lang="en-US" sz="976" b="1" dirty="0">
                <a:solidFill>
                  <a:srgbClr val="4B5563"/>
                </a:solidFill>
                <a:latin typeface="Noto Sans" pitchFamily="34" charset="0"/>
                <a:ea typeface="Noto Sans" pitchFamily="34" charset="-122"/>
                <a:cs typeface="Noto Sans" pitchFamily="34" charset="-120"/>
              </a:rPr>
              <a:t>Use case:</a:t>
            </a:r>
            <a:endParaRPr lang="en-US" sz="976" dirty="0"/>
          </a:p>
        </p:txBody>
      </p:sp>
      <p:sp>
        <p:nvSpPr>
          <p:cNvPr id="32" name="Text 25"/>
          <p:cNvSpPr/>
          <p:nvPr/>
        </p:nvSpPr>
        <p:spPr>
          <a:xfrm>
            <a:off x="1108063" y="6380527"/>
            <a:ext cx="2899833" cy="150169"/>
          </a:xfrm>
          <a:prstGeom prst="rect">
            <a:avLst/>
          </a:prstGeom>
          <a:noFill/>
          <a:ln/>
        </p:spPr>
        <p:txBody>
          <a:bodyPr wrap="none" lIns="0" tIns="0" rIns="0" bIns="0" rtlCol="0" anchor="ctr">
            <a:spAutoFit/>
          </a:bodyPr>
          <a:lstStyle/>
          <a:p>
            <a:r>
              <a:rPr lang="en-US" sz="976" dirty="0">
                <a:solidFill>
                  <a:srgbClr val="4B5563"/>
                </a:solidFill>
                <a:latin typeface="Noto Sans" pitchFamily="34" charset="0"/>
                <a:ea typeface="Noto Sans" pitchFamily="34" charset="-122"/>
                <a:cs typeface="Noto Sans" pitchFamily="34" charset="-120"/>
              </a:rPr>
              <a:t> Exploratory research, long-form content creation</a:t>
            </a:r>
            <a:endParaRPr lang="en-US" sz="976" dirty="0"/>
          </a:p>
        </p:txBody>
      </p:sp>
      <p:pic>
        <p:nvPicPr>
          <p:cNvPr id="33" name="Image 5" descr="preencoded.png"/>
          <p:cNvPicPr>
            <a:picLocks noChangeAspect="1"/>
          </p:cNvPicPr>
          <p:nvPr/>
        </p:nvPicPr>
        <p:blipFill>
          <a:blip r:embed="rId7"/>
          <a:stretch>
            <a:fillRect/>
          </a:stretch>
        </p:blipFill>
        <p:spPr>
          <a:xfrm>
            <a:off x="6238875" y="1085851"/>
            <a:ext cx="5572125" cy="2857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4735271"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Sophisticated RAG Patterns</a:t>
            </a:r>
            <a:endParaRPr lang="en-US" sz="2700" dirty="0"/>
          </a:p>
        </p:txBody>
      </p:sp>
      <p:sp>
        <p:nvSpPr>
          <p:cNvPr id="4" name="Text 1"/>
          <p:cNvSpPr/>
          <p:nvPr/>
        </p:nvSpPr>
        <p:spPr>
          <a:xfrm>
            <a:off x="381000" y="1120688"/>
            <a:ext cx="3023264"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Advanced RAG Architectures</a:t>
            </a:r>
            <a:endParaRPr lang="en-US" sz="1651" dirty="0"/>
          </a:p>
        </p:txBody>
      </p:sp>
      <p:sp>
        <p:nvSpPr>
          <p:cNvPr id="5" name="Shape 2"/>
          <p:cNvSpPr/>
          <p:nvPr/>
        </p:nvSpPr>
        <p:spPr>
          <a:xfrm>
            <a:off x="381000" y="1543051"/>
            <a:ext cx="5572125" cy="1123951"/>
          </a:xfrm>
          <a:prstGeom prst="rect">
            <a:avLst/>
          </a:prstGeom>
          <a:solidFill>
            <a:srgbClr val="F8F9FA"/>
          </a:solidFill>
          <a:ln/>
        </p:spPr>
        <p:txBody>
          <a:bodyPr/>
          <a:lstStyle/>
          <a:p>
            <a:endParaRPr lang="en-IN" sz="2400"/>
          </a:p>
        </p:txBody>
      </p:sp>
      <p:sp>
        <p:nvSpPr>
          <p:cNvPr id="6" name="Shape 3"/>
          <p:cNvSpPr/>
          <p:nvPr/>
        </p:nvSpPr>
        <p:spPr>
          <a:xfrm>
            <a:off x="381001" y="1543051"/>
            <a:ext cx="38100" cy="1123951"/>
          </a:xfrm>
          <a:prstGeom prst="rect">
            <a:avLst/>
          </a:prstGeom>
          <a:solidFill>
            <a:srgbClr val="E76F51"/>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76251" y="1681163"/>
            <a:ext cx="171451" cy="171451"/>
          </a:xfrm>
          <a:prstGeom prst="rect">
            <a:avLst/>
          </a:prstGeom>
        </p:spPr>
      </p:pic>
      <p:sp>
        <p:nvSpPr>
          <p:cNvPr id="8" name="Text 4"/>
          <p:cNvSpPr/>
          <p:nvPr/>
        </p:nvSpPr>
        <p:spPr>
          <a:xfrm>
            <a:off x="742951" y="1670259"/>
            <a:ext cx="1811393"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Corrective RAG (CRAG)</a:t>
            </a:r>
            <a:endParaRPr lang="en-US" sz="1256" dirty="0"/>
          </a:p>
        </p:txBody>
      </p:sp>
      <p:sp>
        <p:nvSpPr>
          <p:cNvPr id="9" name="Text 5"/>
          <p:cNvSpPr/>
          <p:nvPr/>
        </p:nvSpPr>
        <p:spPr>
          <a:xfrm>
            <a:off x="476251" y="1952494"/>
            <a:ext cx="4823436"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Self-reflection mechanism on retrieved documents to improve accuracy.</a:t>
            </a:r>
            <a:endParaRPr lang="en-US" sz="1116" dirty="0"/>
          </a:p>
        </p:txBody>
      </p:sp>
      <p:sp>
        <p:nvSpPr>
          <p:cNvPr id="10" name="Text 6"/>
          <p:cNvSpPr/>
          <p:nvPr/>
        </p:nvSpPr>
        <p:spPr>
          <a:xfrm>
            <a:off x="666751" y="2210917"/>
            <a:ext cx="4002699"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Breaks documents into "knowledge strips" and grades for relevance</a:t>
            </a:r>
            <a:endParaRPr lang="en-US" sz="976" dirty="0"/>
          </a:p>
        </p:txBody>
      </p:sp>
      <p:sp>
        <p:nvSpPr>
          <p:cNvPr id="11" name="Text 7"/>
          <p:cNvSpPr/>
          <p:nvPr/>
        </p:nvSpPr>
        <p:spPr>
          <a:xfrm>
            <a:off x="666751" y="2401416"/>
            <a:ext cx="578685" cy="150169"/>
          </a:xfrm>
          <a:prstGeom prst="rect">
            <a:avLst/>
          </a:prstGeom>
          <a:noFill/>
          <a:ln/>
        </p:spPr>
        <p:txBody>
          <a:bodyPr wrap="none" lIns="0" tIns="0" rIns="0" bIns="0" rtlCol="0" anchor="ctr">
            <a:spAutoFit/>
          </a:bodyPr>
          <a:lstStyle/>
          <a:p>
            <a:r>
              <a:rPr lang="en-US" sz="976" b="1" dirty="0">
                <a:solidFill>
                  <a:srgbClr val="374151"/>
                </a:solidFill>
                <a:latin typeface="Noto Sans" pitchFamily="34" charset="0"/>
                <a:ea typeface="Noto Sans" pitchFamily="34" charset="-122"/>
                <a:cs typeface="Noto Sans" pitchFamily="34" charset="-120"/>
              </a:rPr>
              <a:t>Use case:</a:t>
            </a:r>
            <a:endParaRPr lang="en-US" sz="976" dirty="0"/>
          </a:p>
        </p:txBody>
      </p:sp>
      <p:sp>
        <p:nvSpPr>
          <p:cNvPr id="12" name="Text 8"/>
          <p:cNvSpPr/>
          <p:nvPr/>
        </p:nvSpPr>
        <p:spPr>
          <a:xfrm>
            <a:off x="1279513" y="2401416"/>
            <a:ext cx="264495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 Legal documents, medical diagnosis support</a:t>
            </a:r>
            <a:endParaRPr lang="en-US" sz="976" dirty="0"/>
          </a:p>
        </p:txBody>
      </p:sp>
      <p:sp>
        <p:nvSpPr>
          <p:cNvPr id="13" name="Shape 9"/>
          <p:cNvSpPr/>
          <p:nvPr/>
        </p:nvSpPr>
        <p:spPr>
          <a:xfrm>
            <a:off x="381000" y="2781301"/>
            <a:ext cx="5572125" cy="1123951"/>
          </a:xfrm>
          <a:prstGeom prst="rect">
            <a:avLst/>
          </a:prstGeom>
          <a:solidFill>
            <a:srgbClr val="F8F9FA"/>
          </a:solidFill>
          <a:ln/>
        </p:spPr>
        <p:txBody>
          <a:bodyPr/>
          <a:lstStyle/>
          <a:p>
            <a:endParaRPr lang="en-IN" sz="2400"/>
          </a:p>
        </p:txBody>
      </p:sp>
      <p:sp>
        <p:nvSpPr>
          <p:cNvPr id="14" name="Shape 10"/>
          <p:cNvSpPr/>
          <p:nvPr/>
        </p:nvSpPr>
        <p:spPr>
          <a:xfrm>
            <a:off x="381001" y="2781301"/>
            <a:ext cx="38100" cy="1123951"/>
          </a:xfrm>
          <a:prstGeom prst="rect">
            <a:avLst/>
          </a:prstGeom>
          <a:solidFill>
            <a:srgbClr val="F4A261"/>
          </a:solidFill>
          <a:ln/>
        </p:spPr>
        <p:txBody>
          <a:bodyPr/>
          <a:lstStyle/>
          <a:p>
            <a:endParaRPr lang="en-IN" sz="2400"/>
          </a:p>
        </p:txBody>
      </p:sp>
      <p:pic>
        <p:nvPicPr>
          <p:cNvPr id="15" name="Image 2" descr="preencoded.png"/>
          <p:cNvPicPr>
            <a:picLocks noChangeAspect="1"/>
          </p:cNvPicPr>
          <p:nvPr/>
        </p:nvPicPr>
        <p:blipFill>
          <a:blip r:embed="rId4"/>
          <a:stretch>
            <a:fillRect/>
          </a:stretch>
        </p:blipFill>
        <p:spPr>
          <a:xfrm>
            <a:off x="476251" y="2919412"/>
            <a:ext cx="214312" cy="171451"/>
          </a:xfrm>
          <a:prstGeom prst="rect">
            <a:avLst/>
          </a:prstGeom>
        </p:spPr>
      </p:pic>
      <p:sp>
        <p:nvSpPr>
          <p:cNvPr id="16" name="Text 11"/>
          <p:cNvSpPr/>
          <p:nvPr/>
        </p:nvSpPr>
        <p:spPr>
          <a:xfrm>
            <a:off x="785813" y="2908509"/>
            <a:ext cx="992259"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Agentic RAG</a:t>
            </a:r>
            <a:endParaRPr lang="en-US" sz="1256" dirty="0"/>
          </a:p>
        </p:txBody>
      </p:sp>
      <p:sp>
        <p:nvSpPr>
          <p:cNvPr id="17" name="Text 12"/>
          <p:cNvSpPr/>
          <p:nvPr/>
        </p:nvSpPr>
        <p:spPr>
          <a:xfrm>
            <a:off x="476251" y="3190743"/>
            <a:ext cx="4498026"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Document Agents orchestrated by a meta-agent for complex tasks.</a:t>
            </a:r>
            <a:endParaRPr lang="en-US" sz="1116" dirty="0"/>
          </a:p>
        </p:txBody>
      </p:sp>
      <p:sp>
        <p:nvSpPr>
          <p:cNvPr id="18" name="Text 13"/>
          <p:cNvSpPr/>
          <p:nvPr/>
        </p:nvSpPr>
        <p:spPr>
          <a:xfrm>
            <a:off x="666751" y="3449166"/>
            <a:ext cx="357630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Each Document Agent handles questions about its document</a:t>
            </a:r>
            <a:endParaRPr lang="en-US" sz="976" dirty="0"/>
          </a:p>
        </p:txBody>
      </p:sp>
      <p:sp>
        <p:nvSpPr>
          <p:cNvPr id="19" name="Text 14"/>
          <p:cNvSpPr/>
          <p:nvPr/>
        </p:nvSpPr>
        <p:spPr>
          <a:xfrm>
            <a:off x="666751" y="3639666"/>
            <a:ext cx="578685" cy="150169"/>
          </a:xfrm>
          <a:prstGeom prst="rect">
            <a:avLst/>
          </a:prstGeom>
          <a:noFill/>
          <a:ln/>
        </p:spPr>
        <p:txBody>
          <a:bodyPr wrap="none" lIns="0" tIns="0" rIns="0" bIns="0" rtlCol="0" anchor="ctr">
            <a:spAutoFit/>
          </a:bodyPr>
          <a:lstStyle/>
          <a:p>
            <a:r>
              <a:rPr lang="en-US" sz="976" b="1" dirty="0">
                <a:solidFill>
                  <a:srgbClr val="374151"/>
                </a:solidFill>
                <a:latin typeface="Noto Sans" pitchFamily="34" charset="0"/>
                <a:ea typeface="Noto Sans" pitchFamily="34" charset="-122"/>
                <a:cs typeface="Noto Sans" pitchFamily="34" charset="-120"/>
              </a:rPr>
              <a:t>Use case:</a:t>
            </a:r>
            <a:endParaRPr lang="en-US" sz="976" dirty="0"/>
          </a:p>
        </p:txBody>
      </p:sp>
      <p:sp>
        <p:nvSpPr>
          <p:cNvPr id="20" name="Text 15"/>
          <p:cNvSpPr/>
          <p:nvPr/>
        </p:nvSpPr>
        <p:spPr>
          <a:xfrm>
            <a:off x="1279512" y="3639666"/>
            <a:ext cx="242213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 Research, multi-source data aggregation</a:t>
            </a:r>
            <a:endParaRPr lang="en-US" sz="976" dirty="0"/>
          </a:p>
        </p:txBody>
      </p:sp>
      <p:sp>
        <p:nvSpPr>
          <p:cNvPr id="21" name="Shape 16"/>
          <p:cNvSpPr/>
          <p:nvPr/>
        </p:nvSpPr>
        <p:spPr>
          <a:xfrm>
            <a:off x="381000" y="4019551"/>
            <a:ext cx="5572125" cy="1123951"/>
          </a:xfrm>
          <a:prstGeom prst="rect">
            <a:avLst/>
          </a:prstGeom>
          <a:solidFill>
            <a:srgbClr val="F8F9FA"/>
          </a:solidFill>
          <a:ln/>
        </p:spPr>
        <p:txBody>
          <a:bodyPr/>
          <a:lstStyle/>
          <a:p>
            <a:endParaRPr lang="en-IN" sz="2400"/>
          </a:p>
        </p:txBody>
      </p:sp>
      <p:sp>
        <p:nvSpPr>
          <p:cNvPr id="22" name="Shape 17"/>
          <p:cNvSpPr/>
          <p:nvPr/>
        </p:nvSpPr>
        <p:spPr>
          <a:xfrm>
            <a:off x="381001" y="4019551"/>
            <a:ext cx="38100" cy="1123951"/>
          </a:xfrm>
          <a:prstGeom prst="rect">
            <a:avLst/>
          </a:prstGeom>
          <a:solidFill>
            <a:srgbClr val="E9C46A"/>
          </a:solidFill>
          <a:ln/>
        </p:spPr>
        <p:txBody>
          <a:bodyPr/>
          <a:lstStyle/>
          <a:p>
            <a:endParaRPr lang="en-IN" sz="2400"/>
          </a:p>
        </p:txBody>
      </p:sp>
      <p:pic>
        <p:nvPicPr>
          <p:cNvPr id="23" name="Image 3" descr="preencoded.png"/>
          <p:cNvPicPr>
            <a:picLocks noChangeAspect="1"/>
          </p:cNvPicPr>
          <p:nvPr/>
        </p:nvPicPr>
        <p:blipFill>
          <a:blip r:embed="rId5"/>
          <a:stretch>
            <a:fillRect/>
          </a:stretch>
        </p:blipFill>
        <p:spPr>
          <a:xfrm>
            <a:off x="476252" y="4157663"/>
            <a:ext cx="192881" cy="171451"/>
          </a:xfrm>
          <a:prstGeom prst="rect">
            <a:avLst/>
          </a:prstGeom>
        </p:spPr>
      </p:pic>
      <p:sp>
        <p:nvSpPr>
          <p:cNvPr id="24" name="Text 18"/>
          <p:cNvSpPr/>
          <p:nvPr/>
        </p:nvSpPr>
        <p:spPr>
          <a:xfrm>
            <a:off x="764381" y="4146759"/>
            <a:ext cx="1450718"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RAG with Memory</a:t>
            </a:r>
            <a:endParaRPr lang="en-US" sz="1256" dirty="0"/>
          </a:p>
        </p:txBody>
      </p:sp>
      <p:sp>
        <p:nvSpPr>
          <p:cNvPr id="25" name="Text 19"/>
          <p:cNvSpPr/>
          <p:nvPr/>
        </p:nvSpPr>
        <p:spPr>
          <a:xfrm>
            <a:off x="476251" y="4428994"/>
            <a:ext cx="4405052"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Storage component for contextual awareness across interactions.</a:t>
            </a:r>
            <a:endParaRPr lang="en-US" sz="1116" dirty="0"/>
          </a:p>
        </p:txBody>
      </p:sp>
      <p:sp>
        <p:nvSpPr>
          <p:cNvPr id="26" name="Text 20"/>
          <p:cNvSpPr/>
          <p:nvPr/>
        </p:nvSpPr>
        <p:spPr>
          <a:xfrm>
            <a:off x="666751" y="4687417"/>
            <a:ext cx="3348674"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Combines retrieved documents with conversation history</a:t>
            </a:r>
            <a:endParaRPr lang="en-US" sz="976" dirty="0"/>
          </a:p>
        </p:txBody>
      </p:sp>
      <p:sp>
        <p:nvSpPr>
          <p:cNvPr id="27" name="Text 21"/>
          <p:cNvSpPr/>
          <p:nvPr/>
        </p:nvSpPr>
        <p:spPr>
          <a:xfrm>
            <a:off x="666751" y="4877916"/>
            <a:ext cx="578685" cy="150169"/>
          </a:xfrm>
          <a:prstGeom prst="rect">
            <a:avLst/>
          </a:prstGeom>
          <a:noFill/>
          <a:ln/>
        </p:spPr>
        <p:txBody>
          <a:bodyPr wrap="none" lIns="0" tIns="0" rIns="0" bIns="0" rtlCol="0" anchor="ctr">
            <a:spAutoFit/>
          </a:bodyPr>
          <a:lstStyle/>
          <a:p>
            <a:r>
              <a:rPr lang="en-US" sz="976" b="1" dirty="0">
                <a:solidFill>
                  <a:srgbClr val="374151"/>
                </a:solidFill>
                <a:latin typeface="Noto Sans" pitchFamily="34" charset="0"/>
                <a:ea typeface="Noto Sans" pitchFamily="34" charset="-122"/>
                <a:cs typeface="Noto Sans" pitchFamily="34" charset="-120"/>
              </a:rPr>
              <a:t>Use case:</a:t>
            </a:r>
            <a:endParaRPr lang="en-US" sz="976" dirty="0"/>
          </a:p>
        </p:txBody>
      </p:sp>
      <p:sp>
        <p:nvSpPr>
          <p:cNvPr id="28" name="Text 22"/>
          <p:cNvSpPr/>
          <p:nvPr/>
        </p:nvSpPr>
        <p:spPr>
          <a:xfrm>
            <a:off x="1279513" y="4877916"/>
            <a:ext cx="2967159"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 Customer service, personalized recommendations</a:t>
            </a:r>
            <a:endParaRPr lang="en-US" sz="976" dirty="0"/>
          </a:p>
        </p:txBody>
      </p:sp>
      <p:grpSp>
        <p:nvGrpSpPr>
          <p:cNvPr id="40" name="Group 39">
            <a:extLst>
              <a:ext uri="{FF2B5EF4-FFF2-40B4-BE49-F238E27FC236}">
                <a16:creationId xmlns:a16="http://schemas.microsoft.com/office/drawing/2014/main" id="{D1B81A36-34D3-5CBF-D298-2363DA58BE7D}"/>
              </a:ext>
            </a:extLst>
          </p:cNvPr>
          <p:cNvGrpSpPr/>
          <p:nvPr/>
        </p:nvGrpSpPr>
        <p:grpSpPr>
          <a:xfrm>
            <a:off x="419101" y="5314949"/>
            <a:ext cx="6199681" cy="1119755"/>
            <a:chOff x="381000" y="5435512"/>
            <a:chExt cx="6025153" cy="1119755"/>
          </a:xfrm>
        </p:grpSpPr>
        <p:sp>
          <p:nvSpPr>
            <p:cNvPr id="29" name="Text 23"/>
            <p:cNvSpPr/>
            <p:nvPr/>
          </p:nvSpPr>
          <p:spPr>
            <a:xfrm>
              <a:off x="381000" y="5435512"/>
              <a:ext cx="3379130"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Implementation Considerations</a:t>
              </a:r>
              <a:endParaRPr lang="en-US" sz="1651" dirty="0"/>
            </a:p>
          </p:txBody>
        </p:sp>
        <p:sp>
          <p:nvSpPr>
            <p:cNvPr id="30" name="Text 24"/>
            <p:cNvSpPr/>
            <p:nvPr/>
          </p:nvSpPr>
          <p:spPr>
            <a:xfrm>
              <a:off x="571501" y="5885128"/>
              <a:ext cx="2053447"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Complexity vs. Performance:</a:t>
              </a:r>
              <a:endParaRPr lang="en-US" sz="1116" dirty="0"/>
            </a:p>
          </p:txBody>
        </p:sp>
        <p:sp>
          <p:nvSpPr>
            <p:cNvPr id="31" name="Text 25"/>
            <p:cNvSpPr/>
            <p:nvPr/>
          </p:nvSpPr>
          <p:spPr>
            <a:xfrm>
              <a:off x="2601990" y="5905739"/>
              <a:ext cx="3804163" cy="171714"/>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More sophisticated patterns require additional resources</a:t>
              </a:r>
              <a:endParaRPr lang="en-US" sz="1116" dirty="0"/>
            </a:p>
          </p:txBody>
        </p:sp>
        <p:sp>
          <p:nvSpPr>
            <p:cNvPr id="32" name="Text 26"/>
            <p:cNvSpPr/>
            <p:nvPr/>
          </p:nvSpPr>
          <p:spPr>
            <a:xfrm>
              <a:off x="571500" y="6154953"/>
              <a:ext cx="1469954"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Use Case Alignment:</a:t>
              </a:r>
              <a:endParaRPr lang="en-US" sz="1116" dirty="0"/>
            </a:p>
          </p:txBody>
        </p:sp>
        <p:sp>
          <p:nvSpPr>
            <p:cNvPr id="33" name="Text 27"/>
            <p:cNvSpPr/>
            <p:nvPr/>
          </p:nvSpPr>
          <p:spPr>
            <a:xfrm>
              <a:off x="2130884" y="6154953"/>
              <a:ext cx="3508974"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Match pattern complexity to business requirements</a:t>
              </a:r>
              <a:endParaRPr lang="en-US" sz="1116" dirty="0"/>
            </a:p>
          </p:txBody>
        </p:sp>
        <p:sp>
          <p:nvSpPr>
            <p:cNvPr id="34" name="Text 28"/>
            <p:cNvSpPr/>
            <p:nvPr/>
          </p:nvSpPr>
          <p:spPr>
            <a:xfrm>
              <a:off x="571500" y="6383553"/>
              <a:ext cx="1405834"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Hybrid Approaches:</a:t>
              </a:r>
              <a:endParaRPr lang="en-US" sz="1116" dirty="0"/>
            </a:p>
          </p:txBody>
        </p:sp>
        <p:sp>
          <p:nvSpPr>
            <p:cNvPr id="35" name="Text 29"/>
            <p:cNvSpPr/>
            <p:nvPr/>
          </p:nvSpPr>
          <p:spPr>
            <a:xfrm>
              <a:off x="2061382" y="6383553"/>
              <a:ext cx="268663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Combine patterns for specific scenarios</a:t>
              </a:r>
              <a:endParaRPr lang="en-US" sz="1116" dirty="0"/>
            </a:p>
          </p:txBody>
        </p:sp>
      </p:grpSp>
      <p:pic>
        <p:nvPicPr>
          <p:cNvPr id="41" name="Image 1" descr="preencoded.png">
            <a:extLst>
              <a:ext uri="{FF2B5EF4-FFF2-40B4-BE49-F238E27FC236}">
                <a16:creationId xmlns:a16="http://schemas.microsoft.com/office/drawing/2014/main" id="{0A3EB3BD-7A9C-D824-BC6C-6028D9414FCC}"/>
              </a:ext>
            </a:extLst>
          </p:cNvPr>
          <p:cNvPicPr>
            <a:picLocks noChangeAspect="1"/>
          </p:cNvPicPr>
          <p:nvPr/>
        </p:nvPicPr>
        <p:blipFill>
          <a:blip r:embed="rId6"/>
          <a:stretch>
            <a:fillRect/>
          </a:stretch>
        </p:blipFill>
        <p:spPr>
          <a:xfrm>
            <a:off x="6238875" y="1085851"/>
            <a:ext cx="5572125" cy="333375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4714432"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RAG Template Architecture</a:t>
            </a:r>
            <a:endParaRPr lang="en-US" sz="2700" dirty="0"/>
          </a:p>
        </p:txBody>
      </p:sp>
      <p:sp>
        <p:nvSpPr>
          <p:cNvPr id="4" name="Text 1"/>
          <p:cNvSpPr/>
          <p:nvPr/>
        </p:nvSpPr>
        <p:spPr>
          <a:xfrm>
            <a:off x="381001" y="925818"/>
            <a:ext cx="2739533"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RAG Pipeline Components</a:t>
            </a:r>
            <a:endParaRPr lang="en-US" sz="1651" dirty="0"/>
          </a:p>
        </p:txBody>
      </p:sp>
      <p:sp>
        <p:nvSpPr>
          <p:cNvPr id="5" name="Shape 2"/>
          <p:cNvSpPr/>
          <p:nvPr/>
        </p:nvSpPr>
        <p:spPr>
          <a:xfrm>
            <a:off x="381000" y="1217331"/>
            <a:ext cx="5572125" cy="590551"/>
          </a:xfrm>
          <a:prstGeom prst="rect">
            <a:avLst/>
          </a:prstGeom>
          <a:solidFill>
            <a:srgbClr val="E76F51">
              <a:alpha val="5000"/>
            </a:srgbClr>
          </a:solidFill>
          <a:ln/>
        </p:spPr>
        <p:txBody>
          <a:bodyPr/>
          <a:lstStyle/>
          <a:p>
            <a:endParaRPr lang="en-IN" sz="2400"/>
          </a:p>
        </p:txBody>
      </p:sp>
      <p:sp>
        <p:nvSpPr>
          <p:cNvPr id="6" name="Shape 3"/>
          <p:cNvSpPr/>
          <p:nvPr/>
        </p:nvSpPr>
        <p:spPr>
          <a:xfrm>
            <a:off x="457201" y="1379256"/>
            <a:ext cx="266700" cy="266700"/>
          </a:xfrm>
          <a:prstGeom prst="ellipse">
            <a:avLst/>
          </a:prstGeom>
          <a:solidFill>
            <a:srgbClr val="E76F51"/>
          </a:solidFill>
          <a:ln/>
        </p:spPr>
        <p:txBody>
          <a:bodyPr/>
          <a:lstStyle/>
          <a:p>
            <a:endParaRPr lang="en-IN" sz="2400"/>
          </a:p>
        </p:txBody>
      </p:sp>
      <p:sp>
        <p:nvSpPr>
          <p:cNvPr id="7" name="Text 4"/>
          <p:cNvSpPr/>
          <p:nvPr/>
        </p:nvSpPr>
        <p:spPr>
          <a:xfrm>
            <a:off x="551275" y="1426748"/>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1</a:t>
            </a:r>
            <a:endParaRPr lang="en-US" sz="1116" dirty="0"/>
          </a:p>
        </p:txBody>
      </p:sp>
      <p:sp>
        <p:nvSpPr>
          <p:cNvPr id="8" name="Text 5"/>
          <p:cNvSpPr/>
          <p:nvPr/>
        </p:nvSpPr>
        <p:spPr>
          <a:xfrm>
            <a:off x="838201" y="1321973"/>
            <a:ext cx="68448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Ingestion</a:t>
            </a:r>
            <a:endParaRPr lang="en-US" sz="1116" dirty="0"/>
          </a:p>
        </p:txBody>
      </p:sp>
      <p:sp>
        <p:nvSpPr>
          <p:cNvPr id="9" name="Text 6"/>
          <p:cNvSpPr/>
          <p:nvPr/>
        </p:nvSpPr>
        <p:spPr>
          <a:xfrm>
            <a:off x="838200" y="1561347"/>
            <a:ext cx="349615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Document loading, preprocessing, and metadata extraction</a:t>
            </a:r>
            <a:endParaRPr lang="en-US" sz="976" dirty="0"/>
          </a:p>
        </p:txBody>
      </p:sp>
      <p:sp>
        <p:nvSpPr>
          <p:cNvPr id="10" name="Shape 7"/>
          <p:cNvSpPr/>
          <p:nvPr/>
        </p:nvSpPr>
        <p:spPr>
          <a:xfrm>
            <a:off x="381000" y="1922181"/>
            <a:ext cx="5572125" cy="590551"/>
          </a:xfrm>
          <a:prstGeom prst="rect">
            <a:avLst/>
          </a:prstGeom>
          <a:solidFill>
            <a:srgbClr val="E76F51">
              <a:alpha val="5000"/>
            </a:srgbClr>
          </a:solidFill>
          <a:ln/>
        </p:spPr>
        <p:txBody>
          <a:bodyPr/>
          <a:lstStyle/>
          <a:p>
            <a:endParaRPr lang="en-IN" sz="2400"/>
          </a:p>
        </p:txBody>
      </p:sp>
      <p:sp>
        <p:nvSpPr>
          <p:cNvPr id="11" name="Shape 8"/>
          <p:cNvSpPr/>
          <p:nvPr/>
        </p:nvSpPr>
        <p:spPr>
          <a:xfrm>
            <a:off x="457201" y="2084105"/>
            <a:ext cx="266700" cy="266700"/>
          </a:xfrm>
          <a:prstGeom prst="ellipse">
            <a:avLst/>
          </a:prstGeom>
          <a:solidFill>
            <a:srgbClr val="E76F51"/>
          </a:solidFill>
          <a:ln/>
        </p:spPr>
        <p:txBody>
          <a:bodyPr/>
          <a:lstStyle/>
          <a:p>
            <a:endParaRPr lang="en-IN" sz="2400"/>
          </a:p>
        </p:txBody>
      </p:sp>
      <p:sp>
        <p:nvSpPr>
          <p:cNvPr id="12" name="Text 9"/>
          <p:cNvSpPr/>
          <p:nvPr/>
        </p:nvSpPr>
        <p:spPr>
          <a:xfrm>
            <a:off x="551275" y="2131597"/>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2</a:t>
            </a:r>
            <a:endParaRPr lang="en-US" sz="1116" dirty="0"/>
          </a:p>
        </p:txBody>
      </p:sp>
      <p:sp>
        <p:nvSpPr>
          <p:cNvPr id="13" name="Text 10"/>
          <p:cNvSpPr/>
          <p:nvPr/>
        </p:nvSpPr>
        <p:spPr>
          <a:xfrm>
            <a:off x="838201" y="2026824"/>
            <a:ext cx="69089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Chunking</a:t>
            </a:r>
            <a:endParaRPr lang="en-US" sz="1116" dirty="0"/>
          </a:p>
        </p:txBody>
      </p:sp>
      <p:sp>
        <p:nvSpPr>
          <p:cNvPr id="14" name="Text 11"/>
          <p:cNvSpPr/>
          <p:nvPr/>
        </p:nvSpPr>
        <p:spPr>
          <a:xfrm>
            <a:off x="838201" y="2266196"/>
            <a:ext cx="431688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Splitting documents into semantic units with appropriate size and overlap</a:t>
            </a:r>
            <a:endParaRPr lang="en-US" sz="976" dirty="0"/>
          </a:p>
        </p:txBody>
      </p:sp>
      <p:sp>
        <p:nvSpPr>
          <p:cNvPr id="15" name="Shape 12"/>
          <p:cNvSpPr/>
          <p:nvPr/>
        </p:nvSpPr>
        <p:spPr>
          <a:xfrm>
            <a:off x="381000" y="2627031"/>
            <a:ext cx="5572125" cy="590551"/>
          </a:xfrm>
          <a:prstGeom prst="rect">
            <a:avLst/>
          </a:prstGeom>
          <a:solidFill>
            <a:srgbClr val="E76F51">
              <a:alpha val="5000"/>
            </a:srgbClr>
          </a:solidFill>
          <a:ln/>
        </p:spPr>
        <p:txBody>
          <a:bodyPr/>
          <a:lstStyle/>
          <a:p>
            <a:endParaRPr lang="en-IN" sz="2400"/>
          </a:p>
        </p:txBody>
      </p:sp>
      <p:sp>
        <p:nvSpPr>
          <p:cNvPr id="16" name="Shape 13"/>
          <p:cNvSpPr/>
          <p:nvPr/>
        </p:nvSpPr>
        <p:spPr>
          <a:xfrm>
            <a:off x="457201" y="2788956"/>
            <a:ext cx="266700" cy="266700"/>
          </a:xfrm>
          <a:prstGeom prst="ellipse">
            <a:avLst/>
          </a:prstGeom>
          <a:solidFill>
            <a:srgbClr val="E76F51"/>
          </a:solidFill>
          <a:ln/>
        </p:spPr>
        <p:txBody>
          <a:bodyPr/>
          <a:lstStyle/>
          <a:p>
            <a:endParaRPr lang="en-IN" sz="2400"/>
          </a:p>
        </p:txBody>
      </p:sp>
      <p:sp>
        <p:nvSpPr>
          <p:cNvPr id="17" name="Text 14"/>
          <p:cNvSpPr/>
          <p:nvPr/>
        </p:nvSpPr>
        <p:spPr>
          <a:xfrm>
            <a:off x="551275" y="2836448"/>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3</a:t>
            </a:r>
            <a:endParaRPr lang="en-US" sz="1116" dirty="0"/>
          </a:p>
        </p:txBody>
      </p:sp>
      <p:sp>
        <p:nvSpPr>
          <p:cNvPr id="18" name="Text 15"/>
          <p:cNvSpPr/>
          <p:nvPr/>
        </p:nvSpPr>
        <p:spPr>
          <a:xfrm>
            <a:off x="838201" y="2731673"/>
            <a:ext cx="873637"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Embeddings</a:t>
            </a:r>
            <a:endParaRPr lang="en-US" sz="1116" dirty="0"/>
          </a:p>
        </p:txBody>
      </p:sp>
      <p:sp>
        <p:nvSpPr>
          <p:cNvPr id="19" name="Text 16"/>
          <p:cNvSpPr/>
          <p:nvPr/>
        </p:nvSpPr>
        <p:spPr>
          <a:xfrm>
            <a:off x="838201" y="2971047"/>
            <a:ext cx="297677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Converting text chunks into vector representations</a:t>
            </a:r>
            <a:endParaRPr lang="en-US" sz="976" dirty="0"/>
          </a:p>
        </p:txBody>
      </p:sp>
      <p:sp>
        <p:nvSpPr>
          <p:cNvPr id="20" name="Shape 17"/>
          <p:cNvSpPr/>
          <p:nvPr/>
        </p:nvSpPr>
        <p:spPr>
          <a:xfrm>
            <a:off x="381000" y="3331881"/>
            <a:ext cx="5572125" cy="590551"/>
          </a:xfrm>
          <a:prstGeom prst="rect">
            <a:avLst/>
          </a:prstGeom>
          <a:solidFill>
            <a:srgbClr val="E76F51">
              <a:alpha val="5000"/>
            </a:srgbClr>
          </a:solidFill>
          <a:ln/>
        </p:spPr>
        <p:txBody>
          <a:bodyPr/>
          <a:lstStyle/>
          <a:p>
            <a:endParaRPr lang="en-IN" sz="2400"/>
          </a:p>
        </p:txBody>
      </p:sp>
      <p:sp>
        <p:nvSpPr>
          <p:cNvPr id="21" name="Shape 18"/>
          <p:cNvSpPr/>
          <p:nvPr/>
        </p:nvSpPr>
        <p:spPr>
          <a:xfrm>
            <a:off x="457201" y="3493805"/>
            <a:ext cx="266700" cy="266700"/>
          </a:xfrm>
          <a:prstGeom prst="ellipse">
            <a:avLst/>
          </a:prstGeom>
          <a:solidFill>
            <a:srgbClr val="E76F51"/>
          </a:solidFill>
          <a:ln/>
        </p:spPr>
        <p:txBody>
          <a:bodyPr/>
          <a:lstStyle/>
          <a:p>
            <a:endParaRPr lang="en-IN" sz="2400"/>
          </a:p>
        </p:txBody>
      </p:sp>
      <p:sp>
        <p:nvSpPr>
          <p:cNvPr id="22" name="Text 19"/>
          <p:cNvSpPr/>
          <p:nvPr/>
        </p:nvSpPr>
        <p:spPr>
          <a:xfrm>
            <a:off x="551275" y="3541297"/>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4</a:t>
            </a:r>
            <a:endParaRPr lang="en-US" sz="1116" dirty="0"/>
          </a:p>
        </p:txBody>
      </p:sp>
      <p:sp>
        <p:nvSpPr>
          <p:cNvPr id="23" name="Text 20"/>
          <p:cNvSpPr/>
          <p:nvPr/>
        </p:nvSpPr>
        <p:spPr>
          <a:xfrm>
            <a:off x="838200" y="3436524"/>
            <a:ext cx="88485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Vector Store</a:t>
            </a:r>
            <a:endParaRPr lang="en-US" sz="1116" dirty="0"/>
          </a:p>
        </p:txBody>
      </p:sp>
      <p:sp>
        <p:nvSpPr>
          <p:cNvPr id="24" name="Text 21"/>
          <p:cNvSpPr/>
          <p:nvPr/>
        </p:nvSpPr>
        <p:spPr>
          <a:xfrm>
            <a:off x="838200" y="3675896"/>
            <a:ext cx="337432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Indexing and storing vectors for efficient similarity search</a:t>
            </a:r>
            <a:endParaRPr lang="en-US" sz="976" dirty="0"/>
          </a:p>
        </p:txBody>
      </p:sp>
      <p:sp>
        <p:nvSpPr>
          <p:cNvPr id="25" name="Shape 22"/>
          <p:cNvSpPr/>
          <p:nvPr/>
        </p:nvSpPr>
        <p:spPr>
          <a:xfrm>
            <a:off x="381000" y="4036731"/>
            <a:ext cx="5572125" cy="590551"/>
          </a:xfrm>
          <a:prstGeom prst="rect">
            <a:avLst/>
          </a:prstGeom>
          <a:solidFill>
            <a:srgbClr val="E76F51">
              <a:alpha val="5000"/>
            </a:srgbClr>
          </a:solidFill>
          <a:ln/>
        </p:spPr>
        <p:txBody>
          <a:bodyPr/>
          <a:lstStyle/>
          <a:p>
            <a:endParaRPr lang="en-IN" sz="2400"/>
          </a:p>
        </p:txBody>
      </p:sp>
      <p:sp>
        <p:nvSpPr>
          <p:cNvPr id="26" name="Shape 23"/>
          <p:cNvSpPr/>
          <p:nvPr/>
        </p:nvSpPr>
        <p:spPr>
          <a:xfrm>
            <a:off x="457201" y="4198656"/>
            <a:ext cx="266700" cy="266700"/>
          </a:xfrm>
          <a:prstGeom prst="ellipse">
            <a:avLst/>
          </a:prstGeom>
          <a:solidFill>
            <a:srgbClr val="E76F51"/>
          </a:solidFill>
          <a:ln/>
        </p:spPr>
        <p:txBody>
          <a:bodyPr/>
          <a:lstStyle/>
          <a:p>
            <a:endParaRPr lang="en-IN" sz="2400"/>
          </a:p>
        </p:txBody>
      </p:sp>
      <p:sp>
        <p:nvSpPr>
          <p:cNvPr id="27" name="Text 24"/>
          <p:cNvSpPr/>
          <p:nvPr/>
        </p:nvSpPr>
        <p:spPr>
          <a:xfrm>
            <a:off x="551275" y="4246148"/>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5</a:t>
            </a:r>
            <a:endParaRPr lang="en-US" sz="1116" dirty="0"/>
          </a:p>
        </p:txBody>
      </p:sp>
      <p:sp>
        <p:nvSpPr>
          <p:cNvPr id="28" name="Text 25"/>
          <p:cNvSpPr/>
          <p:nvPr/>
        </p:nvSpPr>
        <p:spPr>
          <a:xfrm>
            <a:off x="838201" y="4141373"/>
            <a:ext cx="64761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Retrieval</a:t>
            </a:r>
            <a:endParaRPr lang="en-US" sz="1116" dirty="0"/>
          </a:p>
        </p:txBody>
      </p:sp>
      <p:sp>
        <p:nvSpPr>
          <p:cNvPr id="29" name="Text 26"/>
          <p:cNvSpPr/>
          <p:nvPr/>
        </p:nvSpPr>
        <p:spPr>
          <a:xfrm>
            <a:off x="838201" y="4380747"/>
            <a:ext cx="314990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Finding relevant documents based on query similarity</a:t>
            </a:r>
            <a:endParaRPr lang="en-US" sz="976" dirty="0"/>
          </a:p>
        </p:txBody>
      </p:sp>
      <p:sp>
        <p:nvSpPr>
          <p:cNvPr id="30" name="Shape 27"/>
          <p:cNvSpPr/>
          <p:nvPr/>
        </p:nvSpPr>
        <p:spPr>
          <a:xfrm>
            <a:off x="381000" y="4741581"/>
            <a:ext cx="5572125" cy="590551"/>
          </a:xfrm>
          <a:prstGeom prst="rect">
            <a:avLst/>
          </a:prstGeom>
          <a:solidFill>
            <a:srgbClr val="E76F51">
              <a:alpha val="5000"/>
            </a:srgbClr>
          </a:solidFill>
          <a:ln/>
        </p:spPr>
        <p:txBody>
          <a:bodyPr/>
          <a:lstStyle/>
          <a:p>
            <a:endParaRPr lang="en-IN" sz="2400"/>
          </a:p>
        </p:txBody>
      </p:sp>
      <p:sp>
        <p:nvSpPr>
          <p:cNvPr id="31" name="Shape 28"/>
          <p:cNvSpPr/>
          <p:nvPr/>
        </p:nvSpPr>
        <p:spPr>
          <a:xfrm>
            <a:off x="457201" y="4903505"/>
            <a:ext cx="266700" cy="266700"/>
          </a:xfrm>
          <a:prstGeom prst="ellipse">
            <a:avLst/>
          </a:prstGeom>
          <a:solidFill>
            <a:srgbClr val="E76F51"/>
          </a:solidFill>
          <a:ln/>
        </p:spPr>
        <p:txBody>
          <a:bodyPr/>
          <a:lstStyle/>
          <a:p>
            <a:endParaRPr lang="en-IN" sz="2400"/>
          </a:p>
        </p:txBody>
      </p:sp>
      <p:sp>
        <p:nvSpPr>
          <p:cNvPr id="32" name="Text 29"/>
          <p:cNvSpPr/>
          <p:nvPr/>
        </p:nvSpPr>
        <p:spPr>
          <a:xfrm>
            <a:off x="551275" y="4950997"/>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6</a:t>
            </a:r>
            <a:endParaRPr lang="en-US" sz="1116" dirty="0"/>
          </a:p>
        </p:txBody>
      </p:sp>
      <p:sp>
        <p:nvSpPr>
          <p:cNvPr id="33" name="Text 30"/>
          <p:cNvSpPr/>
          <p:nvPr/>
        </p:nvSpPr>
        <p:spPr>
          <a:xfrm>
            <a:off x="838200" y="4846224"/>
            <a:ext cx="141545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Augmented Prompt</a:t>
            </a:r>
            <a:endParaRPr lang="en-US" sz="1116" dirty="0"/>
          </a:p>
        </p:txBody>
      </p:sp>
      <p:sp>
        <p:nvSpPr>
          <p:cNvPr id="34" name="Text 31"/>
          <p:cNvSpPr/>
          <p:nvPr/>
        </p:nvSpPr>
        <p:spPr>
          <a:xfrm>
            <a:off x="838200" y="5085596"/>
            <a:ext cx="359233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Combining query with retrieved context in structured prompt</a:t>
            </a:r>
            <a:endParaRPr lang="en-US" sz="976" dirty="0"/>
          </a:p>
        </p:txBody>
      </p:sp>
      <p:sp>
        <p:nvSpPr>
          <p:cNvPr id="35" name="Shape 32"/>
          <p:cNvSpPr/>
          <p:nvPr/>
        </p:nvSpPr>
        <p:spPr>
          <a:xfrm>
            <a:off x="381000" y="5446431"/>
            <a:ext cx="5572125" cy="590551"/>
          </a:xfrm>
          <a:prstGeom prst="rect">
            <a:avLst/>
          </a:prstGeom>
          <a:solidFill>
            <a:srgbClr val="E76F51">
              <a:alpha val="5000"/>
            </a:srgbClr>
          </a:solidFill>
          <a:ln/>
        </p:spPr>
        <p:txBody>
          <a:bodyPr/>
          <a:lstStyle/>
          <a:p>
            <a:endParaRPr lang="en-IN" sz="2400"/>
          </a:p>
        </p:txBody>
      </p:sp>
      <p:sp>
        <p:nvSpPr>
          <p:cNvPr id="36" name="Shape 33"/>
          <p:cNvSpPr/>
          <p:nvPr/>
        </p:nvSpPr>
        <p:spPr>
          <a:xfrm>
            <a:off x="457201" y="5608356"/>
            <a:ext cx="266700" cy="266700"/>
          </a:xfrm>
          <a:prstGeom prst="ellipse">
            <a:avLst/>
          </a:prstGeom>
          <a:solidFill>
            <a:srgbClr val="E76F51"/>
          </a:solidFill>
          <a:ln/>
        </p:spPr>
        <p:txBody>
          <a:bodyPr/>
          <a:lstStyle/>
          <a:p>
            <a:endParaRPr lang="en-IN" sz="2400"/>
          </a:p>
        </p:txBody>
      </p:sp>
      <p:sp>
        <p:nvSpPr>
          <p:cNvPr id="37" name="Text 34"/>
          <p:cNvSpPr/>
          <p:nvPr/>
        </p:nvSpPr>
        <p:spPr>
          <a:xfrm>
            <a:off x="551275" y="5655848"/>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7</a:t>
            </a:r>
            <a:endParaRPr lang="en-US" sz="1116" dirty="0"/>
          </a:p>
        </p:txBody>
      </p:sp>
      <p:sp>
        <p:nvSpPr>
          <p:cNvPr id="38" name="Text 35"/>
          <p:cNvSpPr/>
          <p:nvPr/>
        </p:nvSpPr>
        <p:spPr>
          <a:xfrm>
            <a:off x="838201" y="5551073"/>
            <a:ext cx="29495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LLM</a:t>
            </a:r>
            <a:endParaRPr lang="en-US" sz="1116" dirty="0"/>
          </a:p>
        </p:txBody>
      </p:sp>
      <p:sp>
        <p:nvSpPr>
          <p:cNvPr id="39" name="Text 36"/>
          <p:cNvSpPr/>
          <p:nvPr/>
        </p:nvSpPr>
        <p:spPr>
          <a:xfrm>
            <a:off x="838201" y="5790447"/>
            <a:ext cx="299280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Generating response based on augmented prompt</a:t>
            </a:r>
            <a:endParaRPr lang="en-US" sz="976" dirty="0"/>
          </a:p>
        </p:txBody>
      </p:sp>
      <p:sp>
        <p:nvSpPr>
          <p:cNvPr id="40" name="Shape 37"/>
          <p:cNvSpPr/>
          <p:nvPr/>
        </p:nvSpPr>
        <p:spPr>
          <a:xfrm>
            <a:off x="381000" y="6151281"/>
            <a:ext cx="5572125" cy="590551"/>
          </a:xfrm>
          <a:prstGeom prst="rect">
            <a:avLst/>
          </a:prstGeom>
          <a:solidFill>
            <a:srgbClr val="E76F51">
              <a:alpha val="5000"/>
            </a:srgbClr>
          </a:solidFill>
          <a:ln/>
        </p:spPr>
        <p:txBody>
          <a:bodyPr/>
          <a:lstStyle/>
          <a:p>
            <a:endParaRPr lang="en-IN" sz="2400"/>
          </a:p>
        </p:txBody>
      </p:sp>
      <p:sp>
        <p:nvSpPr>
          <p:cNvPr id="41" name="Shape 38"/>
          <p:cNvSpPr/>
          <p:nvPr/>
        </p:nvSpPr>
        <p:spPr>
          <a:xfrm>
            <a:off x="457201" y="6313205"/>
            <a:ext cx="266700" cy="266700"/>
          </a:xfrm>
          <a:prstGeom prst="ellipse">
            <a:avLst/>
          </a:prstGeom>
          <a:solidFill>
            <a:srgbClr val="E76F51"/>
          </a:solidFill>
          <a:ln/>
        </p:spPr>
        <p:txBody>
          <a:bodyPr/>
          <a:lstStyle/>
          <a:p>
            <a:endParaRPr lang="en-IN" sz="2400"/>
          </a:p>
        </p:txBody>
      </p:sp>
      <p:sp>
        <p:nvSpPr>
          <p:cNvPr id="42" name="Text 39"/>
          <p:cNvSpPr/>
          <p:nvPr/>
        </p:nvSpPr>
        <p:spPr>
          <a:xfrm>
            <a:off x="551275" y="6360697"/>
            <a:ext cx="7854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8</a:t>
            </a:r>
            <a:endParaRPr lang="en-US" sz="1116" dirty="0"/>
          </a:p>
        </p:txBody>
      </p:sp>
      <p:sp>
        <p:nvSpPr>
          <p:cNvPr id="43" name="Text 40"/>
          <p:cNvSpPr/>
          <p:nvPr/>
        </p:nvSpPr>
        <p:spPr>
          <a:xfrm>
            <a:off x="838200" y="6255924"/>
            <a:ext cx="113172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Post-processors</a:t>
            </a:r>
            <a:endParaRPr lang="en-US" sz="1116" dirty="0"/>
          </a:p>
        </p:txBody>
      </p:sp>
      <p:sp>
        <p:nvSpPr>
          <p:cNvPr id="44" name="Text 41"/>
          <p:cNvSpPr/>
          <p:nvPr/>
        </p:nvSpPr>
        <p:spPr>
          <a:xfrm>
            <a:off x="838201" y="6495296"/>
            <a:ext cx="297357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Citation generation, formatting, and quality checks</a:t>
            </a:r>
            <a:endParaRPr lang="en-US" sz="976" dirty="0"/>
          </a:p>
        </p:txBody>
      </p:sp>
      <p:pic>
        <p:nvPicPr>
          <p:cNvPr id="45" name="Image 1" descr="preencoded.png"/>
          <p:cNvPicPr>
            <a:picLocks noChangeAspect="1"/>
          </p:cNvPicPr>
          <p:nvPr/>
        </p:nvPicPr>
        <p:blipFill>
          <a:blip r:embed="rId3"/>
          <a:stretch>
            <a:fillRect/>
          </a:stretch>
        </p:blipFill>
        <p:spPr>
          <a:xfrm>
            <a:off x="6238875" y="1085851"/>
            <a:ext cx="5572125" cy="333375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74777-E22E-AD25-1863-C8F159F6A14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5C19959-8CCD-013C-786C-1D581AA1A7FA}"/>
              </a:ext>
            </a:extLst>
          </p:cNvPr>
          <p:cNvSpPr>
            <a:spLocks noGrp="1"/>
          </p:cNvSpPr>
          <p:nvPr>
            <p:ph type="body" sz="quarter" idx="12"/>
          </p:nvPr>
        </p:nvSpPr>
        <p:spPr/>
        <p:txBody>
          <a:bodyPr>
            <a:normAutofit lnSpcReduction="10000"/>
          </a:bodyPr>
          <a:lstStyle/>
          <a:p>
            <a:r>
              <a:rPr lang="en-US" dirty="0">
                <a:latin typeface="Calibri (Headings)"/>
              </a:rPr>
              <a:t>Retrieval Augmented Generation</a:t>
            </a:r>
          </a:p>
        </p:txBody>
      </p:sp>
      <p:sp>
        <p:nvSpPr>
          <p:cNvPr id="3" name="Text Placeholder 2">
            <a:extLst>
              <a:ext uri="{FF2B5EF4-FFF2-40B4-BE49-F238E27FC236}">
                <a16:creationId xmlns:a16="http://schemas.microsoft.com/office/drawing/2014/main" id="{081122BE-60FD-D33D-5955-64C488B33C96}"/>
              </a:ext>
            </a:extLst>
          </p:cNvPr>
          <p:cNvSpPr>
            <a:spLocks noGrp="1"/>
          </p:cNvSpPr>
          <p:nvPr>
            <p:ph type="body" sz="quarter" idx="13"/>
          </p:nvPr>
        </p:nvSpPr>
        <p:spPr/>
        <p:txBody>
          <a:bodyPr/>
          <a:lstStyle/>
          <a:p>
            <a:r>
              <a:rPr lang="en-US" dirty="0">
                <a:latin typeface="Calibri (Headings)"/>
              </a:rPr>
              <a:t>Vector Databases</a:t>
            </a:r>
          </a:p>
        </p:txBody>
      </p:sp>
      <p:graphicFrame>
        <p:nvGraphicFramePr>
          <p:cNvPr id="5" name="Content Placeholder 3">
            <a:extLst>
              <a:ext uri="{FF2B5EF4-FFF2-40B4-BE49-F238E27FC236}">
                <a16:creationId xmlns:a16="http://schemas.microsoft.com/office/drawing/2014/main" id="{6E98E555-A76D-CAD7-B649-32FEBA7BFE84}"/>
              </a:ext>
            </a:extLst>
          </p:cNvPr>
          <p:cNvGraphicFramePr>
            <a:graphicFrameLocks/>
          </p:cNvGraphicFramePr>
          <p:nvPr/>
        </p:nvGraphicFramePr>
        <p:xfrm>
          <a:off x="642801" y="1518523"/>
          <a:ext cx="11078400" cy="4811549"/>
        </p:xfrm>
        <a:graphic>
          <a:graphicData uri="http://schemas.openxmlformats.org/drawingml/2006/table">
            <a:tbl>
              <a:tblPr firstRow="1">
                <a:tableStyleId>{5C22544A-7EE6-4342-B048-85BDC9FD1C3A}</a:tableStyleId>
              </a:tblPr>
              <a:tblGrid>
                <a:gridCol w="1139107">
                  <a:extLst>
                    <a:ext uri="{9D8B030D-6E8A-4147-A177-3AD203B41FA5}">
                      <a16:colId xmlns:a16="http://schemas.microsoft.com/office/drawing/2014/main" val="3315668899"/>
                    </a:ext>
                  </a:extLst>
                </a:gridCol>
                <a:gridCol w="1371600">
                  <a:extLst>
                    <a:ext uri="{9D8B030D-6E8A-4147-A177-3AD203B41FA5}">
                      <a16:colId xmlns:a16="http://schemas.microsoft.com/office/drawing/2014/main" val="4183520345"/>
                    </a:ext>
                  </a:extLst>
                </a:gridCol>
                <a:gridCol w="1770184">
                  <a:extLst>
                    <a:ext uri="{9D8B030D-6E8A-4147-A177-3AD203B41FA5}">
                      <a16:colId xmlns:a16="http://schemas.microsoft.com/office/drawing/2014/main" val="2501461395"/>
                    </a:ext>
                  </a:extLst>
                </a:gridCol>
                <a:gridCol w="1641231">
                  <a:extLst>
                    <a:ext uri="{9D8B030D-6E8A-4147-A177-3AD203B41FA5}">
                      <a16:colId xmlns:a16="http://schemas.microsoft.com/office/drawing/2014/main" val="904409878"/>
                    </a:ext>
                  </a:extLst>
                </a:gridCol>
                <a:gridCol w="1735015">
                  <a:extLst>
                    <a:ext uri="{9D8B030D-6E8A-4147-A177-3AD203B41FA5}">
                      <a16:colId xmlns:a16="http://schemas.microsoft.com/office/drawing/2014/main" val="3912144554"/>
                    </a:ext>
                  </a:extLst>
                </a:gridCol>
                <a:gridCol w="1664677">
                  <a:extLst>
                    <a:ext uri="{9D8B030D-6E8A-4147-A177-3AD203B41FA5}">
                      <a16:colId xmlns:a16="http://schemas.microsoft.com/office/drawing/2014/main" val="2309208900"/>
                    </a:ext>
                  </a:extLst>
                </a:gridCol>
                <a:gridCol w="1756586">
                  <a:extLst>
                    <a:ext uri="{9D8B030D-6E8A-4147-A177-3AD203B41FA5}">
                      <a16:colId xmlns:a16="http://schemas.microsoft.com/office/drawing/2014/main" val="2367453171"/>
                    </a:ext>
                  </a:extLst>
                </a:gridCol>
              </a:tblGrid>
              <a:tr h="315598">
                <a:tc>
                  <a:txBody>
                    <a:bodyPr/>
                    <a:lstStyle/>
                    <a:p>
                      <a:r>
                        <a:rPr lang="en-IN" sz="1050" dirty="0">
                          <a:latin typeface="Microsoft JhengHei" panose="020B0604030504040204" pitchFamily="34" charset="-120"/>
                          <a:ea typeface="Microsoft JhengHei" panose="020B0604030504040204" pitchFamily="34" charset="-120"/>
                        </a:rPr>
                        <a:t>Tool</a:t>
                      </a:r>
                    </a:p>
                  </a:txBody>
                  <a:tcPr marL="22663" marR="22663" marT="11332" marB="11332" anchor="ctr"/>
                </a:tc>
                <a:tc>
                  <a:txBody>
                    <a:bodyPr/>
                    <a:lstStyle/>
                    <a:p>
                      <a:r>
                        <a:rPr lang="en-IN" sz="1050">
                          <a:latin typeface="Microsoft JhengHei" panose="020B0604030504040204" pitchFamily="34" charset="-120"/>
                          <a:ea typeface="Microsoft JhengHei" panose="020B0604030504040204" pitchFamily="34" charset="-120"/>
                        </a:rPr>
                        <a:t>License</a:t>
                      </a:r>
                    </a:p>
                  </a:txBody>
                  <a:tcPr marL="22663" marR="22663" marT="11332" marB="11332" anchor="ctr"/>
                </a:tc>
                <a:tc>
                  <a:txBody>
                    <a:bodyPr/>
                    <a:lstStyle/>
                    <a:p>
                      <a:r>
                        <a:rPr lang="en-IN" sz="1050">
                          <a:latin typeface="Microsoft JhengHei" panose="020B0604030504040204" pitchFamily="34" charset="-120"/>
                          <a:ea typeface="Microsoft JhengHei" panose="020B0604030504040204" pitchFamily="34" charset="-120"/>
                        </a:rPr>
                        <a:t>Deployment Model</a:t>
                      </a:r>
                    </a:p>
                  </a:txBody>
                  <a:tcPr marL="22663" marR="22663" marT="11332" marB="11332" anchor="ctr"/>
                </a:tc>
                <a:tc>
                  <a:txBody>
                    <a:bodyPr/>
                    <a:lstStyle/>
                    <a:p>
                      <a:r>
                        <a:rPr lang="en-IN" sz="1050">
                          <a:latin typeface="Microsoft JhengHei" panose="020B0604030504040204" pitchFamily="34" charset="-120"/>
                          <a:ea typeface="Microsoft JhengHei" panose="020B0604030504040204" pitchFamily="34" charset="-120"/>
                        </a:rPr>
                        <a:t>Indexing &amp; Query</a:t>
                      </a:r>
                    </a:p>
                  </a:txBody>
                  <a:tcPr marL="22663" marR="22663" marT="11332" marB="11332" anchor="ctr"/>
                </a:tc>
                <a:tc>
                  <a:txBody>
                    <a:bodyPr/>
                    <a:lstStyle/>
                    <a:p>
                      <a:r>
                        <a:rPr lang="en-IN" sz="1050">
                          <a:latin typeface="Microsoft JhengHei" panose="020B0604030504040204" pitchFamily="34" charset="-120"/>
                          <a:ea typeface="Microsoft JhengHei" panose="020B0604030504040204" pitchFamily="34" charset="-120"/>
                        </a:rPr>
                        <a:t>Scalability</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SDK / Language Support</a:t>
                      </a:r>
                    </a:p>
                  </a:txBody>
                  <a:tcPr marL="22663" marR="22663" marT="11332" marB="11332" anchor="ctr"/>
                </a:tc>
                <a:tc>
                  <a:txBody>
                    <a:bodyPr/>
                    <a:lstStyle/>
                    <a:p>
                      <a:r>
                        <a:rPr lang="en-IN" sz="1050">
                          <a:latin typeface="Microsoft JhengHei" panose="020B0604030504040204" pitchFamily="34" charset="-120"/>
                          <a:ea typeface="Microsoft JhengHei" panose="020B0604030504040204" pitchFamily="34" charset="-120"/>
                        </a:rPr>
                        <a:t>Best For</a:t>
                      </a:r>
                    </a:p>
                  </a:txBody>
                  <a:tcPr marL="22663" marR="22663" marT="11332" marB="11332" anchor="ctr"/>
                </a:tc>
                <a:extLst>
                  <a:ext uri="{0D108BD9-81ED-4DB2-BD59-A6C34878D82A}">
                    <a16:rowId xmlns:a16="http://schemas.microsoft.com/office/drawing/2014/main" val="4243644923"/>
                  </a:ext>
                </a:extLst>
              </a:tr>
              <a:tr h="431522">
                <a:tc>
                  <a:txBody>
                    <a:bodyPr/>
                    <a:lstStyle/>
                    <a:p>
                      <a:r>
                        <a:rPr lang="en-IN" sz="1050" b="1">
                          <a:latin typeface="Microsoft JhengHei" panose="020B0604030504040204" pitchFamily="34" charset="-120"/>
                          <a:ea typeface="Microsoft JhengHei" panose="020B0604030504040204" pitchFamily="34" charset="-120"/>
                        </a:rPr>
                        <a:t>Pinecone</a:t>
                      </a:r>
                      <a:endParaRPr lang="en-IN" sz="105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Proprietary</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Fully managed cloud-only </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ANN (HNSW, IVF) + hybrid </a:t>
                      </a:r>
                      <a:r>
                        <a:rPr lang="en-IN" sz="1050" dirty="0" err="1">
                          <a:latin typeface="Microsoft JhengHei" panose="020B0604030504040204" pitchFamily="34" charset="-120"/>
                          <a:ea typeface="Microsoft JhengHei" panose="020B0604030504040204" pitchFamily="34" charset="-120"/>
                        </a:rPr>
                        <a:t>vector+keyword</a:t>
                      </a:r>
                      <a:endParaRPr lang="en-IN" sz="1050" dirty="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Billions of vectors via serverless shards</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Python, Go, Java, Node.js, C#</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Enterprise-grade similarity search at scale</a:t>
                      </a:r>
                    </a:p>
                  </a:txBody>
                  <a:tcPr marL="22663" marR="22663" marT="11332" marB="11332" anchor="ctr"/>
                </a:tc>
                <a:extLst>
                  <a:ext uri="{0D108BD9-81ED-4DB2-BD59-A6C34878D82A}">
                    <a16:rowId xmlns:a16="http://schemas.microsoft.com/office/drawing/2014/main" val="671863416"/>
                  </a:ext>
                </a:extLst>
              </a:tr>
              <a:tr h="687961">
                <a:tc>
                  <a:txBody>
                    <a:bodyPr/>
                    <a:lstStyle/>
                    <a:p>
                      <a:r>
                        <a:rPr lang="en-IN" sz="1050" b="1">
                          <a:latin typeface="Microsoft JhengHei" panose="020B0604030504040204" pitchFamily="34" charset="-120"/>
                          <a:ea typeface="Microsoft JhengHei" panose="020B0604030504040204" pitchFamily="34" charset="-120"/>
                        </a:rPr>
                        <a:t>Weaviate</a:t>
                      </a:r>
                      <a:endParaRPr lang="en-IN" sz="105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BSD-3-Clause</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Self-host (k8s/Docker) or managed </a:t>
                      </a:r>
                      <a:r>
                        <a:rPr lang="en-US" sz="1050" dirty="0" err="1">
                          <a:latin typeface="Microsoft JhengHei" panose="020B0604030504040204" pitchFamily="34" charset="-120"/>
                          <a:ea typeface="Microsoft JhengHei" panose="020B0604030504040204" pitchFamily="34" charset="-120"/>
                        </a:rPr>
                        <a:t>Weaviate</a:t>
                      </a:r>
                      <a:r>
                        <a:rPr lang="en-US" sz="1050" dirty="0">
                          <a:latin typeface="Microsoft JhengHei" panose="020B0604030504040204" pitchFamily="34" charset="-120"/>
                          <a:ea typeface="Microsoft JhengHei" panose="020B0604030504040204" pitchFamily="34" charset="-120"/>
                        </a:rPr>
                        <a:t> Cloud</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HNSW (default) &amp; flat indexes; semantic + hybrid via </a:t>
                      </a:r>
                      <a:r>
                        <a:rPr lang="en-IN" sz="1050" dirty="0" err="1">
                          <a:latin typeface="Microsoft JhengHei" panose="020B0604030504040204" pitchFamily="34" charset="-120"/>
                          <a:ea typeface="Microsoft JhengHei" panose="020B0604030504040204" pitchFamily="34" charset="-120"/>
                        </a:rPr>
                        <a:t>GraphQL</a:t>
                      </a:r>
                      <a:r>
                        <a:rPr lang="en-IN" sz="1050" dirty="0">
                          <a:latin typeface="Microsoft JhengHei" panose="020B0604030504040204" pitchFamily="34" charset="-120"/>
                          <a:ea typeface="Microsoft JhengHei" panose="020B0604030504040204" pitchFamily="34" charset="-120"/>
                        </a:rPr>
                        <a:t>/REST</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Sharded clusters for billions of vectors</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Python, TypeScript/JavaScript, Go, Java</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Semantic search &amp; knowledge-graph use cases</a:t>
                      </a:r>
                    </a:p>
                  </a:txBody>
                  <a:tcPr marL="22663" marR="22663" marT="11332" marB="11332" anchor="ctr"/>
                </a:tc>
                <a:extLst>
                  <a:ext uri="{0D108BD9-81ED-4DB2-BD59-A6C34878D82A}">
                    <a16:rowId xmlns:a16="http://schemas.microsoft.com/office/drawing/2014/main" val="538457323"/>
                  </a:ext>
                </a:extLst>
              </a:tr>
              <a:tr h="569656">
                <a:tc>
                  <a:txBody>
                    <a:bodyPr/>
                    <a:lstStyle/>
                    <a:p>
                      <a:r>
                        <a:rPr lang="en-IN" sz="1050" b="1">
                          <a:latin typeface="Microsoft JhengHei" panose="020B0604030504040204" pitchFamily="34" charset="-120"/>
                          <a:ea typeface="Microsoft JhengHei" panose="020B0604030504040204" pitchFamily="34" charset="-120"/>
                        </a:rPr>
                        <a:t>Milvus</a:t>
                      </a:r>
                      <a:endParaRPr lang="en-IN" sz="105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Apache-2.0</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Embedded, standalone, distributed cluster or </a:t>
                      </a:r>
                      <a:r>
                        <a:rPr lang="en-US" sz="1050" dirty="0" err="1">
                          <a:latin typeface="Microsoft JhengHei" panose="020B0604030504040204" pitchFamily="34" charset="-120"/>
                          <a:ea typeface="Microsoft JhengHei" panose="020B0604030504040204" pitchFamily="34" charset="-120"/>
                        </a:rPr>
                        <a:t>Zilliz</a:t>
                      </a:r>
                      <a:r>
                        <a:rPr lang="en-US" sz="1050" dirty="0">
                          <a:latin typeface="Microsoft JhengHei" panose="020B0604030504040204" pitchFamily="34" charset="-120"/>
                          <a:ea typeface="Microsoft JhengHei" panose="020B0604030504040204" pitchFamily="34" charset="-120"/>
                        </a:rPr>
                        <a:t> Cloud</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IVF, HNSW, ANNOY; GPU-accelerated indexing &amp; search</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Trillion-scale, auto-sharding &amp; independent storage/compute</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Python, Java, Go, Node.js, C#, C++</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High-throughput, GPU-accelerated analytics</a:t>
                      </a:r>
                    </a:p>
                  </a:txBody>
                  <a:tcPr marL="22663" marR="22663" marT="11332" marB="11332" anchor="ctr"/>
                </a:tc>
                <a:extLst>
                  <a:ext uri="{0D108BD9-81ED-4DB2-BD59-A6C34878D82A}">
                    <a16:rowId xmlns:a16="http://schemas.microsoft.com/office/drawing/2014/main" val="4170076228"/>
                  </a:ext>
                </a:extLst>
              </a:tr>
              <a:tr h="486944">
                <a:tc>
                  <a:txBody>
                    <a:bodyPr/>
                    <a:lstStyle/>
                    <a:p>
                      <a:r>
                        <a:rPr lang="en-IN" sz="1050" b="1">
                          <a:latin typeface="Microsoft JhengHei" panose="020B0604030504040204" pitchFamily="34" charset="-120"/>
                          <a:ea typeface="Microsoft JhengHei" panose="020B0604030504040204" pitchFamily="34" charset="-120"/>
                        </a:rPr>
                        <a:t>Qdrant</a:t>
                      </a:r>
                      <a:endParaRPr lang="en-IN" sz="105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Apache-2.0</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Self-host (Docker/K8s) or </a:t>
                      </a:r>
                      <a:r>
                        <a:rPr lang="en-US" sz="1050" dirty="0" err="1">
                          <a:latin typeface="Microsoft JhengHei" panose="020B0604030504040204" pitchFamily="34" charset="-120"/>
                          <a:ea typeface="Microsoft JhengHei" panose="020B0604030504040204" pitchFamily="34" charset="-120"/>
                        </a:rPr>
                        <a:t>Qdrant</a:t>
                      </a:r>
                      <a:r>
                        <a:rPr lang="en-US" sz="1050" dirty="0">
                          <a:latin typeface="Microsoft JhengHei" panose="020B0604030504040204" pitchFamily="34" charset="-120"/>
                          <a:ea typeface="Microsoft JhengHei" panose="020B0604030504040204" pitchFamily="34" charset="-120"/>
                        </a:rPr>
                        <a:t> Cloud</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HNSW with metadata filtering &amp; payload indexes</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Sustained high throughput &amp; low latency clusters</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Python, Rust, Go, TypeScript, Java, C#</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Filterable similarity search in production</a:t>
                      </a:r>
                    </a:p>
                  </a:txBody>
                  <a:tcPr marL="22663" marR="22663" marT="11332" marB="11332" anchor="ctr"/>
                </a:tc>
                <a:extLst>
                  <a:ext uri="{0D108BD9-81ED-4DB2-BD59-A6C34878D82A}">
                    <a16:rowId xmlns:a16="http://schemas.microsoft.com/office/drawing/2014/main" val="3737780087"/>
                  </a:ext>
                </a:extLst>
              </a:tr>
              <a:tr h="569656">
                <a:tc>
                  <a:txBody>
                    <a:bodyPr/>
                    <a:lstStyle/>
                    <a:p>
                      <a:r>
                        <a:rPr lang="en-IN" sz="1050" b="1" dirty="0">
                          <a:latin typeface="Microsoft JhengHei" panose="020B0604030504040204" pitchFamily="34" charset="-120"/>
                          <a:ea typeface="Microsoft JhengHei" panose="020B0604030504040204" pitchFamily="34" charset="-120"/>
                        </a:rPr>
                        <a:t>Redis Vector Search</a:t>
                      </a:r>
                      <a:endParaRPr lang="en-IN" sz="1050" dirty="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fr-FR" sz="1050" dirty="0">
                          <a:latin typeface="Microsoft JhengHei" panose="020B0604030504040204" pitchFamily="34" charset="-120"/>
                          <a:ea typeface="Microsoft JhengHei" panose="020B0604030504040204" pitchFamily="34" charset="-120"/>
                        </a:rPr>
                        <a:t>Redis Source </a:t>
                      </a:r>
                      <a:r>
                        <a:rPr lang="fr-FR" sz="1050" dirty="0" err="1">
                          <a:latin typeface="Microsoft JhengHei" panose="020B0604030504040204" pitchFamily="34" charset="-120"/>
                          <a:ea typeface="Microsoft JhengHei" panose="020B0604030504040204" pitchFamily="34" charset="-120"/>
                        </a:rPr>
                        <a:t>Available</a:t>
                      </a:r>
                      <a:r>
                        <a:rPr lang="fr-FR" sz="1050" dirty="0">
                          <a:latin typeface="Microsoft JhengHei" panose="020B0604030504040204" pitchFamily="34" charset="-120"/>
                          <a:ea typeface="Microsoft JhengHei" panose="020B0604030504040204" pitchFamily="34" charset="-120"/>
                        </a:rPr>
                        <a:t> License (RSAL) </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Embedded in Redis; self-managed or via Redis Cloud</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KNN vector search (HNSW) via FT.SEARCH; </a:t>
                      </a:r>
                      <a:r>
                        <a:rPr lang="en-IN" sz="1050" dirty="0" err="1">
                          <a:latin typeface="Microsoft JhengHei" panose="020B0604030504040204" pitchFamily="34" charset="-120"/>
                          <a:ea typeface="Microsoft JhengHei" panose="020B0604030504040204" pitchFamily="34" charset="-120"/>
                        </a:rPr>
                        <a:t>vector+text</a:t>
                      </a:r>
                      <a:r>
                        <a:rPr lang="en-IN" sz="1050" dirty="0">
                          <a:latin typeface="Microsoft JhengHei" panose="020B0604030504040204" pitchFamily="34" charset="-120"/>
                          <a:ea typeface="Microsoft JhengHei" panose="020B0604030504040204" pitchFamily="34" charset="-120"/>
                        </a:rPr>
                        <a:t> filtering</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Scales to billions with sharded clusters &amp; HNSW tuning</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Any Redis client: Python, Java, Node.js, Go, .NET</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Lightning-fast vector search in existing Redis deployments</a:t>
                      </a:r>
                    </a:p>
                  </a:txBody>
                  <a:tcPr marL="22663" marR="22663" marT="11332" marB="11332" anchor="ctr"/>
                </a:tc>
                <a:extLst>
                  <a:ext uri="{0D108BD9-81ED-4DB2-BD59-A6C34878D82A}">
                    <a16:rowId xmlns:a16="http://schemas.microsoft.com/office/drawing/2014/main" val="548496324"/>
                  </a:ext>
                </a:extLst>
              </a:tr>
              <a:tr h="610324">
                <a:tc>
                  <a:txBody>
                    <a:bodyPr/>
                    <a:lstStyle/>
                    <a:p>
                      <a:r>
                        <a:rPr lang="en-IN" sz="1050" b="1">
                          <a:latin typeface="Microsoft JhengHei" panose="020B0604030504040204" pitchFamily="34" charset="-120"/>
                          <a:ea typeface="Microsoft JhengHei" panose="020B0604030504040204" pitchFamily="34" charset="-120"/>
                        </a:rPr>
                        <a:t>ChromaDB</a:t>
                      </a:r>
                      <a:endParaRPr lang="en-IN" sz="105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Apache-2.0</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Docker, serverless (Cloud Run) or embed in Python app</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In-memory ANN (HNSW) + persistent object store; cosine/Euclidean</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Suited for small to medium projects &amp; prototyping</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Python</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Lightweight prototyping &amp; small-scale similarity apps</a:t>
                      </a:r>
                    </a:p>
                  </a:txBody>
                  <a:tcPr marL="22663" marR="22663" marT="11332" marB="11332" anchor="ctr"/>
                </a:tc>
                <a:extLst>
                  <a:ext uri="{0D108BD9-81ED-4DB2-BD59-A6C34878D82A}">
                    <a16:rowId xmlns:a16="http://schemas.microsoft.com/office/drawing/2014/main" val="3569949303"/>
                  </a:ext>
                </a:extLst>
              </a:tr>
              <a:tr h="488230">
                <a:tc>
                  <a:txBody>
                    <a:bodyPr/>
                    <a:lstStyle/>
                    <a:p>
                      <a:r>
                        <a:rPr lang="en-IN" sz="1050" b="1">
                          <a:latin typeface="Microsoft JhengHei" panose="020B0604030504040204" pitchFamily="34" charset="-120"/>
                          <a:ea typeface="Microsoft JhengHei" panose="020B0604030504040204" pitchFamily="34" charset="-120"/>
                        </a:rPr>
                        <a:t>Faiss</a:t>
                      </a:r>
                      <a:endParaRPr lang="en-IN" sz="105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MIT License</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Embedded/in-process library</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Exact (Flat) &amp; ANN (IVF, HNSW, PQ) with GPU acceleration</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Handles billions of vectors with CPU &amp; GPU support</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Python, C++</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High-performance research &amp; large-scale similarity search</a:t>
                      </a:r>
                    </a:p>
                  </a:txBody>
                  <a:tcPr marL="22663" marR="22663" marT="11332" marB="11332" anchor="ctr"/>
                </a:tc>
                <a:extLst>
                  <a:ext uri="{0D108BD9-81ED-4DB2-BD59-A6C34878D82A}">
                    <a16:rowId xmlns:a16="http://schemas.microsoft.com/office/drawing/2014/main" val="2189841802"/>
                  </a:ext>
                </a:extLst>
              </a:tr>
              <a:tr h="621384">
                <a:tc>
                  <a:txBody>
                    <a:bodyPr/>
                    <a:lstStyle/>
                    <a:p>
                      <a:r>
                        <a:rPr lang="en-IN" sz="1050" b="1">
                          <a:latin typeface="Microsoft JhengHei" panose="020B0604030504040204" pitchFamily="34" charset="-120"/>
                          <a:ea typeface="Microsoft JhengHei" panose="020B0604030504040204" pitchFamily="34" charset="-120"/>
                        </a:rPr>
                        <a:t>Azure Cognitive Search</a:t>
                      </a:r>
                      <a:endParaRPr lang="en-IN" sz="1050">
                        <a:latin typeface="Microsoft JhengHei" panose="020B0604030504040204" pitchFamily="34" charset="-120"/>
                        <a:ea typeface="Microsoft JhengHei" panose="020B0604030504040204" pitchFamily="34" charset="-120"/>
                      </a:endParaRP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Proprietary (Microsoft-managed PaaS)</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Fully managed cloud PaaS</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Nearest Neighbors ANN on vector fields</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Scales via search units (partitions &amp; replicas) for millions of docs &amp; vectors</a:t>
                      </a:r>
                    </a:p>
                  </a:txBody>
                  <a:tcPr marL="22663" marR="22663" marT="11332" marB="11332" anchor="ctr"/>
                </a:tc>
                <a:tc>
                  <a:txBody>
                    <a:bodyPr/>
                    <a:lstStyle/>
                    <a:p>
                      <a:r>
                        <a:rPr lang="en-IN" sz="1050" dirty="0">
                          <a:latin typeface="Microsoft JhengHei" panose="020B0604030504040204" pitchFamily="34" charset="-120"/>
                          <a:ea typeface="Microsoft JhengHei" panose="020B0604030504040204" pitchFamily="34" charset="-120"/>
                        </a:rPr>
                        <a:t>.NET, Java, Python, JavaScript, REST API</a:t>
                      </a:r>
                    </a:p>
                  </a:txBody>
                  <a:tcPr marL="22663" marR="22663" marT="11332" marB="11332" anchor="ctr"/>
                </a:tc>
                <a:tc>
                  <a:txBody>
                    <a:bodyPr/>
                    <a:lstStyle/>
                    <a:p>
                      <a:r>
                        <a:rPr lang="en-US" sz="1050" dirty="0">
                          <a:latin typeface="Microsoft JhengHei" panose="020B0604030504040204" pitchFamily="34" charset="-120"/>
                          <a:ea typeface="Microsoft JhengHei" panose="020B0604030504040204" pitchFamily="34" charset="-120"/>
                        </a:rPr>
                        <a:t>Enterprise-grade PaaS vector search integrated with Azure </a:t>
                      </a:r>
                    </a:p>
                  </a:txBody>
                  <a:tcPr marL="22663" marR="22663" marT="11332" marB="11332" anchor="ctr"/>
                </a:tc>
                <a:extLst>
                  <a:ext uri="{0D108BD9-81ED-4DB2-BD59-A6C34878D82A}">
                    <a16:rowId xmlns:a16="http://schemas.microsoft.com/office/drawing/2014/main" val="156255518"/>
                  </a:ext>
                </a:extLst>
              </a:tr>
            </a:tbl>
          </a:graphicData>
        </a:graphic>
      </p:graphicFrame>
    </p:spTree>
    <p:extLst>
      <p:ext uri="{BB962C8B-B14F-4D97-AF65-F5344CB8AC3E}">
        <p14:creationId xmlns:p14="http://schemas.microsoft.com/office/powerpoint/2010/main" val="2115656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3230051"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RAG Best Practices</a:t>
            </a:r>
            <a:endParaRPr lang="en-US" sz="2700" dirty="0"/>
          </a:p>
        </p:txBody>
      </p:sp>
      <p:sp>
        <p:nvSpPr>
          <p:cNvPr id="4" name="Text 1"/>
          <p:cNvSpPr/>
          <p:nvPr/>
        </p:nvSpPr>
        <p:spPr>
          <a:xfrm>
            <a:off x="381000" y="1120688"/>
            <a:ext cx="2300310"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Document Processing</a:t>
            </a:r>
            <a:endParaRPr lang="en-US" sz="1651" dirty="0"/>
          </a:p>
        </p:txBody>
      </p:sp>
      <p:sp>
        <p:nvSpPr>
          <p:cNvPr id="5" name="Shape 2"/>
          <p:cNvSpPr/>
          <p:nvPr/>
        </p:nvSpPr>
        <p:spPr>
          <a:xfrm>
            <a:off x="381000" y="1543051"/>
            <a:ext cx="5572125" cy="781051"/>
          </a:xfrm>
          <a:prstGeom prst="rect">
            <a:avLst/>
          </a:prstGeom>
          <a:solidFill>
            <a:srgbClr val="E76F51">
              <a:alpha val="5000"/>
            </a:srgbClr>
          </a:solidFill>
          <a:ln/>
        </p:spPr>
        <p:txBody>
          <a:bodyPr/>
          <a:lstStyle/>
          <a:p>
            <a:endParaRPr lang="en-IN" sz="2400"/>
          </a:p>
        </p:txBody>
      </p:sp>
      <p:sp>
        <p:nvSpPr>
          <p:cNvPr id="6" name="Shape 3"/>
          <p:cNvSpPr/>
          <p:nvPr/>
        </p:nvSpPr>
        <p:spPr>
          <a:xfrm>
            <a:off x="457200" y="1638300"/>
            <a:ext cx="228600" cy="228600"/>
          </a:xfrm>
          <a:prstGeom prst="ellipse">
            <a:avLst/>
          </a:prstGeom>
          <a:solidFill>
            <a:srgbClr val="E76F51"/>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04826" y="1747838"/>
            <a:ext cx="133351" cy="9525"/>
          </a:xfrm>
          <a:prstGeom prst="rect">
            <a:avLst/>
          </a:prstGeom>
        </p:spPr>
      </p:pic>
      <p:sp>
        <p:nvSpPr>
          <p:cNvPr id="8" name="Text 4"/>
          <p:cNvSpPr/>
          <p:nvPr/>
        </p:nvSpPr>
        <p:spPr>
          <a:xfrm>
            <a:off x="800101" y="1647694"/>
            <a:ext cx="1957267"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Optimal Chunking Strategy</a:t>
            </a:r>
            <a:endParaRPr lang="en-US" sz="1116" dirty="0"/>
          </a:p>
        </p:txBody>
      </p:sp>
      <p:sp>
        <p:nvSpPr>
          <p:cNvPr id="9" name="Text 5"/>
          <p:cNvSpPr/>
          <p:nvPr/>
        </p:nvSpPr>
        <p:spPr>
          <a:xfrm>
            <a:off x="800101" y="1982316"/>
            <a:ext cx="5076825"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Use semantic chunking with appropriate size (150-500 tokens) and overlap (10-20%).</a:t>
            </a:r>
            <a:endParaRPr lang="en-US" sz="976" dirty="0"/>
          </a:p>
        </p:txBody>
      </p:sp>
      <p:sp>
        <p:nvSpPr>
          <p:cNvPr id="10" name="Shape 6"/>
          <p:cNvSpPr/>
          <p:nvPr/>
        </p:nvSpPr>
        <p:spPr>
          <a:xfrm>
            <a:off x="381000" y="2495551"/>
            <a:ext cx="5572125" cy="590551"/>
          </a:xfrm>
          <a:prstGeom prst="rect">
            <a:avLst/>
          </a:prstGeom>
          <a:solidFill>
            <a:srgbClr val="E76F51">
              <a:alpha val="5000"/>
            </a:srgbClr>
          </a:solidFill>
          <a:ln/>
        </p:spPr>
        <p:txBody>
          <a:bodyPr/>
          <a:lstStyle/>
          <a:p>
            <a:endParaRPr lang="en-IN" sz="2400"/>
          </a:p>
        </p:txBody>
      </p:sp>
      <p:sp>
        <p:nvSpPr>
          <p:cNvPr id="11" name="Shape 7"/>
          <p:cNvSpPr/>
          <p:nvPr/>
        </p:nvSpPr>
        <p:spPr>
          <a:xfrm>
            <a:off x="457200" y="2590800"/>
            <a:ext cx="228600" cy="228600"/>
          </a:xfrm>
          <a:prstGeom prst="ellipse">
            <a:avLst/>
          </a:prstGeom>
          <a:solidFill>
            <a:srgbClr val="E76F51"/>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04826" y="2700338"/>
            <a:ext cx="133351" cy="9525"/>
          </a:xfrm>
          <a:prstGeom prst="rect">
            <a:avLst/>
          </a:prstGeom>
        </p:spPr>
      </p:pic>
      <p:sp>
        <p:nvSpPr>
          <p:cNvPr id="13" name="Text 8"/>
          <p:cNvSpPr/>
          <p:nvPr/>
        </p:nvSpPr>
        <p:spPr>
          <a:xfrm>
            <a:off x="800100" y="2600194"/>
            <a:ext cx="156613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Metadata Enrichment</a:t>
            </a:r>
            <a:endParaRPr lang="en-US" sz="1116" dirty="0"/>
          </a:p>
        </p:txBody>
      </p:sp>
      <p:sp>
        <p:nvSpPr>
          <p:cNvPr id="14" name="Text 9"/>
          <p:cNvSpPr/>
          <p:nvPr/>
        </p:nvSpPr>
        <p:spPr>
          <a:xfrm>
            <a:off x="800100" y="2839566"/>
            <a:ext cx="3478516"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Add metadata to chunks for filtering and relevance scoring.</a:t>
            </a:r>
            <a:endParaRPr lang="en-US" sz="976" dirty="0"/>
          </a:p>
        </p:txBody>
      </p:sp>
      <p:sp>
        <p:nvSpPr>
          <p:cNvPr id="15" name="Shape 10"/>
          <p:cNvSpPr/>
          <p:nvPr/>
        </p:nvSpPr>
        <p:spPr>
          <a:xfrm>
            <a:off x="381000" y="3257551"/>
            <a:ext cx="5572125" cy="590551"/>
          </a:xfrm>
          <a:prstGeom prst="rect">
            <a:avLst/>
          </a:prstGeom>
          <a:solidFill>
            <a:srgbClr val="E76F51">
              <a:alpha val="5000"/>
            </a:srgbClr>
          </a:solidFill>
          <a:ln/>
        </p:spPr>
        <p:txBody>
          <a:bodyPr/>
          <a:lstStyle/>
          <a:p>
            <a:endParaRPr lang="en-IN" sz="2400"/>
          </a:p>
        </p:txBody>
      </p:sp>
      <p:sp>
        <p:nvSpPr>
          <p:cNvPr id="16" name="Shape 11"/>
          <p:cNvSpPr/>
          <p:nvPr/>
        </p:nvSpPr>
        <p:spPr>
          <a:xfrm>
            <a:off x="457200" y="3352800"/>
            <a:ext cx="228600" cy="228600"/>
          </a:xfrm>
          <a:prstGeom prst="ellipse">
            <a:avLst/>
          </a:prstGeom>
          <a:solidFill>
            <a:srgbClr val="E76F51"/>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13161" y="3462338"/>
            <a:ext cx="116681" cy="9525"/>
          </a:xfrm>
          <a:prstGeom prst="rect">
            <a:avLst/>
          </a:prstGeom>
        </p:spPr>
      </p:pic>
      <p:sp>
        <p:nvSpPr>
          <p:cNvPr id="18" name="Text 12"/>
          <p:cNvSpPr/>
          <p:nvPr/>
        </p:nvSpPr>
        <p:spPr>
          <a:xfrm>
            <a:off x="800101" y="3362194"/>
            <a:ext cx="149399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Embedding Selection</a:t>
            </a:r>
            <a:endParaRPr lang="en-US" sz="1116" dirty="0"/>
          </a:p>
        </p:txBody>
      </p:sp>
      <p:sp>
        <p:nvSpPr>
          <p:cNvPr id="19" name="Text 13"/>
          <p:cNvSpPr/>
          <p:nvPr/>
        </p:nvSpPr>
        <p:spPr>
          <a:xfrm>
            <a:off x="800101" y="3601566"/>
            <a:ext cx="286136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Choose domain-appropriate embedding models.</a:t>
            </a:r>
            <a:endParaRPr lang="en-US" sz="976" dirty="0"/>
          </a:p>
        </p:txBody>
      </p:sp>
      <p:sp>
        <p:nvSpPr>
          <p:cNvPr id="20" name="Text 14"/>
          <p:cNvSpPr/>
          <p:nvPr/>
        </p:nvSpPr>
        <p:spPr>
          <a:xfrm>
            <a:off x="381000" y="4121063"/>
            <a:ext cx="2396490"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Retrieval Optimization</a:t>
            </a:r>
            <a:endParaRPr lang="en-US" sz="1651" dirty="0"/>
          </a:p>
        </p:txBody>
      </p:sp>
      <p:sp>
        <p:nvSpPr>
          <p:cNvPr id="21" name="Shape 15"/>
          <p:cNvSpPr/>
          <p:nvPr/>
        </p:nvSpPr>
        <p:spPr>
          <a:xfrm>
            <a:off x="381000" y="4543426"/>
            <a:ext cx="5572125" cy="590551"/>
          </a:xfrm>
          <a:prstGeom prst="rect">
            <a:avLst/>
          </a:prstGeom>
          <a:solidFill>
            <a:srgbClr val="E76F51">
              <a:alpha val="5000"/>
            </a:srgbClr>
          </a:solidFill>
          <a:ln/>
        </p:spPr>
        <p:txBody>
          <a:bodyPr/>
          <a:lstStyle/>
          <a:p>
            <a:endParaRPr lang="en-IN" sz="2400"/>
          </a:p>
        </p:txBody>
      </p:sp>
      <p:sp>
        <p:nvSpPr>
          <p:cNvPr id="22" name="Shape 16"/>
          <p:cNvSpPr/>
          <p:nvPr/>
        </p:nvSpPr>
        <p:spPr>
          <a:xfrm>
            <a:off x="457200" y="4638675"/>
            <a:ext cx="228600" cy="228600"/>
          </a:xfrm>
          <a:prstGeom prst="ellipse">
            <a:avLst/>
          </a:prstGeom>
          <a:solidFill>
            <a:srgbClr val="E76F51"/>
          </a:solidFill>
          <a:ln/>
        </p:spPr>
        <p:txBody>
          <a:bodyPr/>
          <a:lstStyle/>
          <a:p>
            <a:endParaRPr lang="en-IN" sz="2400"/>
          </a:p>
        </p:txBody>
      </p:sp>
      <p:pic>
        <p:nvPicPr>
          <p:cNvPr id="23" name="Image 4" descr="preencoded.png"/>
          <p:cNvPicPr>
            <a:picLocks noChangeAspect="1"/>
          </p:cNvPicPr>
          <p:nvPr/>
        </p:nvPicPr>
        <p:blipFill>
          <a:blip r:embed="rId6"/>
          <a:stretch>
            <a:fillRect/>
          </a:stretch>
        </p:blipFill>
        <p:spPr>
          <a:xfrm>
            <a:off x="504826" y="4748212"/>
            <a:ext cx="133351" cy="9525"/>
          </a:xfrm>
          <a:prstGeom prst="rect">
            <a:avLst/>
          </a:prstGeom>
        </p:spPr>
      </p:pic>
      <p:sp>
        <p:nvSpPr>
          <p:cNvPr id="24" name="Text 17"/>
          <p:cNvSpPr/>
          <p:nvPr/>
        </p:nvSpPr>
        <p:spPr>
          <a:xfrm>
            <a:off x="800100" y="4648068"/>
            <a:ext cx="100027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Hybrid Search</a:t>
            </a:r>
            <a:endParaRPr lang="en-US" sz="1116" dirty="0"/>
          </a:p>
        </p:txBody>
      </p:sp>
      <p:sp>
        <p:nvSpPr>
          <p:cNvPr id="25" name="Text 18"/>
          <p:cNvSpPr/>
          <p:nvPr/>
        </p:nvSpPr>
        <p:spPr>
          <a:xfrm>
            <a:off x="800100" y="4887441"/>
            <a:ext cx="4219104"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Combine semantic (vector) and keyword (BM25) search for better recall.</a:t>
            </a:r>
            <a:endParaRPr lang="en-US" sz="976" dirty="0"/>
          </a:p>
        </p:txBody>
      </p:sp>
      <p:sp>
        <p:nvSpPr>
          <p:cNvPr id="26" name="Shape 19"/>
          <p:cNvSpPr/>
          <p:nvPr/>
        </p:nvSpPr>
        <p:spPr>
          <a:xfrm>
            <a:off x="381000" y="5305426"/>
            <a:ext cx="5572125" cy="590551"/>
          </a:xfrm>
          <a:prstGeom prst="rect">
            <a:avLst/>
          </a:prstGeom>
          <a:solidFill>
            <a:srgbClr val="E76F51">
              <a:alpha val="5000"/>
            </a:srgbClr>
          </a:solidFill>
          <a:ln/>
        </p:spPr>
        <p:txBody>
          <a:bodyPr/>
          <a:lstStyle/>
          <a:p>
            <a:endParaRPr lang="en-IN" sz="2400"/>
          </a:p>
        </p:txBody>
      </p:sp>
      <p:sp>
        <p:nvSpPr>
          <p:cNvPr id="27" name="Shape 20"/>
          <p:cNvSpPr/>
          <p:nvPr/>
        </p:nvSpPr>
        <p:spPr>
          <a:xfrm>
            <a:off x="457200" y="5400675"/>
            <a:ext cx="228600" cy="228600"/>
          </a:xfrm>
          <a:prstGeom prst="ellipse">
            <a:avLst/>
          </a:prstGeom>
          <a:solidFill>
            <a:srgbClr val="E76F51"/>
          </a:solidFill>
          <a:ln/>
        </p:spPr>
        <p:txBody>
          <a:bodyPr/>
          <a:lstStyle/>
          <a:p>
            <a:endParaRPr lang="en-IN" sz="2400"/>
          </a:p>
        </p:txBody>
      </p:sp>
      <p:pic>
        <p:nvPicPr>
          <p:cNvPr id="28" name="Image 5" descr="preencoded.png"/>
          <p:cNvPicPr>
            <a:picLocks noChangeAspect="1"/>
          </p:cNvPicPr>
          <p:nvPr/>
        </p:nvPicPr>
        <p:blipFill>
          <a:blip r:embed="rId7"/>
          <a:stretch>
            <a:fillRect/>
          </a:stretch>
        </p:blipFill>
        <p:spPr>
          <a:xfrm>
            <a:off x="496491" y="5510212"/>
            <a:ext cx="150019" cy="9525"/>
          </a:xfrm>
          <a:prstGeom prst="rect">
            <a:avLst/>
          </a:prstGeom>
        </p:spPr>
      </p:pic>
      <p:sp>
        <p:nvSpPr>
          <p:cNvPr id="29" name="Text 21"/>
          <p:cNvSpPr/>
          <p:nvPr/>
        </p:nvSpPr>
        <p:spPr>
          <a:xfrm>
            <a:off x="800101" y="5410068"/>
            <a:ext cx="79508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Re-ranking</a:t>
            </a:r>
            <a:endParaRPr lang="en-US" sz="1116" dirty="0"/>
          </a:p>
        </p:txBody>
      </p:sp>
      <p:sp>
        <p:nvSpPr>
          <p:cNvPr id="30" name="Text 22"/>
          <p:cNvSpPr/>
          <p:nvPr/>
        </p:nvSpPr>
        <p:spPr>
          <a:xfrm>
            <a:off x="800101" y="5649441"/>
            <a:ext cx="400430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Apply cross-encoders or LLM-based re-ranking to improve precision.</a:t>
            </a:r>
            <a:endParaRPr lang="en-US" sz="976" dirty="0"/>
          </a:p>
        </p:txBody>
      </p:sp>
      <p:sp>
        <p:nvSpPr>
          <p:cNvPr id="31" name="Text 23"/>
          <p:cNvSpPr/>
          <p:nvPr/>
        </p:nvSpPr>
        <p:spPr>
          <a:xfrm>
            <a:off x="6238875" y="1120688"/>
            <a:ext cx="2468625" cy="311325"/>
          </a:xfrm>
          <a:prstGeom prst="rect">
            <a:avLst/>
          </a:prstGeom>
          <a:noFill/>
          <a:ln/>
        </p:spPr>
        <p:txBody>
          <a:bodyPr wrap="none" lIns="0" tIns="0" rIns="0" bIns="56727" rtlCol="0" anchor="ctr">
            <a:spAutoFit/>
          </a:bodyPr>
          <a:lstStyle/>
          <a:p>
            <a:r>
              <a:rPr lang="en-US" sz="1651" b="1" dirty="0">
                <a:solidFill>
                  <a:srgbClr val="E76F51"/>
                </a:solidFill>
                <a:latin typeface="Noto Sans" pitchFamily="34" charset="0"/>
                <a:ea typeface="Noto Sans" pitchFamily="34" charset="-122"/>
                <a:cs typeface="Noto Sans" pitchFamily="34" charset="-120"/>
              </a:rPr>
              <a:t>Generation &amp; Response</a:t>
            </a:r>
            <a:endParaRPr lang="en-US" sz="1651" dirty="0"/>
          </a:p>
        </p:txBody>
      </p:sp>
      <p:sp>
        <p:nvSpPr>
          <p:cNvPr id="32" name="Shape 24"/>
          <p:cNvSpPr/>
          <p:nvPr/>
        </p:nvSpPr>
        <p:spPr>
          <a:xfrm>
            <a:off x="6238875" y="1543051"/>
            <a:ext cx="5572125" cy="781051"/>
          </a:xfrm>
          <a:prstGeom prst="rect">
            <a:avLst/>
          </a:prstGeom>
          <a:solidFill>
            <a:srgbClr val="E76F51">
              <a:alpha val="5000"/>
            </a:srgbClr>
          </a:solidFill>
          <a:ln/>
        </p:spPr>
        <p:txBody>
          <a:bodyPr/>
          <a:lstStyle/>
          <a:p>
            <a:endParaRPr lang="en-IN" sz="2400"/>
          </a:p>
        </p:txBody>
      </p:sp>
      <p:sp>
        <p:nvSpPr>
          <p:cNvPr id="33" name="Shape 25"/>
          <p:cNvSpPr/>
          <p:nvPr/>
        </p:nvSpPr>
        <p:spPr>
          <a:xfrm>
            <a:off x="6315075" y="1638300"/>
            <a:ext cx="228600" cy="228600"/>
          </a:xfrm>
          <a:prstGeom prst="ellipse">
            <a:avLst/>
          </a:prstGeom>
          <a:solidFill>
            <a:srgbClr val="E76F51"/>
          </a:solidFill>
          <a:ln/>
        </p:spPr>
        <p:txBody>
          <a:bodyPr/>
          <a:lstStyle/>
          <a:p>
            <a:endParaRPr lang="en-IN" sz="2400"/>
          </a:p>
        </p:txBody>
      </p:sp>
      <p:pic>
        <p:nvPicPr>
          <p:cNvPr id="34" name="Image 6" descr="preencoded.png"/>
          <p:cNvPicPr>
            <a:picLocks noChangeAspect="1"/>
          </p:cNvPicPr>
          <p:nvPr/>
        </p:nvPicPr>
        <p:blipFill>
          <a:blip r:embed="rId8"/>
          <a:stretch>
            <a:fillRect/>
          </a:stretch>
        </p:blipFill>
        <p:spPr>
          <a:xfrm>
            <a:off x="6379370" y="1747838"/>
            <a:ext cx="100012" cy="9525"/>
          </a:xfrm>
          <a:prstGeom prst="rect">
            <a:avLst/>
          </a:prstGeom>
        </p:spPr>
      </p:pic>
      <p:sp>
        <p:nvSpPr>
          <p:cNvPr id="35" name="Text 26"/>
          <p:cNvSpPr/>
          <p:nvPr/>
        </p:nvSpPr>
        <p:spPr>
          <a:xfrm>
            <a:off x="6657976" y="1647694"/>
            <a:ext cx="157414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Structured Prompting</a:t>
            </a:r>
            <a:endParaRPr lang="en-US" sz="1116" dirty="0"/>
          </a:p>
        </p:txBody>
      </p:sp>
      <p:sp>
        <p:nvSpPr>
          <p:cNvPr id="36" name="Text 27"/>
          <p:cNvSpPr/>
          <p:nvPr/>
        </p:nvSpPr>
        <p:spPr>
          <a:xfrm>
            <a:off x="6657976" y="1982316"/>
            <a:ext cx="5076825"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Use clear prompt templates with separate sections for context, query, and instructions.</a:t>
            </a:r>
            <a:endParaRPr lang="en-US" sz="976" dirty="0"/>
          </a:p>
        </p:txBody>
      </p:sp>
      <p:sp>
        <p:nvSpPr>
          <p:cNvPr id="37" name="Shape 28"/>
          <p:cNvSpPr/>
          <p:nvPr/>
        </p:nvSpPr>
        <p:spPr>
          <a:xfrm>
            <a:off x="6238875" y="2495551"/>
            <a:ext cx="5572125" cy="590551"/>
          </a:xfrm>
          <a:prstGeom prst="rect">
            <a:avLst/>
          </a:prstGeom>
          <a:solidFill>
            <a:srgbClr val="E76F51">
              <a:alpha val="5000"/>
            </a:srgbClr>
          </a:solidFill>
          <a:ln/>
        </p:spPr>
        <p:txBody>
          <a:bodyPr/>
          <a:lstStyle/>
          <a:p>
            <a:endParaRPr lang="en-IN" sz="2400"/>
          </a:p>
        </p:txBody>
      </p:sp>
      <p:sp>
        <p:nvSpPr>
          <p:cNvPr id="38" name="Shape 29"/>
          <p:cNvSpPr/>
          <p:nvPr/>
        </p:nvSpPr>
        <p:spPr>
          <a:xfrm>
            <a:off x="6315075" y="2590800"/>
            <a:ext cx="228600" cy="228600"/>
          </a:xfrm>
          <a:prstGeom prst="ellipse">
            <a:avLst/>
          </a:prstGeom>
          <a:solidFill>
            <a:srgbClr val="E76F51"/>
          </a:solidFill>
          <a:ln/>
        </p:spPr>
        <p:txBody>
          <a:bodyPr/>
          <a:lstStyle/>
          <a:p>
            <a:endParaRPr lang="en-IN" sz="2400"/>
          </a:p>
        </p:txBody>
      </p:sp>
      <p:pic>
        <p:nvPicPr>
          <p:cNvPr id="39" name="Image 7" descr="preencoded.png"/>
          <p:cNvPicPr>
            <a:picLocks noChangeAspect="1"/>
          </p:cNvPicPr>
          <p:nvPr/>
        </p:nvPicPr>
        <p:blipFill>
          <a:blip r:embed="rId9"/>
          <a:stretch>
            <a:fillRect/>
          </a:stretch>
        </p:blipFill>
        <p:spPr>
          <a:xfrm>
            <a:off x="6346031" y="2700338"/>
            <a:ext cx="166688" cy="9525"/>
          </a:xfrm>
          <a:prstGeom prst="rect">
            <a:avLst/>
          </a:prstGeom>
        </p:spPr>
      </p:pic>
      <p:sp>
        <p:nvSpPr>
          <p:cNvPr id="40" name="Text 30"/>
          <p:cNvSpPr/>
          <p:nvPr/>
        </p:nvSpPr>
        <p:spPr>
          <a:xfrm>
            <a:off x="6657975" y="2600194"/>
            <a:ext cx="132889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Source Attribution</a:t>
            </a:r>
            <a:endParaRPr lang="en-US" sz="1116" dirty="0"/>
          </a:p>
        </p:txBody>
      </p:sp>
      <p:sp>
        <p:nvSpPr>
          <p:cNvPr id="41" name="Text 31"/>
          <p:cNvSpPr/>
          <p:nvPr/>
        </p:nvSpPr>
        <p:spPr>
          <a:xfrm>
            <a:off x="6657975" y="2839566"/>
            <a:ext cx="417582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Include citations linking to source documents to prevent hallucinations.</a:t>
            </a:r>
            <a:endParaRPr lang="en-US" sz="976" dirty="0"/>
          </a:p>
        </p:txBody>
      </p:sp>
      <p:sp>
        <p:nvSpPr>
          <p:cNvPr id="42" name="Shape 32"/>
          <p:cNvSpPr/>
          <p:nvPr/>
        </p:nvSpPr>
        <p:spPr>
          <a:xfrm>
            <a:off x="6238875" y="3257551"/>
            <a:ext cx="5572125" cy="590551"/>
          </a:xfrm>
          <a:prstGeom prst="rect">
            <a:avLst/>
          </a:prstGeom>
          <a:solidFill>
            <a:srgbClr val="E76F51">
              <a:alpha val="5000"/>
            </a:srgbClr>
          </a:solidFill>
          <a:ln/>
        </p:spPr>
        <p:txBody>
          <a:bodyPr/>
          <a:lstStyle/>
          <a:p>
            <a:endParaRPr lang="en-IN" sz="2400"/>
          </a:p>
        </p:txBody>
      </p:sp>
      <p:sp>
        <p:nvSpPr>
          <p:cNvPr id="43" name="Shape 33"/>
          <p:cNvSpPr/>
          <p:nvPr/>
        </p:nvSpPr>
        <p:spPr>
          <a:xfrm>
            <a:off x="6315075" y="3352800"/>
            <a:ext cx="228600" cy="228600"/>
          </a:xfrm>
          <a:prstGeom prst="ellipse">
            <a:avLst/>
          </a:prstGeom>
          <a:solidFill>
            <a:srgbClr val="E76F51"/>
          </a:solidFill>
          <a:ln/>
        </p:spPr>
        <p:txBody>
          <a:bodyPr/>
          <a:lstStyle/>
          <a:p>
            <a:endParaRPr lang="en-IN" sz="2400"/>
          </a:p>
        </p:txBody>
      </p:sp>
      <p:pic>
        <p:nvPicPr>
          <p:cNvPr id="44" name="Image 8" descr="preencoded.png"/>
          <p:cNvPicPr>
            <a:picLocks noChangeAspect="1"/>
          </p:cNvPicPr>
          <p:nvPr/>
        </p:nvPicPr>
        <p:blipFill>
          <a:blip r:embed="rId10"/>
          <a:stretch>
            <a:fillRect/>
          </a:stretch>
        </p:blipFill>
        <p:spPr>
          <a:xfrm>
            <a:off x="6362701" y="3462338"/>
            <a:ext cx="133351" cy="9525"/>
          </a:xfrm>
          <a:prstGeom prst="rect">
            <a:avLst/>
          </a:prstGeom>
        </p:spPr>
      </p:pic>
      <p:sp>
        <p:nvSpPr>
          <p:cNvPr id="45" name="Text 34"/>
          <p:cNvSpPr/>
          <p:nvPr/>
        </p:nvSpPr>
        <p:spPr>
          <a:xfrm>
            <a:off x="6657975" y="3362194"/>
            <a:ext cx="1712007"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Self-Consistency Checks</a:t>
            </a:r>
            <a:endParaRPr lang="en-US" sz="1116" dirty="0"/>
          </a:p>
        </p:txBody>
      </p:sp>
      <p:sp>
        <p:nvSpPr>
          <p:cNvPr id="46" name="Text 35"/>
          <p:cNvSpPr/>
          <p:nvPr/>
        </p:nvSpPr>
        <p:spPr>
          <a:xfrm>
            <a:off x="6657975" y="3601566"/>
            <a:ext cx="442428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Implement verification steps to validate response against retrieved context.</a:t>
            </a:r>
            <a:endParaRPr lang="en-US" sz="976"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5628144"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Mother Architecture Framework</a:t>
            </a:r>
            <a:endParaRPr lang="en-US" sz="2700" dirty="0"/>
          </a:p>
        </p:txBody>
      </p:sp>
      <p:sp>
        <p:nvSpPr>
          <p:cNvPr id="4" name="Text 1"/>
          <p:cNvSpPr/>
          <p:nvPr/>
        </p:nvSpPr>
        <p:spPr>
          <a:xfrm>
            <a:off x="381001" y="955798"/>
            <a:ext cx="3207609"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Universal Architectural Layers</a:t>
            </a:r>
            <a:endParaRPr lang="en-US" sz="1651" dirty="0"/>
          </a:p>
        </p:txBody>
      </p:sp>
      <p:sp>
        <p:nvSpPr>
          <p:cNvPr id="5" name="Shape 2"/>
          <p:cNvSpPr/>
          <p:nvPr/>
        </p:nvSpPr>
        <p:spPr>
          <a:xfrm>
            <a:off x="381000" y="1232321"/>
            <a:ext cx="5572125" cy="590551"/>
          </a:xfrm>
          <a:prstGeom prst="rect">
            <a:avLst/>
          </a:prstGeom>
          <a:solidFill>
            <a:srgbClr val="2A9D8F">
              <a:alpha val="10000"/>
            </a:srgbClr>
          </a:solidFill>
          <a:ln/>
        </p:spPr>
        <p:txBody>
          <a:bodyPr/>
          <a:lstStyle/>
          <a:p>
            <a:endParaRPr lang="en-IN" sz="2400"/>
          </a:p>
        </p:txBody>
      </p:sp>
      <p:sp>
        <p:nvSpPr>
          <p:cNvPr id="6" name="Shape 3"/>
          <p:cNvSpPr/>
          <p:nvPr/>
        </p:nvSpPr>
        <p:spPr>
          <a:xfrm>
            <a:off x="457200" y="1375195"/>
            <a:ext cx="304800" cy="304800"/>
          </a:xfrm>
          <a:prstGeom prst="ellipse">
            <a:avLst/>
          </a:prstGeom>
          <a:solidFill>
            <a:srgbClr val="2A9D8F"/>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23875" y="1451395"/>
            <a:ext cx="171451" cy="152400"/>
          </a:xfrm>
          <a:prstGeom prst="rect">
            <a:avLst/>
          </a:prstGeom>
        </p:spPr>
      </p:pic>
      <p:sp>
        <p:nvSpPr>
          <p:cNvPr id="8" name="Text 4"/>
          <p:cNvSpPr/>
          <p:nvPr/>
        </p:nvSpPr>
        <p:spPr>
          <a:xfrm>
            <a:off x="876300" y="1336963"/>
            <a:ext cx="107721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Channel/Client</a:t>
            </a:r>
            <a:endParaRPr lang="en-US" sz="1116" dirty="0"/>
          </a:p>
        </p:txBody>
      </p:sp>
      <p:sp>
        <p:nvSpPr>
          <p:cNvPr id="9" name="Text 5"/>
          <p:cNvSpPr/>
          <p:nvPr/>
        </p:nvSpPr>
        <p:spPr>
          <a:xfrm>
            <a:off x="876301" y="1576337"/>
            <a:ext cx="196688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Web, Mobile, Voice, CLI interfaces</a:t>
            </a:r>
            <a:endParaRPr lang="en-US" sz="976" dirty="0"/>
          </a:p>
        </p:txBody>
      </p:sp>
      <p:sp>
        <p:nvSpPr>
          <p:cNvPr id="10" name="Shape 6"/>
          <p:cNvSpPr/>
          <p:nvPr/>
        </p:nvSpPr>
        <p:spPr>
          <a:xfrm>
            <a:off x="381000" y="1937171"/>
            <a:ext cx="5572125" cy="590551"/>
          </a:xfrm>
          <a:prstGeom prst="rect">
            <a:avLst/>
          </a:prstGeom>
          <a:solidFill>
            <a:srgbClr val="E9C46A">
              <a:alpha val="10000"/>
            </a:srgbClr>
          </a:solidFill>
          <a:ln/>
        </p:spPr>
        <p:txBody>
          <a:bodyPr/>
          <a:lstStyle/>
          <a:p>
            <a:endParaRPr lang="en-IN" sz="2400"/>
          </a:p>
        </p:txBody>
      </p:sp>
      <p:sp>
        <p:nvSpPr>
          <p:cNvPr id="11" name="Shape 7"/>
          <p:cNvSpPr/>
          <p:nvPr/>
        </p:nvSpPr>
        <p:spPr>
          <a:xfrm>
            <a:off x="457200" y="2080045"/>
            <a:ext cx="304800" cy="304800"/>
          </a:xfrm>
          <a:prstGeom prst="ellipse">
            <a:avLst/>
          </a:prstGeom>
          <a:solidFill>
            <a:srgbClr val="E9C46A"/>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533400" y="2156245"/>
            <a:ext cx="152400" cy="152400"/>
          </a:xfrm>
          <a:prstGeom prst="rect">
            <a:avLst/>
          </a:prstGeom>
        </p:spPr>
      </p:pic>
      <p:sp>
        <p:nvSpPr>
          <p:cNvPr id="13" name="Text 8"/>
          <p:cNvSpPr/>
          <p:nvPr/>
        </p:nvSpPr>
        <p:spPr>
          <a:xfrm>
            <a:off x="876301" y="2041814"/>
            <a:ext cx="94096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Gateway/API</a:t>
            </a:r>
            <a:endParaRPr lang="en-US" sz="1116" dirty="0"/>
          </a:p>
        </p:txBody>
      </p:sp>
      <p:sp>
        <p:nvSpPr>
          <p:cNvPr id="14" name="Text 9"/>
          <p:cNvSpPr/>
          <p:nvPr/>
        </p:nvSpPr>
        <p:spPr>
          <a:xfrm>
            <a:off x="876300" y="2281186"/>
            <a:ext cx="2228174"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APIM, FastAPI, authentication, routing</a:t>
            </a:r>
            <a:endParaRPr lang="en-US" sz="976" dirty="0"/>
          </a:p>
        </p:txBody>
      </p:sp>
      <p:sp>
        <p:nvSpPr>
          <p:cNvPr id="15" name="Shape 10"/>
          <p:cNvSpPr/>
          <p:nvPr/>
        </p:nvSpPr>
        <p:spPr>
          <a:xfrm>
            <a:off x="381000" y="2642021"/>
            <a:ext cx="5572125" cy="590551"/>
          </a:xfrm>
          <a:prstGeom prst="rect">
            <a:avLst/>
          </a:prstGeom>
          <a:solidFill>
            <a:srgbClr val="F4A261">
              <a:alpha val="10000"/>
            </a:srgbClr>
          </a:solidFill>
          <a:ln/>
        </p:spPr>
        <p:txBody>
          <a:bodyPr/>
          <a:lstStyle/>
          <a:p>
            <a:endParaRPr lang="en-IN" sz="2400"/>
          </a:p>
        </p:txBody>
      </p:sp>
      <p:sp>
        <p:nvSpPr>
          <p:cNvPr id="16" name="Shape 11"/>
          <p:cNvSpPr/>
          <p:nvPr/>
        </p:nvSpPr>
        <p:spPr>
          <a:xfrm>
            <a:off x="457200" y="2784895"/>
            <a:ext cx="304800" cy="304800"/>
          </a:xfrm>
          <a:prstGeom prst="ellipse">
            <a:avLst/>
          </a:prstGeom>
          <a:solidFill>
            <a:srgbClr val="F4A261"/>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33400" y="2861095"/>
            <a:ext cx="152400" cy="152400"/>
          </a:xfrm>
          <a:prstGeom prst="rect">
            <a:avLst/>
          </a:prstGeom>
        </p:spPr>
      </p:pic>
      <p:sp>
        <p:nvSpPr>
          <p:cNvPr id="18" name="Text 12"/>
          <p:cNvSpPr/>
          <p:nvPr/>
        </p:nvSpPr>
        <p:spPr>
          <a:xfrm>
            <a:off x="876300" y="2746663"/>
            <a:ext cx="135133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Policy &amp; Guardrails</a:t>
            </a:r>
            <a:endParaRPr lang="en-US" sz="1116" dirty="0"/>
          </a:p>
        </p:txBody>
      </p:sp>
      <p:sp>
        <p:nvSpPr>
          <p:cNvPr id="19" name="Text 13"/>
          <p:cNvSpPr/>
          <p:nvPr/>
        </p:nvSpPr>
        <p:spPr>
          <a:xfrm>
            <a:off x="876300" y="2986037"/>
            <a:ext cx="3334246"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PII scrubbing, prompt injection protection, content filters</a:t>
            </a:r>
            <a:endParaRPr lang="en-US" sz="976" dirty="0"/>
          </a:p>
        </p:txBody>
      </p:sp>
      <p:sp>
        <p:nvSpPr>
          <p:cNvPr id="20" name="Shape 14"/>
          <p:cNvSpPr/>
          <p:nvPr/>
        </p:nvSpPr>
        <p:spPr>
          <a:xfrm>
            <a:off x="381000" y="3346871"/>
            <a:ext cx="5572125" cy="590551"/>
          </a:xfrm>
          <a:prstGeom prst="rect">
            <a:avLst/>
          </a:prstGeom>
          <a:solidFill>
            <a:srgbClr val="E76F51">
              <a:alpha val="10000"/>
            </a:srgbClr>
          </a:solidFill>
          <a:ln/>
        </p:spPr>
        <p:txBody>
          <a:bodyPr/>
          <a:lstStyle/>
          <a:p>
            <a:endParaRPr lang="en-IN" sz="2400"/>
          </a:p>
        </p:txBody>
      </p:sp>
      <p:sp>
        <p:nvSpPr>
          <p:cNvPr id="21" name="Shape 15"/>
          <p:cNvSpPr/>
          <p:nvPr/>
        </p:nvSpPr>
        <p:spPr>
          <a:xfrm>
            <a:off x="457200" y="3489745"/>
            <a:ext cx="304800" cy="304800"/>
          </a:xfrm>
          <a:prstGeom prst="ellipse">
            <a:avLst/>
          </a:prstGeom>
          <a:solidFill>
            <a:srgbClr val="E76F51"/>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533400" y="3565945"/>
            <a:ext cx="152400" cy="152400"/>
          </a:xfrm>
          <a:prstGeom prst="rect">
            <a:avLst/>
          </a:prstGeom>
        </p:spPr>
      </p:pic>
      <p:sp>
        <p:nvSpPr>
          <p:cNvPr id="23" name="Text 16"/>
          <p:cNvSpPr/>
          <p:nvPr/>
        </p:nvSpPr>
        <p:spPr>
          <a:xfrm>
            <a:off x="876300" y="3451514"/>
            <a:ext cx="1183016"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Reasoning Layer</a:t>
            </a:r>
            <a:endParaRPr lang="en-US" sz="1116" dirty="0"/>
          </a:p>
        </p:txBody>
      </p:sp>
      <p:sp>
        <p:nvSpPr>
          <p:cNvPr id="24" name="Text 17"/>
          <p:cNvSpPr/>
          <p:nvPr/>
        </p:nvSpPr>
        <p:spPr>
          <a:xfrm>
            <a:off x="876301" y="3690886"/>
            <a:ext cx="296395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LLM/Agents/Chains for processing and generation</a:t>
            </a:r>
            <a:endParaRPr lang="en-US" sz="976" dirty="0"/>
          </a:p>
        </p:txBody>
      </p:sp>
      <p:sp>
        <p:nvSpPr>
          <p:cNvPr id="25" name="Shape 18"/>
          <p:cNvSpPr/>
          <p:nvPr/>
        </p:nvSpPr>
        <p:spPr>
          <a:xfrm>
            <a:off x="381000" y="4051721"/>
            <a:ext cx="5572125" cy="590551"/>
          </a:xfrm>
          <a:prstGeom prst="rect">
            <a:avLst/>
          </a:prstGeom>
          <a:solidFill>
            <a:srgbClr val="1A365D">
              <a:alpha val="10000"/>
            </a:srgbClr>
          </a:solidFill>
          <a:ln/>
        </p:spPr>
        <p:txBody>
          <a:bodyPr/>
          <a:lstStyle/>
          <a:p>
            <a:endParaRPr lang="en-IN" sz="2400"/>
          </a:p>
        </p:txBody>
      </p:sp>
      <p:sp>
        <p:nvSpPr>
          <p:cNvPr id="26" name="Shape 19"/>
          <p:cNvSpPr/>
          <p:nvPr/>
        </p:nvSpPr>
        <p:spPr>
          <a:xfrm>
            <a:off x="457200" y="4194595"/>
            <a:ext cx="304800" cy="304800"/>
          </a:xfrm>
          <a:prstGeom prst="ellipse">
            <a:avLst/>
          </a:prstGeom>
          <a:solidFill>
            <a:srgbClr val="1A365D"/>
          </a:solidFill>
          <a:ln/>
        </p:spPr>
        <p:txBody>
          <a:bodyPr/>
          <a:lstStyle/>
          <a:p>
            <a:endParaRPr lang="en-IN" sz="2400"/>
          </a:p>
        </p:txBody>
      </p:sp>
      <p:pic>
        <p:nvPicPr>
          <p:cNvPr id="27" name="Image 5" descr="preencoded.png"/>
          <p:cNvPicPr>
            <a:picLocks noChangeAspect="1"/>
          </p:cNvPicPr>
          <p:nvPr/>
        </p:nvPicPr>
        <p:blipFill>
          <a:blip r:embed="rId7"/>
          <a:stretch>
            <a:fillRect/>
          </a:stretch>
        </p:blipFill>
        <p:spPr>
          <a:xfrm>
            <a:off x="542926" y="4270795"/>
            <a:ext cx="133351" cy="152400"/>
          </a:xfrm>
          <a:prstGeom prst="rect">
            <a:avLst/>
          </a:prstGeom>
        </p:spPr>
      </p:pic>
      <p:sp>
        <p:nvSpPr>
          <p:cNvPr id="28" name="Text 20"/>
          <p:cNvSpPr/>
          <p:nvPr/>
        </p:nvSpPr>
        <p:spPr>
          <a:xfrm>
            <a:off x="876300" y="4156363"/>
            <a:ext cx="122790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Knowledge Layer</a:t>
            </a:r>
            <a:endParaRPr lang="en-US" sz="1116" dirty="0"/>
          </a:p>
        </p:txBody>
      </p:sp>
      <p:sp>
        <p:nvSpPr>
          <p:cNvPr id="29" name="Text 21"/>
          <p:cNvSpPr/>
          <p:nvPr/>
        </p:nvSpPr>
        <p:spPr>
          <a:xfrm>
            <a:off x="876300" y="4395737"/>
            <a:ext cx="303288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Vector DB / Search / Graph for information retrieval</a:t>
            </a:r>
            <a:endParaRPr lang="en-US" sz="976" dirty="0"/>
          </a:p>
        </p:txBody>
      </p:sp>
      <p:sp>
        <p:nvSpPr>
          <p:cNvPr id="30" name="Shape 22"/>
          <p:cNvSpPr/>
          <p:nvPr/>
        </p:nvSpPr>
        <p:spPr>
          <a:xfrm>
            <a:off x="381000" y="4756571"/>
            <a:ext cx="5572125" cy="590551"/>
          </a:xfrm>
          <a:prstGeom prst="rect">
            <a:avLst/>
          </a:prstGeom>
          <a:solidFill>
            <a:srgbClr val="2A9D8F">
              <a:alpha val="10000"/>
            </a:srgbClr>
          </a:solidFill>
          <a:ln/>
        </p:spPr>
        <p:txBody>
          <a:bodyPr/>
          <a:lstStyle/>
          <a:p>
            <a:endParaRPr lang="en-IN" sz="2400"/>
          </a:p>
        </p:txBody>
      </p:sp>
      <p:sp>
        <p:nvSpPr>
          <p:cNvPr id="31" name="Shape 23"/>
          <p:cNvSpPr/>
          <p:nvPr/>
        </p:nvSpPr>
        <p:spPr>
          <a:xfrm>
            <a:off x="457200" y="4899445"/>
            <a:ext cx="304800" cy="304800"/>
          </a:xfrm>
          <a:prstGeom prst="ellipse">
            <a:avLst/>
          </a:prstGeom>
          <a:solidFill>
            <a:srgbClr val="2A9D8F"/>
          </a:solidFill>
          <a:ln/>
        </p:spPr>
        <p:txBody>
          <a:bodyPr/>
          <a:lstStyle/>
          <a:p>
            <a:endParaRPr lang="en-IN" sz="2400"/>
          </a:p>
        </p:txBody>
      </p:sp>
      <p:pic>
        <p:nvPicPr>
          <p:cNvPr id="32" name="Image 6" descr="preencoded.png"/>
          <p:cNvPicPr>
            <a:picLocks noChangeAspect="1"/>
          </p:cNvPicPr>
          <p:nvPr/>
        </p:nvPicPr>
        <p:blipFill>
          <a:blip r:embed="rId8"/>
          <a:stretch>
            <a:fillRect/>
          </a:stretch>
        </p:blipFill>
        <p:spPr>
          <a:xfrm>
            <a:off x="533400" y="4975645"/>
            <a:ext cx="152400" cy="152400"/>
          </a:xfrm>
          <a:prstGeom prst="rect">
            <a:avLst/>
          </a:prstGeom>
        </p:spPr>
      </p:pic>
      <p:sp>
        <p:nvSpPr>
          <p:cNvPr id="33" name="Text 24"/>
          <p:cNvSpPr/>
          <p:nvPr/>
        </p:nvSpPr>
        <p:spPr>
          <a:xfrm>
            <a:off x="876301" y="4861214"/>
            <a:ext cx="73898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Tool Layer</a:t>
            </a:r>
            <a:endParaRPr lang="en-US" sz="1116" dirty="0"/>
          </a:p>
        </p:txBody>
      </p:sp>
      <p:sp>
        <p:nvSpPr>
          <p:cNvPr id="34" name="Text 25"/>
          <p:cNvSpPr/>
          <p:nvPr/>
        </p:nvSpPr>
        <p:spPr>
          <a:xfrm>
            <a:off x="876300" y="5100586"/>
            <a:ext cx="2559996"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Functions, REST APIs, DB access, ML models</a:t>
            </a:r>
            <a:endParaRPr lang="en-US" sz="976" dirty="0"/>
          </a:p>
        </p:txBody>
      </p:sp>
      <p:sp>
        <p:nvSpPr>
          <p:cNvPr id="35" name="Shape 26"/>
          <p:cNvSpPr/>
          <p:nvPr/>
        </p:nvSpPr>
        <p:spPr>
          <a:xfrm>
            <a:off x="381000" y="5461421"/>
            <a:ext cx="5572125" cy="590551"/>
          </a:xfrm>
          <a:prstGeom prst="rect">
            <a:avLst/>
          </a:prstGeom>
          <a:solidFill>
            <a:srgbClr val="E9C46A">
              <a:alpha val="10000"/>
            </a:srgbClr>
          </a:solidFill>
          <a:ln/>
        </p:spPr>
        <p:txBody>
          <a:bodyPr/>
          <a:lstStyle/>
          <a:p>
            <a:endParaRPr lang="en-IN" sz="2400"/>
          </a:p>
        </p:txBody>
      </p:sp>
      <p:sp>
        <p:nvSpPr>
          <p:cNvPr id="36" name="Shape 27"/>
          <p:cNvSpPr/>
          <p:nvPr/>
        </p:nvSpPr>
        <p:spPr>
          <a:xfrm>
            <a:off x="457200" y="5604295"/>
            <a:ext cx="304800" cy="304800"/>
          </a:xfrm>
          <a:prstGeom prst="ellipse">
            <a:avLst/>
          </a:prstGeom>
          <a:solidFill>
            <a:srgbClr val="E9C46A"/>
          </a:solidFill>
          <a:ln/>
        </p:spPr>
        <p:txBody>
          <a:bodyPr/>
          <a:lstStyle/>
          <a:p>
            <a:endParaRPr lang="en-IN" sz="2400"/>
          </a:p>
        </p:txBody>
      </p:sp>
      <p:pic>
        <p:nvPicPr>
          <p:cNvPr id="37" name="Image 7" descr="preencoded.png"/>
          <p:cNvPicPr>
            <a:picLocks noChangeAspect="1"/>
          </p:cNvPicPr>
          <p:nvPr/>
        </p:nvPicPr>
        <p:blipFill>
          <a:blip r:embed="rId9"/>
          <a:stretch>
            <a:fillRect/>
          </a:stretch>
        </p:blipFill>
        <p:spPr>
          <a:xfrm>
            <a:off x="533400" y="5680495"/>
            <a:ext cx="152400" cy="152400"/>
          </a:xfrm>
          <a:prstGeom prst="rect">
            <a:avLst/>
          </a:prstGeom>
        </p:spPr>
      </p:pic>
      <p:sp>
        <p:nvSpPr>
          <p:cNvPr id="38" name="Text 28"/>
          <p:cNvSpPr/>
          <p:nvPr/>
        </p:nvSpPr>
        <p:spPr>
          <a:xfrm>
            <a:off x="876301" y="5566063"/>
            <a:ext cx="95699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Observability</a:t>
            </a:r>
            <a:endParaRPr lang="en-US" sz="1116" dirty="0"/>
          </a:p>
        </p:txBody>
      </p:sp>
      <p:sp>
        <p:nvSpPr>
          <p:cNvPr id="39" name="Text 29"/>
          <p:cNvSpPr/>
          <p:nvPr/>
        </p:nvSpPr>
        <p:spPr>
          <a:xfrm>
            <a:off x="876300" y="5805437"/>
            <a:ext cx="192039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Tracing, logs, metrics, evaluation</a:t>
            </a:r>
            <a:endParaRPr lang="en-US" sz="976" dirty="0"/>
          </a:p>
        </p:txBody>
      </p:sp>
      <p:sp>
        <p:nvSpPr>
          <p:cNvPr id="40" name="Shape 30"/>
          <p:cNvSpPr/>
          <p:nvPr/>
        </p:nvSpPr>
        <p:spPr>
          <a:xfrm>
            <a:off x="381000" y="6166271"/>
            <a:ext cx="5572125" cy="590551"/>
          </a:xfrm>
          <a:prstGeom prst="rect">
            <a:avLst/>
          </a:prstGeom>
          <a:solidFill>
            <a:srgbClr val="F4A261">
              <a:alpha val="10000"/>
            </a:srgbClr>
          </a:solidFill>
          <a:ln/>
        </p:spPr>
        <p:txBody>
          <a:bodyPr/>
          <a:lstStyle/>
          <a:p>
            <a:endParaRPr lang="en-IN" sz="2400"/>
          </a:p>
        </p:txBody>
      </p:sp>
      <p:sp>
        <p:nvSpPr>
          <p:cNvPr id="41" name="Shape 31"/>
          <p:cNvSpPr/>
          <p:nvPr/>
        </p:nvSpPr>
        <p:spPr>
          <a:xfrm>
            <a:off x="457200" y="6309145"/>
            <a:ext cx="304800" cy="304800"/>
          </a:xfrm>
          <a:prstGeom prst="ellipse">
            <a:avLst/>
          </a:prstGeom>
          <a:solidFill>
            <a:srgbClr val="F4A261"/>
          </a:solidFill>
          <a:ln/>
        </p:spPr>
        <p:txBody>
          <a:bodyPr/>
          <a:lstStyle/>
          <a:p>
            <a:endParaRPr lang="en-IN" sz="2400"/>
          </a:p>
        </p:txBody>
      </p:sp>
      <p:pic>
        <p:nvPicPr>
          <p:cNvPr id="42" name="Image 8" descr="preencoded.png"/>
          <p:cNvPicPr>
            <a:picLocks noChangeAspect="1"/>
          </p:cNvPicPr>
          <p:nvPr/>
        </p:nvPicPr>
        <p:blipFill>
          <a:blip r:embed="rId10"/>
          <a:stretch>
            <a:fillRect/>
          </a:stretch>
        </p:blipFill>
        <p:spPr>
          <a:xfrm>
            <a:off x="514351" y="6385345"/>
            <a:ext cx="190500" cy="152400"/>
          </a:xfrm>
          <a:prstGeom prst="rect">
            <a:avLst/>
          </a:prstGeom>
        </p:spPr>
      </p:pic>
      <p:sp>
        <p:nvSpPr>
          <p:cNvPr id="43" name="Text 32"/>
          <p:cNvSpPr/>
          <p:nvPr/>
        </p:nvSpPr>
        <p:spPr>
          <a:xfrm>
            <a:off x="876300" y="6270914"/>
            <a:ext cx="94577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Ops &amp; FinOps</a:t>
            </a:r>
            <a:endParaRPr lang="en-US" sz="1116" dirty="0"/>
          </a:p>
        </p:txBody>
      </p:sp>
      <p:sp>
        <p:nvSpPr>
          <p:cNvPr id="44" name="Text 33"/>
          <p:cNvSpPr/>
          <p:nvPr/>
        </p:nvSpPr>
        <p:spPr>
          <a:xfrm>
            <a:off x="876300" y="6510286"/>
            <a:ext cx="255037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Scaling, cost management, tenancy, secrets</a:t>
            </a:r>
            <a:endParaRPr lang="en-US" sz="976"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6724598"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Pattern Selection Decision Tree - Part 1</a:t>
            </a:r>
            <a:endParaRPr lang="en-US" sz="2700" dirty="0"/>
          </a:p>
        </p:txBody>
      </p:sp>
      <p:sp>
        <p:nvSpPr>
          <p:cNvPr id="4" name="Text 1"/>
          <p:cNvSpPr/>
          <p:nvPr/>
        </p:nvSpPr>
        <p:spPr>
          <a:xfrm>
            <a:off x="381001" y="1120688"/>
            <a:ext cx="2056653"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Key Decision Points</a:t>
            </a:r>
            <a:endParaRPr lang="en-US" sz="1651" dirty="0"/>
          </a:p>
        </p:txBody>
      </p:sp>
      <p:grpSp>
        <p:nvGrpSpPr>
          <p:cNvPr id="45" name="Group 44">
            <a:extLst>
              <a:ext uri="{FF2B5EF4-FFF2-40B4-BE49-F238E27FC236}">
                <a16:creationId xmlns:a16="http://schemas.microsoft.com/office/drawing/2014/main" id="{10792B4A-5935-8243-56D5-F778D58F5978}"/>
              </a:ext>
            </a:extLst>
          </p:cNvPr>
          <p:cNvGrpSpPr/>
          <p:nvPr/>
        </p:nvGrpSpPr>
        <p:grpSpPr>
          <a:xfrm>
            <a:off x="381000" y="1562101"/>
            <a:ext cx="5124451" cy="1962151"/>
            <a:chOff x="381000" y="1562101"/>
            <a:chExt cx="5124451" cy="1962151"/>
          </a:xfrm>
        </p:grpSpPr>
        <p:sp>
          <p:nvSpPr>
            <p:cNvPr id="5" name="Shape 2"/>
            <p:cNvSpPr/>
            <p:nvPr/>
          </p:nvSpPr>
          <p:spPr>
            <a:xfrm>
              <a:off x="381000" y="1562101"/>
              <a:ext cx="5124451" cy="1962151"/>
            </a:xfrm>
            <a:prstGeom prst="rect">
              <a:avLst/>
            </a:prstGeom>
            <a:solidFill>
              <a:srgbClr val="F8F9FA"/>
            </a:solidFill>
            <a:ln/>
          </p:spPr>
          <p:txBody>
            <a:bodyPr/>
            <a:lstStyle/>
            <a:p>
              <a:endParaRPr lang="en-IN" sz="2400"/>
            </a:p>
          </p:txBody>
        </p:sp>
        <p:sp>
          <p:nvSpPr>
            <p:cNvPr id="6" name="Shape 3"/>
            <p:cNvSpPr/>
            <p:nvPr/>
          </p:nvSpPr>
          <p:spPr>
            <a:xfrm>
              <a:off x="381001" y="1562101"/>
              <a:ext cx="38100" cy="1962151"/>
            </a:xfrm>
            <a:prstGeom prst="rect">
              <a:avLst/>
            </a:prstGeom>
            <a:solidFill>
              <a:srgbClr val="1A365D"/>
            </a:solidFill>
            <a:ln/>
          </p:spPr>
          <p:txBody>
            <a:bodyPr/>
            <a:lstStyle/>
            <a:p>
              <a:endParaRPr lang="en-IN" sz="2400"/>
            </a:p>
          </p:txBody>
        </p:sp>
        <p:sp>
          <p:nvSpPr>
            <p:cNvPr id="7" name="Text 4"/>
            <p:cNvSpPr/>
            <p:nvPr/>
          </p:nvSpPr>
          <p:spPr>
            <a:xfrm>
              <a:off x="523875" y="1768892"/>
              <a:ext cx="4838700" cy="386516"/>
            </a:xfrm>
            <a:prstGeom prst="rect">
              <a:avLst/>
            </a:prstGeom>
            <a:noFill/>
            <a:ln/>
          </p:spPr>
          <p:txBody>
            <a:bodyPr wrap="square" lIns="0" tIns="0" rIns="0" bIns="0" rtlCol="0" anchor="ctr">
              <a:spAutoFit/>
            </a:bodyPr>
            <a:lstStyle/>
            <a:p>
              <a:r>
                <a:rPr lang="en-US" sz="1256" b="1" dirty="0">
                  <a:solidFill>
                    <a:srgbClr val="1A365D"/>
                  </a:solidFill>
                  <a:latin typeface="Noto Sans" pitchFamily="34" charset="0"/>
                  <a:ea typeface="Noto Sans" pitchFamily="34" charset="-122"/>
                  <a:cs typeface="Noto Sans" pitchFamily="34" charset="-120"/>
                </a:rPr>
                <a:t>Q1: Do outputs require grounding on enterprise/private data?</a:t>
              </a:r>
              <a:endParaRPr lang="en-US" sz="1256" dirty="0"/>
            </a:p>
          </p:txBody>
        </p:sp>
        <p:sp>
          <p:nvSpPr>
            <p:cNvPr id="8" name="Text 5"/>
            <p:cNvSpPr/>
            <p:nvPr/>
          </p:nvSpPr>
          <p:spPr>
            <a:xfrm>
              <a:off x="523875" y="2371461"/>
              <a:ext cx="4838700"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Does your application need to reference specific documents, databases, or proprietary information?</a:t>
              </a:r>
              <a:endParaRPr lang="en-US" sz="1116" dirty="0"/>
            </a:p>
          </p:txBody>
        </p:sp>
        <p:sp>
          <p:nvSpPr>
            <p:cNvPr id="9" name="Shape 6"/>
            <p:cNvSpPr/>
            <p:nvPr/>
          </p:nvSpPr>
          <p:spPr>
            <a:xfrm>
              <a:off x="523875" y="2847975"/>
              <a:ext cx="228600" cy="228600"/>
            </a:xfrm>
            <a:prstGeom prst="ellipse">
              <a:avLst/>
            </a:prstGeom>
            <a:solidFill>
              <a:srgbClr val="E76F51"/>
            </a:solidFill>
            <a:ln/>
          </p:spPr>
          <p:txBody>
            <a:bodyPr/>
            <a:lstStyle/>
            <a:p>
              <a:endParaRPr lang="en-IN" sz="2400"/>
            </a:p>
          </p:txBody>
        </p:sp>
        <p:sp>
          <p:nvSpPr>
            <p:cNvPr id="10" name="Text 7"/>
            <p:cNvSpPr/>
            <p:nvPr/>
          </p:nvSpPr>
          <p:spPr>
            <a:xfrm>
              <a:off x="593290" y="2876418"/>
              <a:ext cx="8976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Y</a:t>
              </a:r>
              <a:endParaRPr lang="en-US" sz="1116" dirty="0"/>
            </a:p>
          </p:txBody>
        </p:sp>
        <p:sp>
          <p:nvSpPr>
            <p:cNvPr id="11" name="Text 8"/>
            <p:cNvSpPr/>
            <p:nvPr/>
          </p:nvSpPr>
          <p:spPr>
            <a:xfrm>
              <a:off x="847725" y="2875228"/>
              <a:ext cx="424796"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Yes →</a:t>
              </a:r>
              <a:endParaRPr lang="en-US" sz="1116" dirty="0"/>
            </a:p>
          </p:txBody>
        </p:sp>
        <p:sp>
          <p:nvSpPr>
            <p:cNvPr id="12" name="Text 9"/>
            <p:cNvSpPr/>
            <p:nvPr/>
          </p:nvSpPr>
          <p:spPr>
            <a:xfrm>
              <a:off x="1293057" y="2875228"/>
              <a:ext cx="1670329"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RAG or Hybrid approach</a:t>
              </a:r>
              <a:endParaRPr lang="en-US" sz="1116" dirty="0"/>
            </a:p>
          </p:txBody>
        </p:sp>
        <p:sp>
          <p:nvSpPr>
            <p:cNvPr id="13" name="Shape 10"/>
            <p:cNvSpPr/>
            <p:nvPr/>
          </p:nvSpPr>
          <p:spPr>
            <a:xfrm>
              <a:off x="523875" y="3152775"/>
              <a:ext cx="228600" cy="228600"/>
            </a:xfrm>
            <a:prstGeom prst="ellipse">
              <a:avLst/>
            </a:prstGeom>
            <a:solidFill>
              <a:srgbClr val="2A9D8F"/>
            </a:solidFill>
            <a:ln/>
          </p:spPr>
          <p:txBody>
            <a:bodyPr/>
            <a:lstStyle/>
            <a:p>
              <a:endParaRPr lang="en-IN" sz="2400"/>
            </a:p>
          </p:txBody>
        </p:sp>
        <p:sp>
          <p:nvSpPr>
            <p:cNvPr id="14" name="Text 11"/>
            <p:cNvSpPr/>
            <p:nvPr/>
          </p:nvSpPr>
          <p:spPr>
            <a:xfrm>
              <a:off x="579664" y="3181218"/>
              <a:ext cx="117020"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N</a:t>
              </a:r>
              <a:endParaRPr lang="en-US" sz="1116" dirty="0"/>
            </a:p>
          </p:txBody>
        </p:sp>
        <p:sp>
          <p:nvSpPr>
            <p:cNvPr id="15" name="Text 12"/>
            <p:cNvSpPr/>
            <p:nvPr/>
          </p:nvSpPr>
          <p:spPr>
            <a:xfrm>
              <a:off x="847726" y="3180028"/>
              <a:ext cx="38472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No →</a:t>
              </a:r>
              <a:endParaRPr lang="en-US" sz="1116" dirty="0"/>
            </a:p>
          </p:txBody>
        </p:sp>
        <p:sp>
          <p:nvSpPr>
            <p:cNvPr id="16" name="Text 13"/>
            <p:cNvSpPr/>
            <p:nvPr/>
          </p:nvSpPr>
          <p:spPr>
            <a:xfrm>
              <a:off x="1258007" y="3180028"/>
              <a:ext cx="1048364"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Continue to Q2</a:t>
              </a:r>
              <a:endParaRPr lang="en-US" sz="1116" dirty="0"/>
            </a:p>
          </p:txBody>
        </p:sp>
      </p:grpSp>
      <p:grpSp>
        <p:nvGrpSpPr>
          <p:cNvPr id="46" name="Group 45">
            <a:extLst>
              <a:ext uri="{FF2B5EF4-FFF2-40B4-BE49-F238E27FC236}">
                <a16:creationId xmlns:a16="http://schemas.microsoft.com/office/drawing/2014/main" id="{05C299B5-D93B-FE07-E120-09A3912135C3}"/>
              </a:ext>
            </a:extLst>
          </p:cNvPr>
          <p:cNvGrpSpPr/>
          <p:nvPr/>
        </p:nvGrpSpPr>
        <p:grpSpPr>
          <a:xfrm>
            <a:off x="381000" y="3667126"/>
            <a:ext cx="5124451" cy="1704975"/>
            <a:chOff x="381000" y="3667126"/>
            <a:chExt cx="5124451" cy="1704975"/>
          </a:xfrm>
        </p:grpSpPr>
        <p:sp>
          <p:nvSpPr>
            <p:cNvPr id="17" name="Shape 14"/>
            <p:cNvSpPr/>
            <p:nvPr/>
          </p:nvSpPr>
          <p:spPr>
            <a:xfrm>
              <a:off x="381000" y="3667126"/>
              <a:ext cx="5124451" cy="1704975"/>
            </a:xfrm>
            <a:prstGeom prst="rect">
              <a:avLst/>
            </a:prstGeom>
            <a:solidFill>
              <a:srgbClr val="F8F9FA"/>
            </a:solidFill>
            <a:ln/>
          </p:spPr>
          <p:txBody>
            <a:bodyPr/>
            <a:lstStyle/>
            <a:p>
              <a:endParaRPr lang="en-IN" sz="2400"/>
            </a:p>
          </p:txBody>
        </p:sp>
        <p:sp>
          <p:nvSpPr>
            <p:cNvPr id="18" name="Shape 15"/>
            <p:cNvSpPr/>
            <p:nvPr/>
          </p:nvSpPr>
          <p:spPr>
            <a:xfrm>
              <a:off x="381001" y="3667126"/>
              <a:ext cx="38100" cy="1704975"/>
            </a:xfrm>
            <a:prstGeom prst="rect">
              <a:avLst/>
            </a:prstGeom>
            <a:solidFill>
              <a:srgbClr val="1A365D"/>
            </a:solidFill>
            <a:ln/>
          </p:spPr>
          <p:txBody>
            <a:bodyPr/>
            <a:lstStyle/>
            <a:p>
              <a:endParaRPr lang="en-IN" sz="2400"/>
            </a:p>
          </p:txBody>
        </p:sp>
        <p:sp>
          <p:nvSpPr>
            <p:cNvPr id="19" name="Text 16"/>
            <p:cNvSpPr/>
            <p:nvPr/>
          </p:nvSpPr>
          <p:spPr>
            <a:xfrm>
              <a:off x="523875" y="3841959"/>
              <a:ext cx="4470776" cy="193258"/>
            </a:xfrm>
            <a:prstGeom prst="rect">
              <a:avLst/>
            </a:prstGeom>
            <a:noFill/>
            <a:ln/>
          </p:spPr>
          <p:txBody>
            <a:bodyPr wrap="none" lIns="0" tIns="0" rIns="0" bIns="0" rtlCol="0" anchor="ctr">
              <a:spAutoFit/>
            </a:bodyPr>
            <a:lstStyle/>
            <a:p>
              <a:r>
                <a:rPr lang="en-US" sz="1256" b="1" dirty="0">
                  <a:solidFill>
                    <a:srgbClr val="1A365D"/>
                  </a:solidFill>
                  <a:latin typeface="Noto Sans" pitchFamily="34" charset="0"/>
                  <a:ea typeface="Noto Sans" pitchFamily="34" charset="-122"/>
                  <a:cs typeface="Noto Sans" pitchFamily="34" charset="-120"/>
                </a:rPr>
                <a:t>Q2: Is there a deterministic business flow or approvals?</a:t>
              </a:r>
              <a:endParaRPr lang="en-US" sz="1256" dirty="0"/>
            </a:p>
          </p:txBody>
        </p:sp>
        <p:sp>
          <p:nvSpPr>
            <p:cNvPr id="20" name="Text 17"/>
            <p:cNvSpPr/>
            <p:nvPr/>
          </p:nvSpPr>
          <p:spPr>
            <a:xfrm>
              <a:off x="523875" y="4219311"/>
              <a:ext cx="4838700"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Does your process follow a predictable sequence with defined steps or approval gates?</a:t>
              </a:r>
              <a:endParaRPr lang="en-US" sz="1116" dirty="0"/>
            </a:p>
          </p:txBody>
        </p:sp>
        <p:sp>
          <p:nvSpPr>
            <p:cNvPr id="21" name="Shape 18"/>
            <p:cNvSpPr/>
            <p:nvPr/>
          </p:nvSpPr>
          <p:spPr>
            <a:xfrm>
              <a:off x="523875" y="4695825"/>
              <a:ext cx="228600" cy="228600"/>
            </a:xfrm>
            <a:prstGeom prst="ellipse">
              <a:avLst/>
            </a:prstGeom>
            <a:solidFill>
              <a:srgbClr val="E9C46A"/>
            </a:solidFill>
            <a:ln/>
          </p:spPr>
          <p:txBody>
            <a:bodyPr/>
            <a:lstStyle/>
            <a:p>
              <a:endParaRPr lang="en-IN" sz="2400"/>
            </a:p>
          </p:txBody>
        </p:sp>
        <p:sp>
          <p:nvSpPr>
            <p:cNvPr id="22" name="Text 19"/>
            <p:cNvSpPr/>
            <p:nvPr/>
          </p:nvSpPr>
          <p:spPr>
            <a:xfrm>
              <a:off x="593290" y="4724268"/>
              <a:ext cx="8976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Y</a:t>
              </a:r>
              <a:endParaRPr lang="en-US" sz="1116" dirty="0"/>
            </a:p>
          </p:txBody>
        </p:sp>
        <p:sp>
          <p:nvSpPr>
            <p:cNvPr id="23" name="Text 20"/>
            <p:cNvSpPr/>
            <p:nvPr/>
          </p:nvSpPr>
          <p:spPr>
            <a:xfrm>
              <a:off x="847725" y="4723079"/>
              <a:ext cx="424796"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Yes →</a:t>
              </a:r>
              <a:endParaRPr lang="en-US" sz="1116" dirty="0"/>
            </a:p>
          </p:txBody>
        </p:sp>
        <p:sp>
          <p:nvSpPr>
            <p:cNvPr id="24" name="Text 21"/>
            <p:cNvSpPr/>
            <p:nvPr/>
          </p:nvSpPr>
          <p:spPr>
            <a:xfrm>
              <a:off x="1293057" y="4723079"/>
              <a:ext cx="1082027"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Static Workflow</a:t>
              </a:r>
              <a:endParaRPr lang="en-US" sz="1116" dirty="0"/>
            </a:p>
          </p:txBody>
        </p:sp>
        <p:sp>
          <p:nvSpPr>
            <p:cNvPr id="25" name="Shape 22"/>
            <p:cNvSpPr/>
            <p:nvPr/>
          </p:nvSpPr>
          <p:spPr>
            <a:xfrm>
              <a:off x="523875" y="5000625"/>
              <a:ext cx="228600" cy="228600"/>
            </a:xfrm>
            <a:prstGeom prst="ellipse">
              <a:avLst/>
            </a:prstGeom>
            <a:solidFill>
              <a:srgbClr val="2A9D8F"/>
            </a:solidFill>
            <a:ln/>
          </p:spPr>
          <p:txBody>
            <a:bodyPr/>
            <a:lstStyle/>
            <a:p>
              <a:endParaRPr lang="en-IN" sz="2400"/>
            </a:p>
          </p:txBody>
        </p:sp>
        <p:sp>
          <p:nvSpPr>
            <p:cNvPr id="26" name="Text 23"/>
            <p:cNvSpPr/>
            <p:nvPr/>
          </p:nvSpPr>
          <p:spPr>
            <a:xfrm>
              <a:off x="579664" y="5029068"/>
              <a:ext cx="117020"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N</a:t>
              </a:r>
              <a:endParaRPr lang="en-US" sz="1116" dirty="0"/>
            </a:p>
          </p:txBody>
        </p:sp>
        <p:sp>
          <p:nvSpPr>
            <p:cNvPr id="27" name="Text 24"/>
            <p:cNvSpPr/>
            <p:nvPr/>
          </p:nvSpPr>
          <p:spPr>
            <a:xfrm>
              <a:off x="847726" y="5027879"/>
              <a:ext cx="38472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No →</a:t>
              </a:r>
              <a:endParaRPr lang="en-US" sz="1116" dirty="0"/>
            </a:p>
          </p:txBody>
        </p:sp>
        <p:sp>
          <p:nvSpPr>
            <p:cNvPr id="28" name="Text 25"/>
            <p:cNvSpPr/>
            <p:nvPr/>
          </p:nvSpPr>
          <p:spPr>
            <a:xfrm>
              <a:off x="1258007" y="5027879"/>
              <a:ext cx="1048364"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Continue to Q3</a:t>
              </a:r>
              <a:endParaRPr lang="en-US" sz="1116" dirty="0"/>
            </a:p>
          </p:txBody>
        </p:sp>
      </p:grpSp>
      <p:grpSp>
        <p:nvGrpSpPr>
          <p:cNvPr id="44" name="Group 43">
            <a:extLst>
              <a:ext uri="{FF2B5EF4-FFF2-40B4-BE49-F238E27FC236}">
                <a16:creationId xmlns:a16="http://schemas.microsoft.com/office/drawing/2014/main" id="{B3923A1D-7B71-473A-F3D0-5767A5F3B1F7}"/>
              </a:ext>
            </a:extLst>
          </p:cNvPr>
          <p:cNvGrpSpPr/>
          <p:nvPr/>
        </p:nvGrpSpPr>
        <p:grpSpPr>
          <a:xfrm>
            <a:off x="6414541" y="3076575"/>
            <a:ext cx="5124451" cy="1704975"/>
            <a:chOff x="381000" y="5514975"/>
            <a:chExt cx="5124451" cy="1704975"/>
          </a:xfrm>
        </p:grpSpPr>
        <p:sp>
          <p:nvSpPr>
            <p:cNvPr id="29" name="Shape 26"/>
            <p:cNvSpPr/>
            <p:nvPr/>
          </p:nvSpPr>
          <p:spPr>
            <a:xfrm>
              <a:off x="381000" y="5514975"/>
              <a:ext cx="5124451" cy="1704975"/>
            </a:xfrm>
            <a:prstGeom prst="rect">
              <a:avLst/>
            </a:prstGeom>
            <a:solidFill>
              <a:srgbClr val="F8F9FA"/>
            </a:solidFill>
            <a:ln/>
          </p:spPr>
          <p:txBody>
            <a:bodyPr/>
            <a:lstStyle/>
            <a:p>
              <a:endParaRPr lang="en-IN" sz="2400"/>
            </a:p>
          </p:txBody>
        </p:sp>
        <p:sp>
          <p:nvSpPr>
            <p:cNvPr id="30" name="Shape 27"/>
            <p:cNvSpPr/>
            <p:nvPr/>
          </p:nvSpPr>
          <p:spPr>
            <a:xfrm>
              <a:off x="381001" y="5514975"/>
              <a:ext cx="38100" cy="1704975"/>
            </a:xfrm>
            <a:prstGeom prst="rect">
              <a:avLst/>
            </a:prstGeom>
            <a:solidFill>
              <a:srgbClr val="1A365D"/>
            </a:solidFill>
            <a:ln/>
          </p:spPr>
          <p:txBody>
            <a:bodyPr/>
            <a:lstStyle/>
            <a:p>
              <a:endParaRPr lang="en-IN" sz="2400"/>
            </a:p>
          </p:txBody>
        </p:sp>
        <p:sp>
          <p:nvSpPr>
            <p:cNvPr id="31" name="Text 28"/>
            <p:cNvSpPr/>
            <p:nvPr/>
          </p:nvSpPr>
          <p:spPr>
            <a:xfrm>
              <a:off x="523875" y="5689809"/>
              <a:ext cx="3396764" cy="193258"/>
            </a:xfrm>
            <a:prstGeom prst="rect">
              <a:avLst/>
            </a:prstGeom>
            <a:noFill/>
            <a:ln/>
          </p:spPr>
          <p:txBody>
            <a:bodyPr wrap="none" lIns="0" tIns="0" rIns="0" bIns="0" rtlCol="0" anchor="ctr">
              <a:spAutoFit/>
            </a:bodyPr>
            <a:lstStyle/>
            <a:p>
              <a:r>
                <a:rPr lang="en-US" sz="1256" b="1" dirty="0">
                  <a:solidFill>
                    <a:srgbClr val="1A365D"/>
                  </a:solidFill>
                  <a:latin typeface="Noto Sans" pitchFamily="34" charset="0"/>
                  <a:ea typeface="Noto Sans" pitchFamily="34" charset="-122"/>
                  <a:cs typeface="Noto Sans" pitchFamily="34" charset="-120"/>
                </a:rPr>
                <a:t>Q3: Are tools/APIs and planning required?</a:t>
              </a:r>
              <a:endParaRPr lang="en-US" sz="1256" dirty="0"/>
            </a:p>
          </p:txBody>
        </p:sp>
        <p:sp>
          <p:nvSpPr>
            <p:cNvPr id="32" name="Text 29"/>
            <p:cNvSpPr/>
            <p:nvPr/>
          </p:nvSpPr>
          <p:spPr>
            <a:xfrm>
              <a:off x="523875" y="6067161"/>
              <a:ext cx="4838700" cy="343427"/>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Does your application need to use external tools or perform complex multi-step planning?</a:t>
              </a:r>
              <a:endParaRPr lang="en-US" sz="1116" dirty="0"/>
            </a:p>
          </p:txBody>
        </p:sp>
        <p:sp>
          <p:nvSpPr>
            <p:cNvPr id="33" name="Shape 30"/>
            <p:cNvSpPr/>
            <p:nvPr/>
          </p:nvSpPr>
          <p:spPr>
            <a:xfrm>
              <a:off x="523875" y="6543675"/>
              <a:ext cx="228600" cy="228600"/>
            </a:xfrm>
            <a:prstGeom prst="ellipse">
              <a:avLst/>
            </a:prstGeom>
            <a:solidFill>
              <a:srgbClr val="F4A261"/>
            </a:solidFill>
            <a:ln/>
          </p:spPr>
          <p:txBody>
            <a:bodyPr/>
            <a:lstStyle/>
            <a:p>
              <a:endParaRPr lang="en-IN" sz="2400"/>
            </a:p>
          </p:txBody>
        </p:sp>
        <p:sp>
          <p:nvSpPr>
            <p:cNvPr id="34" name="Text 31"/>
            <p:cNvSpPr/>
            <p:nvPr/>
          </p:nvSpPr>
          <p:spPr>
            <a:xfrm>
              <a:off x="593290" y="6572118"/>
              <a:ext cx="89768"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Y</a:t>
              </a:r>
              <a:endParaRPr lang="en-US" sz="1116" dirty="0"/>
            </a:p>
          </p:txBody>
        </p:sp>
        <p:sp>
          <p:nvSpPr>
            <p:cNvPr id="35" name="Text 32"/>
            <p:cNvSpPr/>
            <p:nvPr/>
          </p:nvSpPr>
          <p:spPr>
            <a:xfrm>
              <a:off x="847725" y="6570928"/>
              <a:ext cx="424796"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Yes →</a:t>
              </a:r>
              <a:endParaRPr lang="en-US" sz="1116" dirty="0"/>
            </a:p>
          </p:txBody>
        </p:sp>
        <p:sp>
          <p:nvSpPr>
            <p:cNvPr id="36" name="Text 33"/>
            <p:cNvSpPr/>
            <p:nvPr/>
          </p:nvSpPr>
          <p:spPr>
            <a:xfrm>
              <a:off x="1293057" y="6570928"/>
              <a:ext cx="541815"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Agentic</a:t>
              </a:r>
              <a:endParaRPr lang="en-US" sz="1116" dirty="0"/>
            </a:p>
          </p:txBody>
        </p:sp>
        <p:sp>
          <p:nvSpPr>
            <p:cNvPr id="37" name="Shape 34"/>
            <p:cNvSpPr/>
            <p:nvPr/>
          </p:nvSpPr>
          <p:spPr>
            <a:xfrm>
              <a:off x="523875" y="6848475"/>
              <a:ext cx="228600" cy="228600"/>
            </a:xfrm>
            <a:prstGeom prst="ellipse">
              <a:avLst/>
            </a:prstGeom>
            <a:solidFill>
              <a:srgbClr val="2A9D8F"/>
            </a:solidFill>
            <a:ln/>
          </p:spPr>
          <p:txBody>
            <a:bodyPr/>
            <a:lstStyle/>
            <a:p>
              <a:endParaRPr lang="en-IN" sz="2400"/>
            </a:p>
          </p:txBody>
        </p:sp>
        <p:sp>
          <p:nvSpPr>
            <p:cNvPr id="38" name="Text 35"/>
            <p:cNvSpPr/>
            <p:nvPr/>
          </p:nvSpPr>
          <p:spPr>
            <a:xfrm>
              <a:off x="579664" y="6876918"/>
              <a:ext cx="117020" cy="171714"/>
            </a:xfrm>
            <a:prstGeom prst="rect">
              <a:avLst/>
            </a:prstGeom>
            <a:noFill/>
            <a:ln/>
          </p:spPr>
          <p:txBody>
            <a:bodyPr wrap="none" lIns="0" tIns="0" rIns="0" bIns="0" rtlCol="0" anchor="ctr">
              <a:spAutoFit/>
            </a:bodyPr>
            <a:lstStyle/>
            <a:p>
              <a:pPr algn="ctr"/>
              <a:r>
                <a:rPr lang="en-US" sz="1116" b="1" dirty="0">
                  <a:solidFill>
                    <a:srgbClr val="FFFFFF"/>
                  </a:solidFill>
                  <a:latin typeface="Noto Sans" pitchFamily="34" charset="0"/>
                  <a:ea typeface="Noto Sans" pitchFamily="34" charset="-122"/>
                  <a:cs typeface="Noto Sans" pitchFamily="34" charset="-120"/>
                </a:rPr>
                <a:t>N</a:t>
              </a:r>
              <a:endParaRPr lang="en-US" sz="1116" dirty="0"/>
            </a:p>
          </p:txBody>
        </p:sp>
        <p:sp>
          <p:nvSpPr>
            <p:cNvPr id="39" name="Text 36"/>
            <p:cNvSpPr/>
            <p:nvPr/>
          </p:nvSpPr>
          <p:spPr>
            <a:xfrm>
              <a:off x="847726" y="6875728"/>
              <a:ext cx="38472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No →</a:t>
              </a:r>
              <a:endParaRPr lang="en-US" sz="1116" dirty="0"/>
            </a:p>
          </p:txBody>
        </p:sp>
        <p:sp>
          <p:nvSpPr>
            <p:cNvPr id="40" name="Text 37"/>
            <p:cNvSpPr/>
            <p:nvPr/>
          </p:nvSpPr>
          <p:spPr>
            <a:xfrm>
              <a:off x="1258007" y="6875728"/>
              <a:ext cx="1335302" cy="171714"/>
            </a:xfrm>
            <a:prstGeom prst="rect">
              <a:avLst/>
            </a:prstGeom>
            <a:noFill/>
            <a:ln/>
          </p:spPr>
          <p:txBody>
            <a:bodyPr wrap="none" lIns="0" tIns="0" rIns="0" bIns="0" rtlCol="0" anchor="ctr">
              <a:spAutoFit/>
            </a:bodyPr>
            <a:lstStyle/>
            <a:p>
              <a:r>
                <a:rPr lang="en-US" sz="1116" dirty="0">
                  <a:solidFill>
                    <a:srgbClr val="000000"/>
                  </a:solidFill>
                  <a:latin typeface="Noto Sans" pitchFamily="34" charset="0"/>
                  <a:ea typeface="Noto Sans" pitchFamily="34" charset="-122"/>
                  <a:cs typeface="Noto Sans" pitchFamily="34" charset="-120"/>
                </a:rPr>
                <a:t> Prompt-based MVP</a:t>
              </a:r>
              <a:endParaRPr lang="en-US" sz="1116" dirty="0"/>
            </a:p>
          </p:txBody>
        </p:sp>
      </p:grpSp>
    </p:spTree>
    <p:extLst>
      <p:ext uri="{BB962C8B-B14F-4D97-AF65-F5344CB8AC3E}">
        <p14:creationId xmlns:p14="http://schemas.microsoft.com/office/powerpoint/2010/main" val="150942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8986434"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Pattern Selection Decision Tree - Part 2 (Edge Cases)</a:t>
            </a:r>
            <a:endParaRPr lang="en-US" sz="2700" dirty="0"/>
          </a:p>
        </p:txBody>
      </p:sp>
      <p:sp>
        <p:nvSpPr>
          <p:cNvPr id="4" name="Text 1"/>
          <p:cNvSpPr/>
          <p:nvPr/>
        </p:nvSpPr>
        <p:spPr>
          <a:xfrm>
            <a:off x="381000" y="1120688"/>
            <a:ext cx="2388474" cy="311325"/>
          </a:xfrm>
          <a:prstGeom prst="rect">
            <a:avLst/>
          </a:prstGeom>
          <a:noFill/>
          <a:ln/>
        </p:spPr>
        <p:txBody>
          <a:bodyPr wrap="none" lIns="0" tIns="0" rIns="0" bIns="56727" rtlCol="0" anchor="ctr">
            <a:spAutoFit/>
          </a:bodyPr>
          <a:lstStyle/>
          <a:p>
            <a:r>
              <a:rPr lang="en-US" sz="1651" b="1" dirty="0">
                <a:solidFill>
                  <a:srgbClr val="2A9D8F"/>
                </a:solidFill>
                <a:latin typeface="Noto Sans" pitchFamily="34" charset="0"/>
                <a:ea typeface="Noto Sans" pitchFamily="34" charset="-122"/>
                <a:cs typeface="Noto Sans" pitchFamily="34" charset="-120"/>
              </a:rPr>
              <a:t>Special Considerations</a:t>
            </a:r>
            <a:endParaRPr lang="en-US" sz="1651" dirty="0"/>
          </a:p>
        </p:txBody>
      </p:sp>
      <p:sp>
        <p:nvSpPr>
          <p:cNvPr id="5" name="Shape 2"/>
          <p:cNvSpPr/>
          <p:nvPr/>
        </p:nvSpPr>
        <p:spPr>
          <a:xfrm>
            <a:off x="381000" y="1562100"/>
            <a:ext cx="5572125" cy="1219200"/>
          </a:xfrm>
          <a:prstGeom prst="rect">
            <a:avLst/>
          </a:prstGeom>
          <a:solidFill>
            <a:srgbClr val="F8F9FA"/>
          </a:solidFill>
          <a:ln/>
        </p:spPr>
        <p:txBody>
          <a:bodyPr/>
          <a:lstStyle/>
          <a:p>
            <a:endParaRPr lang="en-IN" sz="2400"/>
          </a:p>
        </p:txBody>
      </p:sp>
      <p:sp>
        <p:nvSpPr>
          <p:cNvPr id="6" name="Shape 3"/>
          <p:cNvSpPr/>
          <p:nvPr/>
        </p:nvSpPr>
        <p:spPr>
          <a:xfrm>
            <a:off x="381001" y="1562100"/>
            <a:ext cx="38100" cy="1219200"/>
          </a:xfrm>
          <a:prstGeom prst="rect">
            <a:avLst/>
          </a:prstGeom>
          <a:solidFill>
            <a:srgbClr val="2A9D8F"/>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95301" y="1719263"/>
            <a:ext cx="128588" cy="171451"/>
          </a:xfrm>
          <a:prstGeom prst="rect">
            <a:avLst/>
          </a:prstGeom>
        </p:spPr>
      </p:pic>
      <p:sp>
        <p:nvSpPr>
          <p:cNvPr id="8" name="Text 4"/>
          <p:cNvSpPr/>
          <p:nvPr/>
        </p:nvSpPr>
        <p:spPr>
          <a:xfrm>
            <a:off x="700088" y="1708359"/>
            <a:ext cx="3071354"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 Low-Latency, Fixed UX Requirements </a:t>
            </a:r>
            <a:endParaRPr lang="en-US" sz="1256" dirty="0"/>
          </a:p>
        </p:txBody>
      </p:sp>
      <p:sp>
        <p:nvSpPr>
          <p:cNvPr id="9" name="Text 5"/>
          <p:cNvSpPr/>
          <p:nvPr/>
        </p:nvSpPr>
        <p:spPr>
          <a:xfrm>
            <a:off x="495300" y="2008454"/>
            <a:ext cx="53700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Choose </a:t>
            </a:r>
            <a:endParaRPr lang="en-US" sz="1116" dirty="0"/>
          </a:p>
        </p:txBody>
      </p:sp>
      <p:sp>
        <p:nvSpPr>
          <p:cNvPr id="10" name="Text 6"/>
          <p:cNvSpPr/>
          <p:nvPr/>
        </p:nvSpPr>
        <p:spPr>
          <a:xfrm>
            <a:off x="1068810" y="2008454"/>
            <a:ext cx="1011495"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Prompt-based</a:t>
            </a:r>
            <a:endParaRPr lang="en-US" sz="1116" dirty="0"/>
          </a:p>
        </p:txBody>
      </p:sp>
      <p:sp>
        <p:nvSpPr>
          <p:cNvPr id="11" name="Text 7"/>
          <p:cNvSpPr/>
          <p:nvPr/>
        </p:nvSpPr>
        <p:spPr>
          <a:xfrm>
            <a:off x="2137135" y="2008454"/>
            <a:ext cx="21961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or </a:t>
            </a:r>
            <a:endParaRPr lang="en-US" sz="1116" dirty="0"/>
          </a:p>
        </p:txBody>
      </p:sp>
      <p:sp>
        <p:nvSpPr>
          <p:cNvPr id="12" name="Text 8"/>
          <p:cNvSpPr/>
          <p:nvPr/>
        </p:nvSpPr>
        <p:spPr>
          <a:xfrm>
            <a:off x="2371539" y="2008454"/>
            <a:ext cx="1203856"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Static Workflows</a:t>
            </a:r>
            <a:endParaRPr lang="en-US" sz="1116" dirty="0"/>
          </a:p>
        </p:txBody>
      </p:sp>
      <p:sp>
        <p:nvSpPr>
          <p:cNvPr id="13" name="Text 9"/>
          <p:cNvSpPr/>
          <p:nvPr/>
        </p:nvSpPr>
        <p:spPr>
          <a:xfrm>
            <a:off x="3649563" y="2008454"/>
            <a:ext cx="447238"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when:</a:t>
            </a:r>
            <a:endParaRPr lang="en-US" sz="1116" dirty="0"/>
          </a:p>
        </p:txBody>
      </p:sp>
      <p:sp>
        <p:nvSpPr>
          <p:cNvPr id="14" name="Text 10"/>
          <p:cNvSpPr/>
          <p:nvPr/>
        </p:nvSpPr>
        <p:spPr>
          <a:xfrm>
            <a:off x="685800" y="2238243"/>
            <a:ext cx="2521524"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Response time is critical (sub-second)</a:t>
            </a:r>
            <a:endParaRPr lang="en-US" sz="1116" dirty="0"/>
          </a:p>
        </p:txBody>
      </p:sp>
      <p:sp>
        <p:nvSpPr>
          <p:cNvPr id="15" name="Text 11"/>
          <p:cNvSpPr/>
          <p:nvPr/>
        </p:nvSpPr>
        <p:spPr>
          <a:xfrm>
            <a:off x="685801" y="2466843"/>
            <a:ext cx="274113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User interface needs predictable outputs</a:t>
            </a:r>
            <a:endParaRPr lang="en-US" sz="1116" dirty="0"/>
          </a:p>
        </p:txBody>
      </p:sp>
      <p:sp>
        <p:nvSpPr>
          <p:cNvPr id="16" name="Shape 12"/>
          <p:cNvSpPr/>
          <p:nvPr/>
        </p:nvSpPr>
        <p:spPr>
          <a:xfrm>
            <a:off x="381000" y="2895600"/>
            <a:ext cx="5572125" cy="1219200"/>
          </a:xfrm>
          <a:prstGeom prst="rect">
            <a:avLst/>
          </a:prstGeom>
          <a:solidFill>
            <a:srgbClr val="F8F9FA"/>
          </a:solidFill>
          <a:ln/>
        </p:spPr>
        <p:txBody>
          <a:bodyPr/>
          <a:lstStyle/>
          <a:p>
            <a:endParaRPr lang="en-IN" sz="2400"/>
          </a:p>
        </p:txBody>
      </p:sp>
      <p:sp>
        <p:nvSpPr>
          <p:cNvPr id="17" name="Shape 13"/>
          <p:cNvSpPr/>
          <p:nvPr/>
        </p:nvSpPr>
        <p:spPr>
          <a:xfrm>
            <a:off x="381001" y="2895600"/>
            <a:ext cx="38100" cy="1219200"/>
          </a:xfrm>
          <a:prstGeom prst="rect">
            <a:avLst/>
          </a:prstGeom>
          <a:solidFill>
            <a:srgbClr val="E9C46A"/>
          </a:solidFill>
          <a:ln/>
        </p:spPr>
        <p:txBody>
          <a:bodyPr/>
          <a:lstStyle/>
          <a:p>
            <a:endParaRPr lang="en-IN" sz="2400"/>
          </a:p>
        </p:txBody>
      </p:sp>
      <p:pic>
        <p:nvPicPr>
          <p:cNvPr id="18" name="Image 2" descr="preencoded.png"/>
          <p:cNvPicPr>
            <a:picLocks noChangeAspect="1"/>
          </p:cNvPicPr>
          <p:nvPr/>
        </p:nvPicPr>
        <p:blipFill>
          <a:blip r:embed="rId4"/>
          <a:stretch>
            <a:fillRect/>
          </a:stretch>
        </p:blipFill>
        <p:spPr>
          <a:xfrm>
            <a:off x="495300" y="3052763"/>
            <a:ext cx="171451" cy="171451"/>
          </a:xfrm>
          <a:prstGeom prst="rect">
            <a:avLst/>
          </a:prstGeom>
        </p:spPr>
      </p:pic>
      <p:sp>
        <p:nvSpPr>
          <p:cNvPr id="19" name="Text 14"/>
          <p:cNvSpPr/>
          <p:nvPr/>
        </p:nvSpPr>
        <p:spPr>
          <a:xfrm>
            <a:off x="742951" y="3041859"/>
            <a:ext cx="3310202"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 High Variance Tasks, Tool Orchestration </a:t>
            </a:r>
            <a:endParaRPr lang="en-US" sz="1256" dirty="0"/>
          </a:p>
        </p:txBody>
      </p:sp>
      <p:sp>
        <p:nvSpPr>
          <p:cNvPr id="20" name="Text 15"/>
          <p:cNvSpPr/>
          <p:nvPr/>
        </p:nvSpPr>
        <p:spPr>
          <a:xfrm>
            <a:off x="495300" y="3341954"/>
            <a:ext cx="53700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Choose </a:t>
            </a:r>
            <a:endParaRPr lang="en-US" sz="1116" dirty="0"/>
          </a:p>
        </p:txBody>
      </p:sp>
      <p:sp>
        <p:nvSpPr>
          <p:cNvPr id="21" name="Text 16"/>
          <p:cNvSpPr/>
          <p:nvPr/>
        </p:nvSpPr>
        <p:spPr>
          <a:xfrm>
            <a:off x="1068810" y="3341954"/>
            <a:ext cx="548227"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Agentic</a:t>
            </a:r>
            <a:endParaRPr lang="en-US" sz="1116" dirty="0"/>
          </a:p>
        </p:txBody>
      </p:sp>
      <p:sp>
        <p:nvSpPr>
          <p:cNvPr id="22" name="Text 17"/>
          <p:cNvSpPr/>
          <p:nvPr/>
        </p:nvSpPr>
        <p:spPr>
          <a:xfrm>
            <a:off x="1651621" y="3341954"/>
            <a:ext cx="982641"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pattern when:</a:t>
            </a:r>
            <a:endParaRPr lang="en-US" sz="1116" dirty="0"/>
          </a:p>
        </p:txBody>
      </p:sp>
      <p:sp>
        <p:nvSpPr>
          <p:cNvPr id="23" name="Text 18"/>
          <p:cNvSpPr/>
          <p:nvPr/>
        </p:nvSpPr>
        <p:spPr>
          <a:xfrm>
            <a:off x="685801" y="3571743"/>
            <a:ext cx="277800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Tasks vary significantly between requests</a:t>
            </a:r>
            <a:endParaRPr lang="en-US" sz="1116" dirty="0"/>
          </a:p>
        </p:txBody>
      </p:sp>
      <p:sp>
        <p:nvSpPr>
          <p:cNvPr id="24" name="Text 19"/>
          <p:cNvSpPr/>
          <p:nvPr/>
        </p:nvSpPr>
        <p:spPr>
          <a:xfrm>
            <a:off x="685801" y="3800343"/>
            <a:ext cx="277159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Multiple external tools need coordination</a:t>
            </a:r>
            <a:endParaRPr lang="en-US" sz="1116" dirty="0"/>
          </a:p>
        </p:txBody>
      </p:sp>
      <p:sp>
        <p:nvSpPr>
          <p:cNvPr id="25" name="Shape 20"/>
          <p:cNvSpPr/>
          <p:nvPr/>
        </p:nvSpPr>
        <p:spPr>
          <a:xfrm>
            <a:off x="381000" y="4229100"/>
            <a:ext cx="5572125" cy="1219200"/>
          </a:xfrm>
          <a:prstGeom prst="rect">
            <a:avLst/>
          </a:prstGeom>
          <a:solidFill>
            <a:srgbClr val="F8F9FA"/>
          </a:solidFill>
          <a:ln/>
        </p:spPr>
        <p:txBody>
          <a:bodyPr/>
          <a:lstStyle/>
          <a:p>
            <a:endParaRPr lang="en-IN" sz="2400"/>
          </a:p>
        </p:txBody>
      </p:sp>
      <p:sp>
        <p:nvSpPr>
          <p:cNvPr id="26" name="Shape 21"/>
          <p:cNvSpPr/>
          <p:nvPr/>
        </p:nvSpPr>
        <p:spPr>
          <a:xfrm>
            <a:off x="381001" y="4229100"/>
            <a:ext cx="38100" cy="1219200"/>
          </a:xfrm>
          <a:prstGeom prst="rect">
            <a:avLst/>
          </a:prstGeom>
          <a:solidFill>
            <a:srgbClr val="F4A261"/>
          </a:solidFill>
          <a:ln/>
        </p:spPr>
        <p:txBody>
          <a:bodyPr/>
          <a:lstStyle/>
          <a:p>
            <a:endParaRPr lang="en-IN" sz="2400"/>
          </a:p>
        </p:txBody>
      </p:sp>
      <p:pic>
        <p:nvPicPr>
          <p:cNvPr id="27" name="Image 3" descr="preencoded.png"/>
          <p:cNvPicPr>
            <a:picLocks noChangeAspect="1"/>
          </p:cNvPicPr>
          <p:nvPr/>
        </p:nvPicPr>
        <p:blipFill>
          <a:blip r:embed="rId5"/>
          <a:stretch>
            <a:fillRect/>
          </a:stretch>
        </p:blipFill>
        <p:spPr>
          <a:xfrm>
            <a:off x="495300" y="4386263"/>
            <a:ext cx="171451" cy="171451"/>
          </a:xfrm>
          <a:prstGeom prst="rect">
            <a:avLst/>
          </a:prstGeom>
        </p:spPr>
      </p:pic>
      <p:sp>
        <p:nvSpPr>
          <p:cNvPr id="28" name="Text 22"/>
          <p:cNvSpPr/>
          <p:nvPr/>
        </p:nvSpPr>
        <p:spPr>
          <a:xfrm>
            <a:off x="742951" y="4375359"/>
            <a:ext cx="2181687" cy="193258"/>
          </a:xfrm>
          <a:prstGeom prst="rect">
            <a:avLst/>
          </a:prstGeom>
          <a:noFill/>
          <a:ln/>
        </p:spPr>
        <p:txBody>
          <a:bodyPr wrap="none" lIns="0" tIns="0" rIns="0" bIns="0" rtlCol="0" anchor="ctr">
            <a:spAutoFit/>
          </a:bodyPr>
          <a:lstStyle/>
          <a:p>
            <a:r>
              <a:rPr lang="en-US" sz="1256" b="1" dirty="0">
                <a:solidFill>
                  <a:srgbClr val="000000"/>
                </a:solidFill>
                <a:latin typeface="Noto Sans" pitchFamily="34" charset="0"/>
                <a:ea typeface="Noto Sans" pitchFamily="34" charset="-122"/>
                <a:cs typeface="Noto Sans" pitchFamily="34" charset="-120"/>
              </a:rPr>
              <a:t> Compliance &amp; Auditability </a:t>
            </a:r>
            <a:endParaRPr lang="en-US" sz="1256" dirty="0"/>
          </a:p>
        </p:txBody>
      </p:sp>
      <p:sp>
        <p:nvSpPr>
          <p:cNvPr id="29" name="Text 23"/>
          <p:cNvSpPr/>
          <p:nvPr/>
        </p:nvSpPr>
        <p:spPr>
          <a:xfrm>
            <a:off x="495300" y="4675454"/>
            <a:ext cx="537006"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Choose </a:t>
            </a:r>
            <a:endParaRPr lang="en-US" sz="1116" dirty="0"/>
          </a:p>
        </p:txBody>
      </p:sp>
      <p:sp>
        <p:nvSpPr>
          <p:cNvPr id="30" name="Text 24"/>
          <p:cNvSpPr/>
          <p:nvPr/>
        </p:nvSpPr>
        <p:spPr>
          <a:xfrm>
            <a:off x="1068810" y="4675454"/>
            <a:ext cx="298159"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RAG</a:t>
            </a:r>
            <a:endParaRPr lang="en-US" sz="1116" dirty="0"/>
          </a:p>
        </p:txBody>
      </p:sp>
      <p:sp>
        <p:nvSpPr>
          <p:cNvPr id="31" name="Text 25"/>
          <p:cNvSpPr/>
          <p:nvPr/>
        </p:nvSpPr>
        <p:spPr>
          <a:xfrm>
            <a:off x="1381869" y="4675454"/>
            <a:ext cx="2707472"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pattern (with logging/guardrails) when:</a:t>
            </a:r>
            <a:endParaRPr lang="en-US" sz="1116" dirty="0"/>
          </a:p>
        </p:txBody>
      </p:sp>
      <p:sp>
        <p:nvSpPr>
          <p:cNvPr id="32" name="Text 26"/>
          <p:cNvSpPr/>
          <p:nvPr/>
        </p:nvSpPr>
        <p:spPr>
          <a:xfrm>
            <a:off x="685800" y="4905243"/>
            <a:ext cx="3399970"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Responses must be grounded in approved content</a:t>
            </a:r>
            <a:endParaRPr lang="en-US" sz="1116" dirty="0"/>
          </a:p>
        </p:txBody>
      </p:sp>
      <p:sp>
        <p:nvSpPr>
          <p:cNvPr id="33" name="Text 27"/>
          <p:cNvSpPr/>
          <p:nvPr/>
        </p:nvSpPr>
        <p:spPr>
          <a:xfrm>
            <a:off x="685801" y="5133843"/>
            <a:ext cx="1976503"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Source attribution is required</a:t>
            </a:r>
            <a:endParaRPr lang="en-US" sz="1116" dirty="0"/>
          </a:p>
        </p:txBody>
      </p:sp>
      <p:grpSp>
        <p:nvGrpSpPr>
          <p:cNvPr id="41" name="Group 40">
            <a:extLst>
              <a:ext uri="{FF2B5EF4-FFF2-40B4-BE49-F238E27FC236}">
                <a16:creationId xmlns:a16="http://schemas.microsoft.com/office/drawing/2014/main" id="{A527057B-719C-5068-ECA9-B40E13931AD1}"/>
              </a:ext>
            </a:extLst>
          </p:cNvPr>
          <p:cNvGrpSpPr/>
          <p:nvPr/>
        </p:nvGrpSpPr>
        <p:grpSpPr>
          <a:xfrm>
            <a:off x="6276975" y="2754528"/>
            <a:ext cx="5572125" cy="1371600"/>
            <a:chOff x="381000" y="5705475"/>
            <a:chExt cx="5572125" cy="1371600"/>
          </a:xfrm>
        </p:grpSpPr>
        <p:sp>
          <p:nvSpPr>
            <p:cNvPr id="34" name="Shape 28"/>
            <p:cNvSpPr/>
            <p:nvPr/>
          </p:nvSpPr>
          <p:spPr>
            <a:xfrm>
              <a:off x="381000" y="5705475"/>
              <a:ext cx="5572125" cy="1371600"/>
            </a:xfrm>
            <a:prstGeom prst="rect">
              <a:avLst/>
            </a:prstGeom>
            <a:solidFill>
              <a:srgbClr val="1A365D">
                <a:alpha val="10000"/>
              </a:srgbClr>
            </a:solidFill>
            <a:ln w="99">
              <a:solidFill>
                <a:srgbClr val="1A365D"/>
              </a:solidFill>
              <a:prstDash val="solid"/>
            </a:ln>
          </p:spPr>
          <p:txBody>
            <a:bodyPr/>
            <a:lstStyle/>
            <a:p>
              <a:endParaRPr lang="en-IN" sz="2400"/>
            </a:p>
          </p:txBody>
        </p:sp>
        <p:sp>
          <p:nvSpPr>
            <p:cNvPr id="35" name="Text 29"/>
            <p:cNvSpPr/>
            <p:nvPr/>
          </p:nvSpPr>
          <p:spPr>
            <a:xfrm>
              <a:off x="2008090" y="5883890"/>
              <a:ext cx="2317942" cy="214674"/>
            </a:xfrm>
            <a:prstGeom prst="rect">
              <a:avLst/>
            </a:prstGeom>
            <a:noFill/>
            <a:ln/>
          </p:spPr>
          <p:txBody>
            <a:bodyPr wrap="none" lIns="0" tIns="0" rIns="0" bIns="0" rtlCol="0" anchor="ctr">
              <a:spAutoFit/>
            </a:bodyPr>
            <a:lstStyle/>
            <a:p>
              <a:pPr algn="ctr"/>
              <a:r>
                <a:rPr lang="en-US" sz="1395" b="1" dirty="0">
                  <a:solidFill>
                    <a:srgbClr val="1A365D"/>
                  </a:solidFill>
                  <a:latin typeface="Noto Sans" pitchFamily="34" charset="0"/>
                  <a:ea typeface="Noto Sans" pitchFamily="34" charset="-122"/>
                  <a:cs typeface="Noto Sans" pitchFamily="34" charset="-120"/>
                </a:rPr>
                <a:t>Hybrid Recommendations</a:t>
              </a:r>
              <a:endParaRPr lang="en-US" sz="1395" dirty="0"/>
            </a:p>
          </p:txBody>
        </p:sp>
        <p:sp>
          <p:nvSpPr>
            <p:cNvPr id="36" name="Text 30"/>
            <p:cNvSpPr/>
            <p:nvPr/>
          </p:nvSpPr>
          <p:spPr>
            <a:xfrm>
              <a:off x="714376" y="6256603"/>
              <a:ext cx="931345"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RAG + Agent:</a:t>
              </a:r>
              <a:endParaRPr lang="en-US" sz="1116" dirty="0"/>
            </a:p>
          </p:txBody>
        </p:sp>
        <p:sp>
          <p:nvSpPr>
            <p:cNvPr id="37" name="Text 31"/>
            <p:cNvSpPr/>
            <p:nvPr/>
          </p:nvSpPr>
          <p:spPr>
            <a:xfrm>
              <a:off x="1657384" y="6256603"/>
              <a:ext cx="4211266" cy="170970"/>
            </a:xfrm>
            <a:prstGeom prst="rect">
              <a:avLst/>
            </a:prstGeom>
            <a:noFill/>
            <a:ln/>
          </p:spPr>
          <p:txBody>
            <a:bodyPr wrap="squar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Ground responses in enterprise data while enabling tool use</a:t>
              </a:r>
              <a:endParaRPr lang="en-US" sz="1116" dirty="0"/>
            </a:p>
          </p:txBody>
        </p:sp>
        <p:sp>
          <p:nvSpPr>
            <p:cNvPr id="38" name="Text 32"/>
            <p:cNvSpPr/>
            <p:nvPr/>
          </p:nvSpPr>
          <p:spPr>
            <a:xfrm>
              <a:off x="714375" y="6713803"/>
              <a:ext cx="1971694" cy="171714"/>
            </a:xfrm>
            <a:prstGeom prst="rect">
              <a:avLst/>
            </a:prstGeom>
            <a:noFill/>
            <a:ln/>
          </p:spPr>
          <p:txBody>
            <a:bodyPr wrap="none" lIns="0" tIns="0" rIns="0" bIns="0" rtlCol="0" anchor="ctr">
              <a:spAutoFit/>
            </a:bodyPr>
            <a:lstStyle/>
            <a:p>
              <a:r>
                <a:rPr lang="en-US" sz="1116" b="1" dirty="0">
                  <a:solidFill>
                    <a:srgbClr val="374151"/>
                  </a:solidFill>
                  <a:latin typeface="Noto Sans" pitchFamily="34" charset="0"/>
                  <a:ea typeface="Noto Sans" pitchFamily="34" charset="-122"/>
                  <a:cs typeface="Noto Sans" pitchFamily="34" charset="-120"/>
                </a:rPr>
                <a:t>Prompt-based for UI polish:</a:t>
              </a:r>
              <a:endParaRPr lang="en-US" sz="1116" dirty="0"/>
            </a:p>
          </p:txBody>
        </p:sp>
        <p:sp>
          <p:nvSpPr>
            <p:cNvPr id="39" name="Text 33"/>
            <p:cNvSpPr/>
            <p:nvPr/>
          </p:nvSpPr>
          <p:spPr>
            <a:xfrm>
              <a:off x="2801653" y="6713803"/>
              <a:ext cx="2693045" cy="171714"/>
            </a:xfrm>
            <a:prstGeom prst="rect">
              <a:avLst/>
            </a:prstGeom>
            <a:noFill/>
            <a:ln/>
          </p:spPr>
          <p:txBody>
            <a:bodyPr wrap="none" lIns="0" tIns="0" rIns="0" bIns="0" rtlCol="0" anchor="ctr">
              <a:spAutoFit/>
            </a:bodyPr>
            <a:lstStyle/>
            <a:p>
              <a:r>
                <a:rPr lang="en-US" sz="1116" dirty="0">
                  <a:solidFill>
                    <a:srgbClr val="374151"/>
                  </a:solidFill>
                  <a:latin typeface="Noto Sans" pitchFamily="34" charset="0"/>
                  <a:ea typeface="Noto Sans" pitchFamily="34" charset="-122"/>
                  <a:cs typeface="Noto Sans" pitchFamily="34" charset="-120"/>
                </a:rPr>
                <a:t> Use simple prompting to refine outputs</a:t>
              </a:r>
              <a:endParaRPr lang="en-US" sz="1116" dirty="0"/>
            </a:p>
          </p:txBody>
        </p:sp>
      </p:grpSp>
      <p:pic>
        <p:nvPicPr>
          <p:cNvPr id="40" name="Image 4" descr="preencoded.png"/>
          <p:cNvPicPr>
            <a:picLocks noChangeAspect="1"/>
          </p:cNvPicPr>
          <p:nvPr/>
        </p:nvPicPr>
        <p:blipFill>
          <a:blip r:embed="rId6"/>
          <a:stretch>
            <a:fillRect/>
          </a:stretch>
        </p:blipFill>
        <p:spPr>
          <a:xfrm>
            <a:off x="6238875" y="1085851"/>
            <a:ext cx="2857500" cy="1428751"/>
          </a:xfrm>
          <a:prstGeom prst="rect">
            <a:avLst/>
          </a:prstGeom>
        </p:spPr>
      </p:pic>
    </p:spTree>
    <p:extLst>
      <p:ext uri="{BB962C8B-B14F-4D97-AF65-F5344CB8AC3E}">
        <p14:creationId xmlns:p14="http://schemas.microsoft.com/office/powerpoint/2010/main" val="3813973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D6E797-6FD0-F7CE-204D-27D5B4D21236}"/>
              </a:ext>
            </a:extLst>
          </p:cNvPr>
          <p:cNvSpPr txBox="1"/>
          <p:nvPr/>
        </p:nvSpPr>
        <p:spPr>
          <a:xfrm>
            <a:off x="1145804" y="2443533"/>
            <a:ext cx="9647482" cy="1107996"/>
          </a:xfrm>
          <a:prstGeom prst="rect">
            <a:avLst/>
          </a:prstGeom>
          <a:noFill/>
        </p:spPr>
        <p:txBody>
          <a:bodyPr wrap="square">
            <a:spAutoFit/>
          </a:bodyPr>
          <a:lstStyle/>
          <a:p>
            <a:r>
              <a:rPr lang="en-IN" sz="6600" b="1" dirty="0"/>
              <a:t>Prompting Frameworks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1" y="487681"/>
            <a:ext cx="4735655" cy="1200329"/>
          </a:xfrm>
          <a:prstGeom prst="rect">
            <a:avLst/>
          </a:prstGeom>
          <a:noFill/>
        </p:spPr>
        <p:txBody>
          <a:bodyPr wrap="none">
            <a:spAutoFit/>
          </a:bodyPr>
          <a:lstStyle/>
          <a:p>
            <a:endParaRPr sz="2400"/>
          </a:p>
          <a:p>
            <a:pPr>
              <a:defRPr sz="3600" b="1">
                <a:solidFill>
                  <a:srgbClr val="0A2540"/>
                </a:solidFill>
              </a:defRPr>
            </a:pPr>
            <a:r>
              <a:rPr sz="4800"/>
              <a:t>RISE Framework</a:t>
            </a:r>
          </a:p>
        </p:txBody>
      </p:sp>
      <p:sp>
        <p:nvSpPr>
          <p:cNvPr id="3" name="TextBox 2"/>
          <p:cNvSpPr txBox="1"/>
          <p:nvPr/>
        </p:nvSpPr>
        <p:spPr>
          <a:xfrm>
            <a:off x="609600" y="1584960"/>
            <a:ext cx="10972800" cy="4472506"/>
          </a:xfrm>
          <a:prstGeom prst="rect">
            <a:avLst/>
          </a:prstGeom>
          <a:noFill/>
        </p:spPr>
        <p:txBody>
          <a:bodyPr wrap="square">
            <a:spAutoFit/>
          </a:bodyPr>
          <a:lstStyle/>
          <a:p>
            <a:endParaRPr sz="2400"/>
          </a:p>
          <a:p>
            <a:pPr>
              <a:spcAft>
                <a:spcPts val="800"/>
              </a:spcAft>
              <a:defRPr sz="1600" b="1">
                <a:solidFill>
                  <a:srgbClr val="00D4FF"/>
                </a:solidFill>
              </a:defRPr>
            </a:pPr>
            <a:r>
              <a:rPr sz="2133"/>
              <a:t>R - Role</a:t>
            </a:r>
          </a:p>
          <a:p>
            <a:pPr>
              <a:spcAft>
                <a:spcPts val="1867"/>
              </a:spcAft>
              <a:defRPr sz="1300">
                <a:solidFill>
                  <a:srgbClr val="2D3748"/>
                </a:solidFill>
              </a:defRPr>
            </a:pPr>
            <a:r>
              <a:rPr sz="1733"/>
              <a:t>Define AI's expertise and perspective with specific professional role</a:t>
            </a:r>
          </a:p>
          <a:p>
            <a:pPr>
              <a:spcAft>
                <a:spcPts val="800"/>
              </a:spcAft>
              <a:defRPr sz="1600" b="1">
                <a:solidFill>
                  <a:srgbClr val="00D4FF"/>
                </a:solidFill>
              </a:defRPr>
            </a:pPr>
            <a:r>
              <a:rPr sz="2133"/>
              <a:t>I - Instructions</a:t>
            </a:r>
          </a:p>
          <a:p>
            <a:pPr>
              <a:spcAft>
                <a:spcPts val="1867"/>
              </a:spcAft>
              <a:defRPr sz="1300">
                <a:solidFill>
                  <a:srgbClr val="2D3748"/>
                </a:solidFill>
              </a:defRPr>
            </a:pPr>
            <a:r>
              <a:rPr sz="1733"/>
              <a:t>Clear, action-oriented directive using specific verbs</a:t>
            </a:r>
          </a:p>
          <a:p>
            <a:pPr>
              <a:spcAft>
                <a:spcPts val="800"/>
              </a:spcAft>
              <a:defRPr sz="1600" b="1">
                <a:solidFill>
                  <a:srgbClr val="00D4FF"/>
                </a:solidFill>
              </a:defRPr>
            </a:pPr>
            <a:r>
              <a:rPr sz="2133"/>
              <a:t>S - Scenario</a:t>
            </a:r>
          </a:p>
          <a:p>
            <a:pPr>
              <a:spcAft>
                <a:spcPts val="1867"/>
              </a:spcAft>
              <a:defRPr sz="1300">
                <a:solidFill>
                  <a:srgbClr val="2D3748"/>
                </a:solidFill>
              </a:defRPr>
            </a:pPr>
            <a:r>
              <a:rPr sz="1733"/>
              <a:t>Provide context, constraints, and relevant parameters</a:t>
            </a:r>
          </a:p>
          <a:p>
            <a:pPr>
              <a:spcAft>
                <a:spcPts val="800"/>
              </a:spcAft>
              <a:defRPr sz="1600" b="1">
                <a:solidFill>
                  <a:srgbClr val="00D4FF"/>
                </a:solidFill>
              </a:defRPr>
            </a:pPr>
            <a:r>
              <a:rPr sz="2133"/>
              <a:t>E - Examples</a:t>
            </a:r>
          </a:p>
          <a:p>
            <a:pPr>
              <a:spcAft>
                <a:spcPts val="1867"/>
              </a:spcAft>
              <a:defRPr sz="1300">
                <a:solidFill>
                  <a:srgbClr val="2D3748"/>
                </a:solidFill>
              </a:defRPr>
            </a:pPr>
            <a:r>
              <a:rPr sz="1733"/>
              <a:t>Show desired output format or style with concrete examples</a:t>
            </a:r>
          </a:p>
          <a:p>
            <a:pPr>
              <a:defRPr sz="1200" i="1">
                <a:solidFill>
                  <a:srgbClr val="5F6368"/>
                </a:solidFill>
              </a:defRPr>
            </a:pPr>
            <a:r>
              <a:rPr sz="1600"/>
              <a:t>Best for: Structured tasks requiring specific expertise and clear deliverables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1" y="487681"/>
            <a:ext cx="4988545" cy="1200329"/>
          </a:xfrm>
          <a:prstGeom prst="rect">
            <a:avLst/>
          </a:prstGeom>
          <a:noFill/>
        </p:spPr>
        <p:txBody>
          <a:bodyPr wrap="none">
            <a:spAutoFit/>
          </a:bodyPr>
          <a:lstStyle/>
          <a:p>
            <a:endParaRPr sz="2400"/>
          </a:p>
          <a:p>
            <a:pPr>
              <a:defRPr sz="3600" b="1">
                <a:solidFill>
                  <a:srgbClr val="0A2540"/>
                </a:solidFill>
              </a:defRPr>
            </a:pPr>
            <a:r>
              <a:rPr sz="4800"/>
              <a:t>RACE Framework</a:t>
            </a:r>
          </a:p>
        </p:txBody>
      </p:sp>
      <p:sp>
        <p:nvSpPr>
          <p:cNvPr id="3" name="TextBox 2"/>
          <p:cNvSpPr txBox="1"/>
          <p:nvPr/>
        </p:nvSpPr>
        <p:spPr>
          <a:xfrm>
            <a:off x="609601" y="1584960"/>
            <a:ext cx="7478779" cy="4472506"/>
          </a:xfrm>
          <a:prstGeom prst="rect">
            <a:avLst/>
          </a:prstGeom>
          <a:noFill/>
        </p:spPr>
        <p:txBody>
          <a:bodyPr wrap="none">
            <a:spAutoFit/>
          </a:bodyPr>
          <a:lstStyle/>
          <a:p>
            <a:endParaRPr sz="2400"/>
          </a:p>
          <a:p>
            <a:pPr>
              <a:spcAft>
                <a:spcPts val="800"/>
              </a:spcAft>
              <a:defRPr sz="1600" b="1">
                <a:solidFill>
                  <a:srgbClr val="00D4FF"/>
                </a:solidFill>
              </a:defRPr>
            </a:pPr>
            <a:r>
              <a:rPr sz="2133"/>
              <a:t>R - Role</a:t>
            </a:r>
          </a:p>
          <a:p>
            <a:pPr>
              <a:spcAft>
                <a:spcPts val="1867"/>
              </a:spcAft>
              <a:defRPr sz="1300">
                <a:solidFill>
                  <a:srgbClr val="2D3748"/>
                </a:solidFill>
              </a:defRPr>
            </a:pPr>
            <a:r>
              <a:rPr sz="1733"/>
              <a:t>Establish AI's professional identity and domain expertise</a:t>
            </a:r>
          </a:p>
          <a:p>
            <a:pPr>
              <a:spcAft>
                <a:spcPts val="800"/>
              </a:spcAft>
              <a:defRPr sz="1600" b="1">
                <a:solidFill>
                  <a:srgbClr val="00D4FF"/>
                </a:solidFill>
              </a:defRPr>
            </a:pPr>
            <a:r>
              <a:rPr sz="2133"/>
              <a:t>A - Action</a:t>
            </a:r>
          </a:p>
          <a:p>
            <a:pPr>
              <a:spcAft>
                <a:spcPts val="1867"/>
              </a:spcAft>
              <a:defRPr sz="1300">
                <a:solidFill>
                  <a:srgbClr val="2D3748"/>
                </a:solidFill>
              </a:defRPr>
            </a:pPr>
            <a:r>
              <a:rPr sz="1733"/>
              <a:t>Define the specific task or deliverable to be produced</a:t>
            </a:r>
          </a:p>
          <a:p>
            <a:pPr>
              <a:spcAft>
                <a:spcPts val="800"/>
              </a:spcAft>
              <a:defRPr sz="1600" b="1">
                <a:solidFill>
                  <a:srgbClr val="00D4FF"/>
                </a:solidFill>
              </a:defRPr>
            </a:pPr>
            <a:r>
              <a:rPr sz="2133"/>
              <a:t>C - Context</a:t>
            </a:r>
          </a:p>
          <a:p>
            <a:pPr>
              <a:spcAft>
                <a:spcPts val="1867"/>
              </a:spcAft>
              <a:defRPr sz="1300">
                <a:solidFill>
                  <a:srgbClr val="2D3748"/>
                </a:solidFill>
              </a:defRPr>
            </a:pPr>
            <a:r>
              <a:rPr sz="1733"/>
              <a:t>Provide background, constraints, and relevant parameters</a:t>
            </a:r>
          </a:p>
          <a:p>
            <a:pPr>
              <a:spcAft>
                <a:spcPts val="800"/>
              </a:spcAft>
              <a:defRPr sz="1600" b="1">
                <a:solidFill>
                  <a:srgbClr val="00D4FF"/>
                </a:solidFill>
              </a:defRPr>
            </a:pPr>
            <a:r>
              <a:rPr sz="2133"/>
              <a:t>E - Expectations</a:t>
            </a:r>
          </a:p>
          <a:p>
            <a:pPr>
              <a:spcAft>
                <a:spcPts val="1867"/>
              </a:spcAft>
              <a:defRPr sz="1300">
                <a:solidFill>
                  <a:srgbClr val="2D3748"/>
                </a:solidFill>
              </a:defRPr>
            </a:pPr>
            <a:r>
              <a:rPr sz="1733"/>
              <a:t>Specify format, structure, quality criteria, and success metrics</a:t>
            </a:r>
          </a:p>
          <a:p>
            <a:pPr>
              <a:defRPr sz="1200" i="1">
                <a:solidFill>
                  <a:srgbClr val="5F6368"/>
                </a:solidFill>
              </a:defRPr>
            </a:pPr>
            <a:r>
              <a:rPr sz="1600"/>
              <a:t>Best for: Professional tasks requiring domain expertise and business-ready outputs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1" y="487681"/>
            <a:ext cx="9665851" cy="1200329"/>
          </a:xfrm>
          <a:prstGeom prst="rect">
            <a:avLst/>
          </a:prstGeom>
          <a:noFill/>
        </p:spPr>
        <p:txBody>
          <a:bodyPr wrap="none">
            <a:spAutoFit/>
          </a:bodyPr>
          <a:lstStyle/>
          <a:p>
            <a:endParaRPr sz="2400"/>
          </a:p>
          <a:p>
            <a:pPr>
              <a:defRPr sz="3600" b="1">
                <a:solidFill>
                  <a:srgbClr val="0A2540"/>
                </a:solidFill>
              </a:defRPr>
            </a:pPr>
            <a:r>
              <a:rPr sz="4800"/>
              <a:t>Additional Prompting Frameworks</a:t>
            </a:r>
          </a:p>
        </p:txBody>
      </p:sp>
      <p:sp>
        <p:nvSpPr>
          <p:cNvPr id="3" name="TextBox 2"/>
          <p:cNvSpPr txBox="1"/>
          <p:nvPr/>
        </p:nvSpPr>
        <p:spPr>
          <a:xfrm>
            <a:off x="609600" y="1584960"/>
            <a:ext cx="9062994" cy="3087640"/>
          </a:xfrm>
          <a:prstGeom prst="rect">
            <a:avLst/>
          </a:prstGeom>
          <a:noFill/>
        </p:spPr>
        <p:txBody>
          <a:bodyPr wrap="none">
            <a:spAutoFit/>
          </a:bodyPr>
          <a:lstStyle/>
          <a:p>
            <a:endParaRPr sz="2400"/>
          </a:p>
          <a:p>
            <a:pPr>
              <a:spcAft>
                <a:spcPts val="1600"/>
              </a:spcAft>
              <a:defRPr sz="1300">
                <a:solidFill>
                  <a:srgbClr val="2D3748"/>
                </a:solidFill>
              </a:defRPr>
            </a:pPr>
            <a:r>
              <a:rPr sz="1733"/>
              <a:t>• ROSES: Role, Objective, Style, Example, Scenario - Creative projects with brand consistency</a:t>
            </a:r>
          </a:p>
          <a:p>
            <a:pPr>
              <a:spcAft>
                <a:spcPts val="1600"/>
              </a:spcAft>
              <a:defRPr sz="1300">
                <a:solidFill>
                  <a:srgbClr val="2D3748"/>
                </a:solidFill>
              </a:defRPr>
            </a:pPr>
            <a:r>
              <a:rPr sz="1733"/>
              <a:t>• TRACE: Task, Requirements, Audience, Context, Evaluation - Complex analysis with QC</a:t>
            </a:r>
          </a:p>
          <a:p>
            <a:pPr>
              <a:spcAft>
                <a:spcPts val="1600"/>
              </a:spcAft>
              <a:defRPr sz="1300">
                <a:solidFill>
                  <a:srgbClr val="2D3748"/>
                </a:solidFill>
              </a:defRPr>
            </a:pPr>
            <a:r>
              <a:rPr sz="1733"/>
              <a:t>• COAST: Context, Objective, Audience, Style, Tone - Audience-focused communication</a:t>
            </a:r>
          </a:p>
          <a:p>
            <a:pPr>
              <a:spcAft>
                <a:spcPts val="1600"/>
              </a:spcAft>
              <a:defRPr sz="1300">
                <a:solidFill>
                  <a:srgbClr val="2D3748"/>
                </a:solidFill>
              </a:defRPr>
            </a:pPr>
            <a:r>
              <a:rPr sz="1733"/>
              <a:t>• APE: Action, Purpose, Expectation - Beginner-friendly for 80% of tasks</a:t>
            </a:r>
          </a:p>
          <a:p>
            <a:pPr>
              <a:spcAft>
                <a:spcPts val="1600"/>
              </a:spcAft>
              <a:defRPr sz="1300">
                <a:solidFill>
                  <a:srgbClr val="2D3748"/>
                </a:solidFill>
              </a:defRPr>
            </a:pPr>
            <a:r>
              <a:rPr sz="1733"/>
              <a:t>• RISEN: Role, Instructions, Steps, Expectations, Narrowing - Multi-step with constraints</a:t>
            </a:r>
          </a:p>
          <a:p>
            <a:pPr>
              <a:spcAft>
                <a:spcPts val="1600"/>
              </a:spcAft>
              <a:defRPr sz="1300">
                <a:solidFill>
                  <a:srgbClr val="2D3748"/>
                </a:solidFill>
              </a:defRPr>
            </a:pPr>
            <a:r>
              <a:rPr sz="1733"/>
              <a:t>• CRISPE: Context, Role, Instructions, Style, Personalization, Examples - Tonal control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1" y="487681"/>
            <a:ext cx="7906395" cy="1200329"/>
          </a:xfrm>
          <a:prstGeom prst="rect">
            <a:avLst/>
          </a:prstGeom>
          <a:noFill/>
        </p:spPr>
        <p:txBody>
          <a:bodyPr wrap="none">
            <a:spAutoFit/>
          </a:bodyPr>
          <a:lstStyle/>
          <a:p>
            <a:endParaRPr sz="2400"/>
          </a:p>
          <a:p>
            <a:pPr>
              <a:defRPr sz="3600" b="1">
                <a:solidFill>
                  <a:srgbClr val="0A2540"/>
                </a:solidFill>
              </a:defRPr>
            </a:pPr>
            <a:r>
              <a:rPr sz="4800"/>
              <a:t>Framework Selection Guide</a:t>
            </a:r>
          </a:p>
        </p:txBody>
      </p:sp>
      <p:sp>
        <p:nvSpPr>
          <p:cNvPr id="3" name="TextBox 2"/>
          <p:cNvSpPr txBox="1"/>
          <p:nvPr/>
        </p:nvSpPr>
        <p:spPr>
          <a:xfrm>
            <a:off x="609600" y="1584960"/>
            <a:ext cx="6156814" cy="3977756"/>
          </a:xfrm>
          <a:prstGeom prst="rect">
            <a:avLst/>
          </a:prstGeom>
          <a:noFill/>
        </p:spPr>
        <p:txBody>
          <a:bodyPr wrap="none">
            <a:spAutoFit/>
          </a:bodyPr>
          <a:lstStyle/>
          <a:p>
            <a:endParaRPr sz="2400"/>
          </a:p>
          <a:p>
            <a:pPr>
              <a:spcAft>
                <a:spcPts val="800"/>
              </a:spcAft>
              <a:defRPr sz="1500" b="1">
                <a:solidFill>
                  <a:srgbClr val="0A2540"/>
                </a:solidFill>
              </a:defRPr>
            </a:pPr>
            <a:r>
              <a:rPr sz="2000"/>
              <a:t>BEGINNER - Quick Tasks</a:t>
            </a:r>
          </a:p>
          <a:p>
            <a:pPr>
              <a:spcAft>
                <a:spcPts val="2133"/>
              </a:spcAft>
              <a:defRPr sz="1300">
                <a:solidFill>
                  <a:srgbClr val="2D3748"/>
                </a:solidFill>
              </a:defRPr>
            </a:pPr>
            <a:r>
              <a:rPr sz="1733"/>
              <a:t>Use APE for rapid prototyping and routine operations</a:t>
            </a:r>
          </a:p>
          <a:p>
            <a:pPr>
              <a:spcAft>
                <a:spcPts val="800"/>
              </a:spcAft>
              <a:defRPr sz="1500" b="1">
                <a:solidFill>
                  <a:srgbClr val="0A2540"/>
                </a:solidFill>
              </a:defRPr>
            </a:pPr>
            <a:r>
              <a:rPr sz="2000"/>
              <a:t>INTERMEDIATE - Professional</a:t>
            </a:r>
          </a:p>
          <a:p>
            <a:pPr>
              <a:spcAft>
                <a:spcPts val="2133"/>
              </a:spcAft>
              <a:defRPr sz="1300">
                <a:solidFill>
                  <a:srgbClr val="2D3748"/>
                </a:solidFill>
              </a:defRPr>
            </a:pPr>
            <a:r>
              <a:rPr sz="1733"/>
              <a:t>Use RACE, RISE, COAST for business reports and analysis</a:t>
            </a:r>
          </a:p>
          <a:p>
            <a:pPr>
              <a:spcAft>
                <a:spcPts val="800"/>
              </a:spcAft>
              <a:defRPr sz="1500" b="1">
                <a:solidFill>
                  <a:srgbClr val="0A2540"/>
                </a:solidFill>
              </a:defRPr>
            </a:pPr>
            <a:r>
              <a:rPr sz="2000"/>
              <a:t>ADVANCED - Complex</a:t>
            </a:r>
          </a:p>
          <a:p>
            <a:pPr>
              <a:spcAft>
                <a:spcPts val="2133"/>
              </a:spcAft>
              <a:defRPr sz="1300">
                <a:solidFill>
                  <a:srgbClr val="2D3748"/>
                </a:solidFill>
              </a:defRPr>
            </a:pPr>
            <a:r>
              <a:rPr sz="1733"/>
              <a:t>Use TRACE, RISEN for technical analysis and validated outputs</a:t>
            </a:r>
          </a:p>
          <a:p>
            <a:pPr>
              <a:spcAft>
                <a:spcPts val="800"/>
              </a:spcAft>
              <a:defRPr sz="1500" b="1">
                <a:solidFill>
                  <a:srgbClr val="0A2540"/>
                </a:solidFill>
              </a:defRPr>
            </a:pPr>
            <a:r>
              <a:rPr sz="2000"/>
              <a:t>CREATIVE - Brand Content</a:t>
            </a:r>
          </a:p>
          <a:p>
            <a:pPr>
              <a:spcAft>
                <a:spcPts val="2133"/>
              </a:spcAft>
              <a:defRPr sz="1300">
                <a:solidFill>
                  <a:srgbClr val="2D3748"/>
                </a:solidFill>
              </a:defRPr>
            </a:pPr>
            <a:r>
              <a:rPr sz="1733"/>
              <a:t>Use ROSES, CRISPE for marketing and brand-aligned content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1" y="430427"/>
            <a:ext cx="4033155"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LLM Evaluation Metrics</a:t>
            </a:r>
            <a:endParaRPr lang="en-US" sz="2700" dirty="0"/>
          </a:p>
        </p:txBody>
      </p:sp>
      <p:sp>
        <p:nvSpPr>
          <p:cNvPr id="4" name="Text 1"/>
          <p:cNvSpPr/>
          <p:nvPr/>
        </p:nvSpPr>
        <p:spPr>
          <a:xfrm>
            <a:off x="381001" y="1120688"/>
            <a:ext cx="2757165"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Key Evaluation Categories</a:t>
            </a:r>
            <a:endParaRPr lang="en-US" sz="1651" dirty="0"/>
          </a:p>
        </p:txBody>
      </p:sp>
      <p:sp>
        <p:nvSpPr>
          <p:cNvPr id="5" name="Shape 2"/>
          <p:cNvSpPr/>
          <p:nvPr/>
        </p:nvSpPr>
        <p:spPr>
          <a:xfrm>
            <a:off x="381000" y="1543051"/>
            <a:ext cx="2667000" cy="781051"/>
          </a:xfrm>
          <a:prstGeom prst="rect">
            <a:avLst/>
          </a:prstGeom>
          <a:solidFill>
            <a:srgbClr val="1A365D">
              <a:alpha val="5000"/>
            </a:srgbClr>
          </a:solidFill>
          <a:ln/>
        </p:spPr>
        <p:txBody>
          <a:bodyPr/>
          <a:lstStyle/>
          <a:p>
            <a:endParaRPr lang="en-IN" sz="2400"/>
          </a:p>
        </p:txBody>
      </p:sp>
      <p:sp>
        <p:nvSpPr>
          <p:cNvPr id="6" name="Shape 3"/>
          <p:cNvSpPr/>
          <p:nvPr/>
        </p:nvSpPr>
        <p:spPr>
          <a:xfrm>
            <a:off x="457200" y="1638300"/>
            <a:ext cx="228600" cy="228600"/>
          </a:xfrm>
          <a:prstGeom prst="ellipse">
            <a:avLst/>
          </a:prstGeom>
          <a:solidFill>
            <a:srgbClr val="1A365D"/>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504826" y="1747838"/>
            <a:ext cx="133351" cy="9525"/>
          </a:xfrm>
          <a:prstGeom prst="rect">
            <a:avLst/>
          </a:prstGeom>
        </p:spPr>
      </p:pic>
      <p:sp>
        <p:nvSpPr>
          <p:cNvPr id="8" name="Text 4"/>
          <p:cNvSpPr/>
          <p:nvPr/>
        </p:nvSpPr>
        <p:spPr>
          <a:xfrm>
            <a:off x="800100" y="1647694"/>
            <a:ext cx="154369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Accuracy &amp; Factuality</a:t>
            </a:r>
            <a:endParaRPr lang="en-US" sz="1116" dirty="0"/>
          </a:p>
        </p:txBody>
      </p:sp>
      <p:sp>
        <p:nvSpPr>
          <p:cNvPr id="9" name="Text 5"/>
          <p:cNvSpPr/>
          <p:nvPr/>
        </p:nvSpPr>
        <p:spPr>
          <a:xfrm>
            <a:off x="800101" y="1982316"/>
            <a:ext cx="2171700"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Measures correctness of information</a:t>
            </a:r>
            <a:endParaRPr lang="en-US" sz="976" dirty="0"/>
          </a:p>
        </p:txBody>
      </p:sp>
      <p:sp>
        <p:nvSpPr>
          <p:cNvPr id="10" name="Shape 6"/>
          <p:cNvSpPr/>
          <p:nvPr/>
        </p:nvSpPr>
        <p:spPr>
          <a:xfrm>
            <a:off x="3143251" y="1543051"/>
            <a:ext cx="2667000" cy="781051"/>
          </a:xfrm>
          <a:prstGeom prst="rect">
            <a:avLst/>
          </a:prstGeom>
          <a:solidFill>
            <a:srgbClr val="1A365D">
              <a:alpha val="5000"/>
            </a:srgbClr>
          </a:solidFill>
          <a:ln/>
        </p:spPr>
        <p:txBody>
          <a:bodyPr/>
          <a:lstStyle/>
          <a:p>
            <a:endParaRPr lang="en-IN" sz="2400"/>
          </a:p>
        </p:txBody>
      </p:sp>
      <p:sp>
        <p:nvSpPr>
          <p:cNvPr id="11" name="Shape 7"/>
          <p:cNvSpPr/>
          <p:nvPr/>
        </p:nvSpPr>
        <p:spPr>
          <a:xfrm>
            <a:off x="3219451" y="1638300"/>
            <a:ext cx="228600" cy="228600"/>
          </a:xfrm>
          <a:prstGeom prst="ellipse">
            <a:avLst/>
          </a:prstGeom>
          <a:solidFill>
            <a:srgbClr val="1A365D"/>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3267075" y="1747838"/>
            <a:ext cx="133351" cy="9525"/>
          </a:xfrm>
          <a:prstGeom prst="rect">
            <a:avLst/>
          </a:prstGeom>
        </p:spPr>
      </p:pic>
      <p:sp>
        <p:nvSpPr>
          <p:cNvPr id="13" name="Text 8"/>
          <p:cNvSpPr/>
          <p:nvPr/>
        </p:nvSpPr>
        <p:spPr>
          <a:xfrm>
            <a:off x="3562351" y="1647694"/>
            <a:ext cx="74699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Reasoning</a:t>
            </a:r>
            <a:endParaRPr lang="en-US" sz="1116" dirty="0"/>
          </a:p>
        </p:txBody>
      </p:sp>
      <p:sp>
        <p:nvSpPr>
          <p:cNvPr id="14" name="Text 9"/>
          <p:cNvSpPr/>
          <p:nvPr/>
        </p:nvSpPr>
        <p:spPr>
          <a:xfrm>
            <a:off x="3562351" y="1887066"/>
            <a:ext cx="186910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Evaluates logical thinking ability</a:t>
            </a:r>
            <a:endParaRPr lang="en-US" sz="976" dirty="0"/>
          </a:p>
        </p:txBody>
      </p:sp>
      <p:sp>
        <p:nvSpPr>
          <p:cNvPr id="15" name="Shape 10"/>
          <p:cNvSpPr/>
          <p:nvPr/>
        </p:nvSpPr>
        <p:spPr>
          <a:xfrm>
            <a:off x="381000" y="2419351"/>
            <a:ext cx="2667000" cy="590551"/>
          </a:xfrm>
          <a:prstGeom prst="rect">
            <a:avLst/>
          </a:prstGeom>
          <a:solidFill>
            <a:srgbClr val="1A365D">
              <a:alpha val="5000"/>
            </a:srgbClr>
          </a:solidFill>
          <a:ln/>
        </p:spPr>
        <p:txBody>
          <a:bodyPr/>
          <a:lstStyle/>
          <a:p>
            <a:endParaRPr lang="en-IN" sz="2400"/>
          </a:p>
        </p:txBody>
      </p:sp>
      <p:sp>
        <p:nvSpPr>
          <p:cNvPr id="16" name="Shape 11"/>
          <p:cNvSpPr/>
          <p:nvPr/>
        </p:nvSpPr>
        <p:spPr>
          <a:xfrm>
            <a:off x="457200" y="2514600"/>
            <a:ext cx="228600" cy="228600"/>
          </a:xfrm>
          <a:prstGeom prst="ellipse">
            <a:avLst/>
          </a:prstGeom>
          <a:solidFill>
            <a:srgbClr val="1A365D"/>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13161" y="2624138"/>
            <a:ext cx="116681" cy="9525"/>
          </a:xfrm>
          <a:prstGeom prst="rect">
            <a:avLst/>
          </a:prstGeom>
        </p:spPr>
      </p:pic>
      <p:sp>
        <p:nvSpPr>
          <p:cNvPr id="18" name="Text 12"/>
          <p:cNvSpPr/>
          <p:nvPr/>
        </p:nvSpPr>
        <p:spPr>
          <a:xfrm>
            <a:off x="800101" y="2523994"/>
            <a:ext cx="87684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Text Quality</a:t>
            </a:r>
            <a:endParaRPr lang="en-US" sz="1116" dirty="0"/>
          </a:p>
        </p:txBody>
      </p:sp>
      <p:sp>
        <p:nvSpPr>
          <p:cNvPr id="19" name="Text 13"/>
          <p:cNvSpPr/>
          <p:nvPr/>
        </p:nvSpPr>
        <p:spPr>
          <a:xfrm>
            <a:off x="800101" y="2763366"/>
            <a:ext cx="187230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Assesses coherence and fluency</a:t>
            </a:r>
            <a:endParaRPr lang="en-US" sz="976" dirty="0"/>
          </a:p>
        </p:txBody>
      </p:sp>
      <p:sp>
        <p:nvSpPr>
          <p:cNvPr id="20" name="Shape 14"/>
          <p:cNvSpPr/>
          <p:nvPr/>
        </p:nvSpPr>
        <p:spPr>
          <a:xfrm>
            <a:off x="3143251" y="2419351"/>
            <a:ext cx="2667000" cy="590551"/>
          </a:xfrm>
          <a:prstGeom prst="rect">
            <a:avLst/>
          </a:prstGeom>
          <a:solidFill>
            <a:srgbClr val="1A365D">
              <a:alpha val="5000"/>
            </a:srgbClr>
          </a:solidFill>
          <a:ln/>
        </p:spPr>
        <p:txBody>
          <a:bodyPr/>
          <a:lstStyle/>
          <a:p>
            <a:endParaRPr lang="en-IN" sz="2400"/>
          </a:p>
        </p:txBody>
      </p:sp>
      <p:sp>
        <p:nvSpPr>
          <p:cNvPr id="21" name="Shape 15"/>
          <p:cNvSpPr/>
          <p:nvPr/>
        </p:nvSpPr>
        <p:spPr>
          <a:xfrm>
            <a:off x="3219451" y="2514600"/>
            <a:ext cx="228600" cy="228600"/>
          </a:xfrm>
          <a:prstGeom prst="ellipse">
            <a:avLst/>
          </a:prstGeom>
          <a:solidFill>
            <a:srgbClr val="1A365D"/>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3267075" y="2624138"/>
            <a:ext cx="133351" cy="9525"/>
          </a:xfrm>
          <a:prstGeom prst="rect">
            <a:avLst/>
          </a:prstGeom>
        </p:spPr>
      </p:pic>
      <p:sp>
        <p:nvSpPr>
          <p:cNvPr id="23" name="Text 16"/>
          <p:cNvSpPr/>
          <p:nvPr/>
        </p:nvSpPr>
        <p:spPr>
          <a:xfrm>
            <a:off x="3562351" y="2523994"/>
            <a:ext cx="138499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Safety &amp; Alignment</a:t>
            </a:r>
            <a:endParaRPr lang="en-US" sz="1116" dirty="0"/>
          </a:p>
        </p:txBody>
      </p:sp>
      <p:sp>
        <p:nvSpPr>
          <p:cNvPr id="24" name="Text 17"/>
          <p:cNvSpPr/>
          <p:nvPr/>
        </p:nvSpPr>
        <p:spPr>
          <a:xfrm>
            <a:off x="3562351" y="2763366"/>
            <a:ext cx="164628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Measures ethical adherence</a:t>
            </a:r>
            <a:endParaRPr lang="en-US" sz="976" dirty="0"/>
          </a:p>
        </p:txBody>
      </p:sp>
      <p:sp>
        <p:nvSpPr>
          <p:cNvPr id="25" name="Shape 18"/>
          <p:cNvSpPr/>
          <p:nvPr/>
        </p:nvSpPr>
        <p:spPr>
          <a:xfrm>
            <a:off x="381000" y="3105151"/>
            <a:ext cx="2667000" cy="781051"/>
          </a:xfrm>
          <a:prstGeom prst="rect">
            <a:avLst/>
          </a:prstGeom>
          <a:solidFill>
            <a:srgbClr val="1A365D">
              <a:alpha val="5000"/>
            </a:srgbClr>
          </a:solidFill>
          <a:ln/>
        </p:spPr>
        <p:txBody>
          <a:bodyPr/>
          <a:lstStyle/>
          <a:p>
            <a:endParaRPr lang="en-IN" sz="2400"/>
          </a:p>
        </p:txBody>
      </p:sp>
      <p:sp>
        <p:nvSpPr>
          <p:cNvPr id="26" name="Shape 19"/>
          <p:cNvSpPr/>
          <p:nvPr/>
        </p:nvSpPr>
        <p:spPr>
          <a:xfrm>
            <a:off x="457200" y="3200400"/>
            <a:ext cx="228600" cy="228600"/>
          </a:xfrm>
          <a:prstGeom prst="ellipse">
            <a:avLst/>
          </a:prstGeom>
          <a:solidFill>
            <a:srgbClr val="1A365D"/>
          </a:solidFill>
          <a:ln/>
        </p:spPr>
        <p:txBody>
          <a:bodyPr/>
          <a:lstStyle/>
          <a:p>
            <a:endParaRPr lang="en-IN" sz="2400"/>
          </a:p>
        </p:txBody>
      </p:sp>
      <p:pic>
        <p:nvPicPr>
          <p:cNvPr id="27" name="Image 5" descr="preencoded.png"/>
          <p:cNvPicPr>
            <a:picLocks noChangeAspect="1"/>
          </p:cNvPicPr>
          <p:nvPr/>
        </p:nvPicPr>
        <p:blipFill>
          <a:blip r:embed="rId7"/>
          <a:stretch>
            <a:fillRect/>
          </a:stretch>
        </p:blipFill>
        <p:spPr>
          <a:xfrm>
            <a:off x="504826" y="3309938"/>
            <a:ext cx="133351" cy="9525"/>
          </a:xfrm>
          <a:prstGeom prst="rect">
            <a:avLst/>
          </a:prstGeom>
        </p:spPr>
      </p:pic>
      <p:sp>
        <p:nvSpPr>
          <p:cNvPr id="28" name="Text 20"/>
          <p:cNvSpPr/>
          <p:nvPr/>
        </p:nvSpPr>
        <p:spPr>
          <a:xfrm>
            <a:off x="800100" y="3209794"/>
            <a:ext cx="129683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Task Performance</a:t>
            </a:r>
            <a:endParaRPr lang="en-US" sz="1116" dirty="0"/>
          </a:p>
        </p:txBody>
      </p:sp>
      <p:sp>
        <p:nvSpPr>
          <p:cNvPr id="29" name="Text 21"/>
          <p:cNvSpPr/>
          <p:nvPr/>
        </p:nvSpPr>
        <p:spPr>
          <a:xfrm>
            <a:off x="800101" y="3449166"/>
            <a:ext cx="1835439"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Evaluates domain effectiveness</a:t>
            </a:r>
            <a:endParaRPr lang="en-US" sz="976" dirty="0"/>
          </a:p>
        </p:txBody>
      </p:sp>
      <p:sp>
        <p:nvSpPr>
          <p:cNvPr id="30" name="Shape 22"/>
          <p:cNvSpPr/>
          <p:nvPr/>
        </p:nvSpPr>
        <p:spPr>
          <a:xfrm>
            <a:off x="3143251" y="3105151"/>
            <a:ext cx="2667000" cy="781051"/>
          </a:xfrm>
          <a:prstGeom prst="rect">
            <a:avLst/>
          </a:prstGeom>
          <a:solidFill>
            <a:srgbClr val="1A365D">
              <a:alpha val="5000"/>
            </a:srgbClr>
          </a:solidFill>
          <a:ln/>
        </p:spPr>
        <p:txBody>
          <a:bodyPr/>
          <a:lstStyle/>
          <a:p>
            <a:endParaRPr lang="en-IN" sz="2400"/>
          </a:p>
        </p:txBody>
      </p:sp>
      <p:sp>
        <p:nvSpPr>
          <p:cNvPr id="31" name="Shape 23"/>
          <p:cNvSpPr/>
          <p:nvPr/>
        </p:nvSpPr>
        <p:spPr>
          <a:xfrm>
            <a:off x="3219451" y="3200400"/>
            <a:ext cx="228600" cy="228600"/>
          </a:xfrm>
          <a:prstGeom prst="ellipse">
            <a:avLst/>
          </a:prstGeom>
          <a:solidFill>
            <a:srgbClr val="1A365D"/>
          </a:solidFill>
          <a:ln/>
        </p:spPr>
        <p:txBody>
          <a:bodyPr/>
          <a:lstStyle/>
          <a:p>
            <a:endParaRPr lang="en-IN" sz="2400"/>
          </a:p>
        </p:txBody>
      </p:sp>
      <p:pic>
        <p:nvPicPr>
          <p:cNvPr id="32" name="Image 6" descr="preencoded.png"/>
          <p:cNvPicPr>
            <a:picLocks noChangeAspect="1"/>
          </p:cNvPicPr>
          <p:nvPr/>
        </p:nvPicPr>
        <p:blipFill>
          <a:blip r:embed="rId8"/>
          <a:stretch>
            <a:fillRect/>
          </a:stretch>
        </p:blipFill>
        <p:spPr>
          <a:xfrm>
            <a:off x="3258740" y="3309938"/>
            <a:ext cx="150019" cy="9525"/>
          </a:xfrm>
          <a:prstGeom prst="rect">
            <a:avLst/>
          </a:prstGeom>
        </p:spPr>
      </p:pic>
      <p:sp>
        <p:nvSpPr>
          <p:cNvPr id="33" name="Text 24"/>
          <p:cNvSpPr/>
          <p:nvPr/>
        </p:nvSpPr>
        <p:spPr>
          <a:xfrm>
            <a:off x="3562351" y="3209794"/>
            <a:ext cx="68768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Efficiency</a:t>
            </a:r>
            <a:endParaRPr lang="en-US" sz="1116" dirty="0"/>
          </a:p>
        </p:txBody>
      </p:sp>
      <p:sp>
        <p:nvSpPr>
          <p:cNvPr id="34" name="Text 25"/>
          <p:cNvSpPr/>
          <p:nvPr/>
        </p:nvSpPr>
        <p:spPr>
          <a:xfrm>
            <a:off x="3562351" y="3544416"/>
            <a:ext cx="2171700" cy="15016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Measures speed and resource usage</a:t>
            </a:r>
            <a:endParaRPr lang="en-US" sz="976" dirty="0"/>
          </a:p>
        </p:txBody>
      </p:sp>
      <p:sp>
        <p:nvSpPr>
          <p:cNvPr id="35" name="Text 26"/>
          <p:cNvSpPr/>
          <p:nvPr/>
        </p:nvSpPr>
        <p:spPr>
          <a:xfrm>
            <a:off x="381000" y="4159163"/>
            <a:ext cx="2430152"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Evaluation Approaches</a:t>
            </a:r>
            <a:endParaRPr lang="en-US" sz="1651" dirty="0"/>
          </a:p>
        </p:txBody>
      </p:sp>
      <p:sp>
        <p:nvSpPr>
          <p:cNvPr id="36" name="Shape 27"/>
          <p:cNvSpPr/>
          <p:nvPr/>
        </p:nvSpPr>
        <p:spPr>
          <a:xfrm>
            <a:off x="381000" y="4581525"/>
            <a:ext cx="2667000" cy="781051"/>
          </a:xfrm>
          <a:prstGeom prst="rect">
            <a:avLst/>
          </a:prstGeom>
          <a:solidFill>
            <a:srgbClr val="1A365D">
              <a:alpha val="5000"/>
            </a:srgbClr>
          </a:solidFill>
          <a:ln/>
        </p:spPr>
        <p:txBody>
          <a:bodyPr/>
          <a:lstStyle/>
          <a:p>
            <a:endParaRPr lang="en-IN" sz="2400"/>
          </a:p>
        </p:txBody>
      </p:sp>
      <p:sp>
        <p:nvSpPr>
          <p:cNvPr id="37" name="Shape 28"/>
          <p:cNvSpPr/>
          <p:nvPr/>
        </p:nvSpPr>
        <p:spPr>
          <a:xfrm>
            <a:off x="457200" y="4676775"/>
            <a:ext cx="228600" cy="228600"/>
          </a:xfrm>
          <a:prstGeom prst="ellipse">
            <a:avLst/>
          </a:prstGeom>
          <a:solidFill>
            <a:srgbClr val="1A365D"/>
          </a:solidFill>
          <a:ln/>
        </p:spPr>
        <p:txBody>
          <a:bodyPr/>
          <a:lstStyle/>
          <a:p>
            <a:endParaRPr lang="en-IN" sz="2400"/>
          </a:p>
        </p:txBody>
      </p:sp>
      <p:pic>
        <p:nvPicPr>
          <p:cNvPr id="38" name="Image 7" descr="preencoded.png"/>
          <p:cNvPicPr>
            <a:picLocks noChangeAspect="1"/>
          </p:cNvPicPr>
          <p:nvPr/>
        </p:nvPicPr>
        <p:blipFill>
          <a:blip r:embed="rId9"/>
          <a:stretch>
            <a:fillRect/>
          </a:stretch>
        </p:blipFill>
        <p:spPr>
          <a:xfrm>
            <a:off x="488156" y="4786312"/>
            <a:ext cx="166688" cy="9525"/>
          </a:xfrm>
          <a:prstGeom prst="rect">
            <a:avLst/>
          </a:prstGeom>
        </p:spPr>
      </p:pic>
      <p:sp>
        <p:nvSpPr>
          <p:cNvPr id="39" name="Text 29"/>
          <p:cNvSpPr/>
          <p:nvPr/>
        </p:nvSpPr>
        <p:spPr>
          <a:xfrm>
            <a:off x="800100" y="4686168"/>
            <a:ext cx="96500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LLM-as-Judge</a:t>
            </a:r>
            <a:endParaRPr lang="en-US" sz="1116" dirty="0"/>
          </a:p>
        </p:txBody>
      </p:sp>
      <p:sp>
        <p:nvSpPr>
          <p:cNvPr id="40" name="Text 30"/>
          <p:cNvSpPr/>
          <p:nvPr/>
        </p:nvSpPr>
        <p:spPr>
          <a:xfrm>
            <a:off x="800101" y="4945706"/>
            <a:ext cx="2171700"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Using stronger LLMs to evaluate outputs</a:t>
            </a:r>
            <a:endParaRPr lang="en-US" sz="976" dirty="0"/>
          </a:p>
        </p:txBody>
      </p:sp>
      <p:sp>
        <p:nvSpPr>
          <p:cNvPr id="41" name="Shape 31"/>
          <p:cNvSpPr/>
          <p:nvPr/>
        </p:nvSpPr>
        <p:spPr>
          <a:xfrm>
            <a:off x="3143251" y="4581525"/>
            <a:ext cx="2667000" cy="781051"/>
          </a:xfrm>
          <a:prstGeom prst="rect">
            <a:avLst/>
          </a:prstGeom>
          <a:solidFill>
            <a:srgbClr val="1A365D">
              <a:alpha val="5000"/>
            </a:srgbClr>
          </a:solidFill>
          <a:ln/>
        </p:spPr>
        <p:txBody>
          <a:bodyPr/>
          <a:lstStyle/>
          <a:p>
            <a:endParaRPr lang="en-IN" sz="2400"/>
          </a:p>
        </p:txBody>
      </p:sp>
      <p:sp>
        <p:nvSpPr>
          <p:cNvPr id="42" name="Shape 32"/>
          <p:cNvSpPr/>
          <p:nvPr/>
        </p:nvSpPr>
        <p:spPr>
          <a:xfrm>
            <a:off x="3219451" y="4676775"/>
            <a:ext cx="228600" cy="228600"/>
          </a:xfrm>
          <a:prstGeom prst="ellipse">
            <a:avLst/>
          </a:prstGeom>
          <a:solidFill>
            <a:srgbClr val="1A365D"/>
          </a:solidFill>
          <a:ln/>
        </p:spPr>
        <p:txBody>
          <a:bodyPr/>
          <a:lstStyle/>
          <a:p>
            <a:endParaRPr lang="en-IN" sz="2400"/>
          </a:p>
        </p:txBody>
      </p:sp>
      <p:pic>
        <p:nvPicPr>
          <p:cNvPr id="43" name="Image 8" descr="preencoded.png"/>
          <p:cNvPicPr>
            <a:picLocks noChangeAspect="1"/>
          </p:cNvPicPr>
          <p:nvPr/>
        </p:nvPicPr>
        <p:blipFill>
          <a:blip r:embed="rId10"/>
          <a:stretch>
            <a:fillRect/>
          </a:stretch>
        </p:blipFill>
        <p:spPr>
          <a:xfrm>
            <a:off x="3250407" y="4786312"/>
            <a:ext cx="166688" cy="9525"/>
          </a:xfrm>
          <a:prstGeom prst="rect">
            <a:avLst/>
          </a:prstGeom>
        </p:spPr>
      </p:pic>
      <p:sp>
        <p:nvSpPr>
          <p:cNvPr id="44" name="Text 33"/>
          <p:cNvSpPr/>
          <p:nvPr/>
        </p:nvSpPr>
        <p:spPr>
          <a:xfrm>
            <a:off x="3562351" y="4686168"/>
            <a:ext cx="132408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Human Evaluation</a:t>
            </a:r>
            <a:endParaRPr lang="en-US" sz="1116" dirty="0"/>
          </a:p>
        </p:txBody>
      </p:sp>
      <p:sp>
        <p:nvSpPr>
          <p:cNvPr id="45" name="Text 34"/>
          <p:cNvSpPr/>
          <p:nvPr/>
        </p:nvSpPr>
        <p:spPr>
          <a:xfrm>
            <a:off x="3562352" y="4925541"/>
            <a:ext cx="173605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Expert assessment of outputs</a:t>
            </a:r>
            <a:endParaRPr lang="en-US" sz="976"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5321970"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Pattern Evaluation Framework</a:t>
            </a:r>
            <a:endParaRPr lang="en-US" sz="2700" dirty="0"/>
          </a:p>
        </p:txBody>
      </p:sp>
      <p:sp>
        <p:nvSpPr>
          <p:cNvPr id="4" name="Text 1"/>
          <p:cNvSpPr/>
          <p:nvPr/>
        </p:nvSpPr>
        <p:spPr>
          <a:xfrm>
            <a:off x="381001" y="1120688"/>
            <a:ext cx="2861361"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Key Evaluation Dimensions</a:t>
            </a:r>
            <a:endParaRPr lang="en-US" sz="1651" dirty="0"/>
          </a:p>
        </p:txBody>
      </p:sp>
      <p:sp>
        <p:nvSpPr>
          <p:cNvPr id="5" name="Shape 2"/>
          <p:cNvSpPr/>
          <p:nvPr/>
        </p:nvSpPr>
        <p:spPr>
          <a:xfrm>
            <a:off x="381000" y="1543051"/>
            <a:ext cx="2738437" cy="590551"/>
          </a:xfrm>
          <a:prstGeom prst="rect">
            <a:avLst/>
          </a:prstGeom>
          <a:solidFill>
            <a:srgbClr val="1A365D">
              <a:alpha val="5000"/>
            </a:srgbClr>
          </a:solidFill>
          <a:ln/>
        </p:spPr>
        <p:txBody>
          <a:bodyPr/>
          <a:lstStyle/>
          <a:p>
            <a:endParaRPr lang="en-IN" sz="2400"/>
          </a:p>
        </p:txBody>
      </p:sp>
      <p:sp>
        <p:nvSpPr>
          <p:cNvPr id="6" name="Shape 3"/>
          <p:cNvSpPr/>
          <p:nvPr/>
        </p:nvSpPr>
        <p:spPr>
          <a:xfrm>
            <a:off x="457200" y="1638300"/>
            <a:ext cx="228600" cy="228600"/>
          </a:xfrm>
          <a:prstGeom prst="ellipse">
            <a:avLst/>
          </a:prstGeom>
          <a:solidFill>
            <a:srgbClr val="1A365D"/>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96491" y="1747838"/>
            <a:ext cx="150019" cy="9525"/>
          </a:xfrm>
          <a:prstGeom prst="rect">
            <a:avLst/>
          </a:prstGeom>
        </p:spPr>
      </p:pic>
      <p:sp>
        <p:nvSpPr>
          <p:cNvPr id="8" name="Text 4"/>
          <p:cNvSpPr/>
          <p:nvPr/>
        </p:nvSpPr>
        <p:spPr>
          <a:xfrm>
            <a:off x="800101" y="1647694"/>
            <a:ext cx="931345"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Performance</a:t>
            </a:r>
            <a:endParaRPr lang="en-US" sz="1116" dirty="0"/>
          </a:p>
        </p:txBody>
      </p:sp>
      <p:sp>
        <p:nvSpPr>
          <p:cNvPr id="9" name="Text 5"/>
          <p:cNvSpPr/>
          <p:nvPr/>
        </p:nvSpPr>
        <p:spPr>
          <a:xfrm>
            <a:off x="800100" y="1887066"/>
            <a:ext cx="141865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Latency and throughput</a:t>
            </a:r>
            <a:endParaRPr lang="en-US" sz="976" dirty="0"/>
          </a:p>
        </p:txBody>
      </p:sp>
      <p:sp>
        <p:nvSpPr>
          <p:cNvPr id="10" name="Shape 6"/>
          <p:cNvSpPr/>
          <p:nvPr/>
        </p:nvSpPr>
        <p:spPr>
          <a:xfrm>
            <a:off x="3214688" y="1543051"/>
            <a:ext cx="2738437" cy="590551"/>
          </a:xfrm>
          <a:prstGeom prst="rect">
            <a:avLst/>
          </a:prstGeom>
          <a:solidFill>
            <a:srgbClr val="1A365D">
              <a:alpha val="5000"/>
            </a:srgbClr>
          </a:solidFill>
          <a:ln/>
        </p:spPr>
        <p:txBody>
          <a:bodyPr/>
          <a:lstStyle/>
          <a:p>
            <a:endParaRPr lang="en-IN" sz="2400"/>
          </a:p>
        </p:txBody>
      </p:sp>
      <p:sp>
        <p:nvSpPr>
          <p:cNvPr id="11" name="Shape 7"/>
          <p:cNvSpPr/>
          <p:nvPr/>
        </p:nvSpPr>
        <p:spPr>
          <a:xfrm>
            <a:off x="3290888" y="1638300"/>
            <a:ext cx="228600" cy="228600"/>
          </a:xfrm>
          <a:prstGeom prst="ellipse">
            <a:avLst/>
          </a:prstGeom>
          <a:solidFill>
            <a:srgbClr val="1A365D"/>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3363516" y="1747838"/>
            <a:ext cx="83344" cy="9525"/>
          </a:xfrm>
          <a:prstGeom prst="rect">
            <a:avLst/>
          </a:prstGeom>
        </p:spPr>
      </p:pic>
      <p:sp>
        <p:nvSpPr>
          <p:cNvPr id="13" name="Text 8"/>
          <p:cNvSpPr/>
          <p:nvPr/>
        </p:nvSpPr>
        <p:spPr>
          <a:xfrm>
            <a:off x="3633789" y="1647694"/>
            <a:ext cx="103714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Cost Efficiency</a:t>
            </a:r>
            <a:endParaRPr lang="en-US" sz="1116" dirty="0"/>
          </a:p>
        </p:txBody>
      </p:sp>
      <p:sp>
        <p:nvSpPr>
          <p:cNvPr id="14" name="Text 9"/>
          <p:cNvSpPr/>
          <p:nvPr/>
        </p:nvSpPr>
        <p:spPr>
          <a:xfrm>
            <a:off x="3633788" y="1887066"/>
            <a:ext cx="136255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Total cost of ownership</a:t>
            </a:r>
            <a:endParaRPr lang="en-US" sz="976" dirty="0"/>
          </a:p>
        </p:txBody>
      </p:sp>
      <p:sp>
        <p:nvSpPr>
          <p:cNvPr id="15" name="Shape 10"/>
          <p:cNvSpPr/>
          <p:nvPr/>
        </p:nvSpPr>
        <p:spPr>
          <a:xfrm>
            <a:off x="381000" y="2228851"/>
            <a:ext cx="2738437" cy="590551"/>
          </a:xfrm>
          <a:prstGeom prst="rect">
            <a:avLst/>
          </a:prstGeom>
          <a:solidFill>
            <a:srgbClr val="1A365D">
              <a:alpha val="5000"/>
            </a:srgbClr>
          </a:solidFill>
          <a:ln/>
        </p:spPr>
        <p:txBody>
          <a:bodyPr/>
          <a:lstStyle/>
          <a:p>
            <a:endParaRPr lang="en-IN" sz="2400"/>
          </a:p>
        </p:txBody>
      </p:sp>
      <p:sp>
        <p:nvSpPr>
          <p:cNvPr id="16" name="Shape 11"/>
          <p:cNvSpPr/>
          <p:nvPr/>
        </p:nvSpPr>
        <p:spPr>
          <a:xfrm>
            <a:off x="457200" y="2324100"/>
            <a:ext cx="228600" cy="228600"/>
          </a:xfrm>
          <a:prstGeom prst="ellipse">
            <a:avLst/>
          </a:prstGeom>
          <a:solidFill>
            <a:srgbClr val="1A365D"/>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04826" y="2433638"/>
            <a:ext cx="133351" cy="9525"/>
          </a:xfrm>
          <a:prstGeom prst="rect">
            <a:avLst/>
          </a:prstGeom>
        </p:spPr>
      </p:pic>
      <p:sp>
        <p:nvSpPr>
          <p:cNvPr id="18" name="Text 12"/>
          <p:cNvSpPr/>
          <p:nvPr/>
        </p:nvSpPr>
        <p:spPr>
          <a:xfrm>
            <a:off x="800100" y="2333494"/>
            <a:ext cx="108042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Output Quality</a:t>
            </a:r>
            <a:endParaRPr lang="en-US" sz="1116" dirty="0"/>
          </a:p>
        </p:txBody>
      </p:sp>
      <p:sp>
        <p:nvSpPr>
          <p:cNvPr id="19" name="Text 13"/>
          <p:cNvSpPr/>
          <p:nvPr/>
        </p:nvSpPr>
        <p:spPr>
          <a:xfrm>
            <a:off x="800101" y="2572866"/>
            <a:ext cx="137537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Accuracy and relevance</a:t>
            </a:r>
            <a:endParaRPr lang="en-US" sz="976" dirty="0"/>
          </a:p>
        </p:txBody>
      </p:sp>
      <p:sp>
        <p:nvSpPr>
          <p:cNvPr id="20" name="Shape 14"/>
          <p:cNvSpPr/>
          <p:nvPr/>
        </p:nvSpPr>
        <p:spPr>
          <a:xfrm>
            <a:off x="3214688" y="2228851"/>
            <a:ext cx="2738437" cy="590551"/>
          </a:xfrm>
          <a:prstGeom prst="rect">
            <a:avLst/>
          </a:prstGeom>
          <a:solidFill>
            <a:srgbClr val="1A365D">
              <a:alpha val="5000"/>
            </a:srgbClr>
          </a:solidFill>
          <a:ln/>
        </p:spPr>
        <p:txBody>
          <a:bodyPr/>
          <a:lstStyle/>
          <a:p>
            <a:endParaRPr lang="en-IN" sz="2400"/>
          </a:p>
        </p:txBody>
      </p:sp>
      <p:sp>
        <p:nvSpPr>
          <p:cNvPr id="21" name="Shape 15"/>
          <p:cNvSpPr/>
          <p:nvPr/>
        </p:nvSpPr>
        <p:spPr>
          <a:xfrm>
            <a:off x="3290888" y="2324100"/>
            <a:ext cx="228600" cy="228600"/>
          </a:xfrm>
          <a:prstGeom prst="ellipse">
            <a:avLst/>
          </a:prstGeom>
          <a:solidFill>
            <a:srgbClr val="1A365D"/>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3338513" y="2433638"/>
            <a:ext cx="133351" cy="9525"/>
          </a:xfrm>
          <a:prstGeom prst="rect">
            <a:avLst/>
          </a:prstGeom>
        </p:spPr>
      </p:pic>
      <p:sp>
        <p:nvSpPr>
          <p:cNvPr id="23" name="Text 16"/>
          <p:cNvSpPr/>
          <p:nvPr/>
        </p:nvSpPr>
        <p:spPr>
          <a:xfrm>
            <a:off x="3633788" y="2333494"/>
            <a:ext cx="117339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Implementation</a:t>
            </a:r>
            <a:endParaRPr lang="en-US" sz="1116" dirty="0"/>
          </a:p>
        </p:txBody>
      </p:sp>
      <p:sp>
        <p:nvSpPr>
          <p:cNvPr id="24" name="Text 17"/>
          <p:cNvSpPr/>
          <p:nvPr/>
        </p:nvSpPr>
        <p:spPr>
          <a:xfrm>
            <a:off x="3633788" y="2572866"/>
            <a:ext cx="1460336"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Development complexity</a:t>
            </a:r>
            <a:endParaRPr lang="en-US" sz="976" dirty="0"/>
          </a:p>
        </p:txBody>
      </p:sp>
      <p:sp>
        <p:nvSpPr>
          <p:cNvPr id="25" name="Shape 18"/>
          <p:cNvSpPr/>
          <p:nvPr/>
        </p:nvSpPr>
        <p:spPr>
          <a:xfrm>
            <a:off x="381000" y="2914651"/>
            <a:ext cx="5572125" cy="590551"/>
          </a:xfrm>
          <a:prstGeom prst="rect">
            <a:avLst/>
          </a:prstGeom>
          <a:solidFill>
            <a:srgbClr val="1A365D">
              <a:alpha val="5000"/>
            </a:srgbClr>
          </a:solidFill>
          <a:ln/>
        </p:spPr>
        <p:txBody>
          <a:bodyPr/>
          <a:lstStyle/>
          <a:p>
            <a:endParaRPr lang="en-IN" sz="2400"/>
          </a:p>
        </p:txBody>
      </p:sp>
      <p:sp>
        <p:nvSpPr>
          <p:cNvPr id="26" name="Shape 19"/>
          <p:cNvSpPr/>
          <p:nvPr/>
        </p:nvSpPr>
        <p:spPr>
          <a:xfrm>
            <a:off x="457200" y="3009900"/>
            <a:ext cx="228600" cy="228600"/>
          </a:xfrm>
          <a:prstGeom prst="ellipse">
            <a:avLst/>
          </a:prstGeom>
          <a:solidFill>
            <a:srgbClr val="1A365D"/>
          </a:solidFill>
          <a:ln/>
        </p:spPr>
        <p:txBody>
          <a:bodyPr/>
          <a:lstStyle/>
          <a:p>
            <a:endParaRPr lang="en-IN" sz="2400"/>
          </a:p>
        </p:txBody>
      </p:sp>
      <p:pic>
        <p:nvPicPr>
          <p:cNvPr id="27" name="Image 5" descr="preencoded.png"/>
          <p:cNvPicPr>
            <a:picLocks noChangeAspect="1"/>
          </p:cNvPicPr>
          <p:nvPr/>
        </p:nvPicPr>
        <p:blipFill>
          <a:blip r:embed="rId7"/>
          <a:stretch>
            <a:fillRect/>
          </a:stretch>
        </p:blipFill>
        <p:spPr>
          <a:xfrm>
            <a:off x="504826" y="3119438"/>
            <a:ext cx="133351" cy="9525"/>
          </a:xfrm>
          <a:prstGeom prst="rect">
            <a:avLst/>
          </a:prstGeom>
        </p:spPr>
      </p:pic>
      <p:sp>
        <p:nvSpPr>
          <p:cNvPr id="28" name="Text 20"/>
          <p:cNvSpPr/>
          <p:nvPr/>
        </p:nvSpPr>
        <p:spPr>
          <a:xfrm>
            <a:off x="800101" y="3019294"/>
            <a:ext cx="160300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Security &amp; Compliance</a:t>
            </a:r>
            <a:endParaRPr lang="en-US" sz="1116" dirty="0"/>
          </a:p>
        </p:txBody>
      </p:sp>
      <p:sp>
        <p:nvSpPr>
          <p:cNvPr id="29" name="Text 21"/>
          <p:cNvSpPr/>
          <p:nvPr/>
        </p:nvSpPr>
        <p:spPr>
          <a:xfrm>
            <a:off x="800100" y="3258666"/>
            <a:ext cx="244938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Data protection and regulatory alignment</a:t>
            </a:r>
            <a:endParaRPr lang="en-US" sz="976" dirty="0"/>
          </a:p>
        </p:txBody>
      </p:sp>
      <p:sp>
        <p:nvSpPr>
          <p:cNvPr id="30" name="Text 22"/>
          <p:cNvSpPr/>
          <p:nvPr/>
        </p:nvSpPr>
        <p:spPr>
          <a:xfrm>
            <a:off x="381001" y="3778163"/>
            <a:ext cx="1986121"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Evaluation Process</a:t>
            </a:r>
            <a:endParaRPr lang="en-US" sz="1651" dirty="0"/>
          </a:p>
        </p:txBody>
      </p:sp>
      <p:sp>
        <p:nvSpPr>
          <p:cNvPr id="31" name="Shape 23"/>
          <p:cNvSpPr/>
          <p:nvPr/>
        </p:nvSpPr>
        <p:spPr>
          <a:xfrm>
            <a:off x="381000" y="4200526"/>
            <a:ext cx="2738437" cy="590551"/>
          </a:xfrm>
          <a:prstGeom prst="rect">
            <a:avLst/>
          </a:prstGeom>
          <a:solidFill>
            <a:srgbClr val="1A365D">
              <a:alpha val="5000"/>
            </a:srgbClr>
          </a:solidFill>
          <a:ln/>
        </p:spPr>
        <p:txBody>
          <a:bodyPr/>
          <a:lstStyle/>
          <a:p>
            <a:endParaRPr lang="en-IN" sz="2400"/>
          </a:p>
        </p:txBody>
      </p:sp>
      <p:sp>
        <p:nvSpPr>
          <p:cNvPr id="32" name="Shape 24"/>
          <p:cNvSpPr/>
          <p:nvPr/>
        </p:nvSpPr>
        <p:spPr>
          <a:xfrm>
            <a:off x="457200" y="4295775"/>
            <a:ext cx="228600" cy="228600"/>
          </a:xfrm>
          <a:prstGeom prst="ellipse">
            <a:avLst/>
          </a:prstGeom>
          <a:solidFill>
            <a:srgbClr val="1A365D"/>
          </a:solidFill>
          <a:ln/>
        </p:spPr>
        <p:txBody>
          <a:bodyPr/>
          <a:lstStyle/>
          <a:p>
            <a:endParaRPr lang="en-IN" sz="2400"/>
          </a:p>
        </p:txBody>
      </p:sp>
      <p:pic>
        <p:nvPicPr>
          <p:cNvPr id="33" name="Image 6" descr="preencoded.png"/>
          <p:cNvPicPr>
            <a:picLocks noChangeAspect="1"/>
          </p:cNvPicPr>
          <p:nvPr/>
        </p:nvPicPr>
        <p:blipFill>
          <a:blip r:embed="rId8"/>
          <a:stretch>
            <a:fillRect/>
          </a:stretch>
        </p:blipFill>
        <p:spPr>
          <a:xfrm>
            <a:off x="504826" y="4405312"/>
            <a:ext cx="133351" cy="9525"/>
          </a:xfrm>
          <a:prstGeom prst="rect">
            <a:avLst/>
          </a:prstGeom>
        </p:spPr>
      </p:pic>
      <p:sp>
        <p:nvSpPr>
          <p:cNvPr id="34" name="Text 25"/>
          <p:cNvSpPr/>
          <p:nvPr/>
        </p:nvSpPr>
        <p:spPr>
          <a:xfrm>
            <a:off x="800100" y="4305168"/>
            <a:ext cx="151804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Define Requirements</a:t>
            </a:r>
            <a:endParaRPr lang="en-US" sz="1116" dirty="0"/>
          </a:p>
        </p:txBody>
      </p:sp>
      <p:sp>
        <p:nvSpPr>
          <p:cNvPr id="35" name="Text 26"/>
          <p:cNvSpPr/>
          <p:nvPr/>
        </p:nvSpPr>
        <p:spPr>
          <a:xfrm>
            <a:off x="800100" y="4544541"/>
            <a:ext cx="1117294"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Set clear objectives</a:t>
            </a:r>
            <a:endParaRPr lang="en-US" sz="976" dirty="0"/>
          </a:p>
        </p:txBody>
      </p:sp>
      <p:sp>
        <p:nvSpPr>
          <p:cNvPr id="36" name="Shape 27"/>
          <p:cNvSpPr/>
          <p:nvPr/>
        </p:nvSpPr>
        <p:spPr>
          <a:xfrm>
            <a:off x="3214688" y="4200526"/>
            <a:ext cx="2738437" cy="590551"/>
          </a:xfrm>
          <a:prstGeom prst="rect">
            <a:avLst/>
          </a:prstGeom>
          <a:solidFill>
            <a:srgbClr val="1A365D">
              <a:alpha val="5000"/>
            </a:srgbClr>
          </a:solidFill>
          <a:ln/>
        </p:spPr>
        <p:txBody>
          <a:bodyPr/>
          <a:lstStyle/>
          <a:p>
            <a:endParaRPr lang="en-IN" sz="2400"/>
          </a:p>
        </p:txBody>
      </p:sp>
      <p:sp>
        <p:nvSpPr>
          <p:cNvPr id="37" name="Shape 28"/>
          <p:cNvSpPr/>
          <p:nvPr/>
        </p:nvSpPr>
        <p:spPr>
          <a:xfrm>
            <a:off x="3290888" y="4295775"/>
            <a:ext cx="228600" cy="228600"/>
          </a:xfrm>
          <a:prstGeom prst="ellipse">
            <a:avLst/>
          </a:prstGeom>
          <a:solidFill>
            <a:srgbClr val="1A365D"/>
          </a:solidFill>
          <a:ln/>
        </p:spPr>
        <p:txBody>
          <a:bodyPr/>
          <a:lstStyle/>
          <a:p>
            <a:endParaRPr lang="en-IN" sz="2400"/>
          </a:p>
        </p:txBody>
      </p:sp>
      <p:pic>
        <p:nvPicPr>
          <p:cNvPr id="38" name="Image 7" descr="preencoded.png"/>
          <p:cNvPicPr>
            <a:picLocks noChangeAspect="1"/>
          </p:cNvPicPr>
          <p:nvPr/>
        </p:nvPicPr>
        <p:blipFill>
          <a:blip r:embed="rId9"/>
          <a:stretch>
            <a:fillRect/>
          </a:stretch>
        </p:blipFill>
        <p:spPr>
          <a:xfrm>
            <a:off x="3321844" y="4405312"/>
            <a:ext cx="166688" cy="9525"/>
          </a:xfrm>
          <a:prstGeom prst="rect">
            <a:avLst/>
          </a:prstGeom>
        </p:spPr>
      </p:pic>
      <p:sp>
        <p:nvSpPr>
          <p:cNvPr id="39" name="Text 29"/>
          <p:cNvSpPr/>
          <p:nvPr/>
        </p:nvSpPr>
        <p:spPr>
          <a:xfrm>
            <a:off x="3633788" y="4305168"/>
            <a:ext cx="109324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Weight Criteria</a:t>
            </a:r>
            <a:endParaRPr lang="en-US" sz="1116" dirty="0"/>
          </a:p>
        </p:txBody>
      </p:sp>
      <p:sp>
        <p:nvSpPr>
          <p:cNvPr id="40" name="Text 30"/>
          <p:cNvSpPr/>
          <p:nvPr/>
        </p:nvSpPr>
        <p:spPr>
          <a:xfrm>
            <a:off x="3633788" y="4544541"/>
            <a:ext cx="123271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Prioritize dimensions</a:t>
            </a:r>
            <a:endParaRPr lang="en-US" sz="976" dirty="0"/>
          </a:p>
        </p:txBody>
      </p:sp>
      <p:sp>
        <p:nvSpPr>
          <p:cNvPr id="41" name="Shape 31"/>
          <p:cNvSpPr/>
          <p:nvPr/>
        </p:nvSpPr>
        <p:spPr>
          <a:xfrm>
            <a:off x="381000" y="4886326"/>
            <a:ext cx="2738437" cy="590551"/>
          </a:xfrm>
          <a:prstGeom prst="rect">
            <a:avLst/>
          </a:prstGeom>
          <a:solidFill>
            <a:srgbClr val="1A365D">
              <a:alpha val="5000"/>
            </a:srgbClr>
          </a:solidFill>
          <a:ln/>
        </p:spPr>
        <p:txBody>
          <a:bodyPr/>
          <a:lstStyle/>
          <a:p>
            <a:endParaRPr lang="en-IN" sz="2400"/>
          </a:p>
        </p:txBody>
      </p:sp>
      <p:sp>
        <p:nvSpPr>
          <p:cNvPr id="42" name="Shape 32"/>
          <p:cNvSpPr/>
          <p:nvPr/>
        </p:nvSpPr>
        <p:spPr>
          <a:xfrm>
            <a:off x="457200" y="4981575"/>
            <a:ext cx="228600" cy="228600"/>
          </a:xfrm>
          <a:prstGeom prst="ellipse">
            <a:avLst/>
          </a:prstGeom>
          <a:solidFill>
            <a:srgbClr val="1A365D"/>
          </a:solidFill>
          <a:ln/>
        </p:spPr>
        <p:txBody>
          <a:bodyPr/>
          <a:lstStyle/>
          <a:p>
            <a:endParaRPr lang="en-IN" sz="2400"/>
          </a:p>
        </p:txBody>
      </p:sp>
      <p:pic>
        <p:nvPicPr>
          <p:cNvPr id="43" name="Image 8" descr="preencoded.png"/>
          <p:cNvPicPr>
            <a:picLocks noChangeAspect="1"/>
          </p:cNvPicPr>
          <p:nvPr/>
        </p:nvPicPr>
        <p:blipFill>
          <a:blip r:embed="rId10"/>
          <a:stretch>
            <a:fillRect/>
          </a:stretch>
        </p:blipFill>
        <p:spPr>
          <a:xfrm>
            <a:off x="504826" y="5091112"/>
            <a:ext cx="133351" cy="9525"/>
          </a:xfrm>
          <a:prstGeom prst="rect">
            <a:avLst/>
          </a:prstGeom>
        </p:spPr>
      </p:pic>
      <p:sp>
        <p:nvSpPr>
          <p:cNvPr id="44" name="Text 33"/>
          <p:cNvSpPr/>
          <p:nvPr/>
        </p:nvSpPr>
        <p:spPr>
          <a:xfrm>
            <a:off x="800100" y="4990968"/>
            <a:ext cx="119584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Prototype &amp; Test</a:t>
            </a:r>
            <a:endParaRPr lang="en-US" sz="1116" dirty="0"/>
          </a:p>
        </p:txBody>
      </p:sp>
      <p:sp>
        <p:nvSpPr>
          <p:cNvPr id="45" name="Text 34"/>
          <p:cNvSpPr/>
          <p:nvPr/>
        </p:nvSpPr>
        <p:spPr>
          <a:xfrm>
            <a:off x="800100" y="5230341"/>
            <a:ext cx="127438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Gather empirical data</a:t>
            </a:r>
            <a:endParaRPr lang="en-US" sz="976" dirty="0"/>
          </a:p>
        </p:txBody>
      </p:sp>
      <p:sp>
        <p:nvSpPr>
          <p:cNvPr id="46" name="Shape 35"/>
          <p:cNvSpPr/>
          <p:nvPr/>
        </p:nvSpPr>
        <p:spPr>
          <a:xfrm>
            <a:off x="3214688" y="4886326"/>
            <a:ext cx="2738437" cy="590551"/>
          </a:xfrm>
          <a:prstGeom prst="rect">
            <a:avLst/>
          </a:prstGeom>
          <a:solidFill>
            <a:srgbClr val="1A365D">
              <a:alpha val="5000"/>
            </a:srgbClr>
          </a:solidFill>
          <a:ln/>
        </p:spPr>
        <p:txBody>
          <a:bodyPr/>
          <a:lstStyle/>
          <a:p>
            <a:endParaRPr lang="en-IN" sz="2400"/>
          </a:p>
        </p:txBody>
      </p:sp>
      <p:sp>
        <p:nvSpPr>
          <p:cNvPr id="47" name="Shape 36"/>
          <p:cNvSpPr/>
          <p:nvPr/>
        </p:nvSpPr>
        <p:spPr>
          <a:xfrm>
            <a:off x="3290888" y="4981575"/>
            <a:ext cx="228600" cy="228600"/>
          </a:xfrm>
          <a:prstGeom prst="ellipse">
            <a:avLst/>
          </a:prstGeom>
          <a:solidFill>
            <a:srgbClr val="1A365D"/>
          </a:solidFill>
          <a:ln/>
        </p:spPr>
        <p:txBody>
          <a:bodyPr/>
          <a:lstStyle/>
          <a:p>
            <a:endParaRPr lang="en-IN" sz="2400"/>
          </a:p>
        </p:txBody>
      </p:sp>
      <p:pic>
        <p:nvPicPr>
          <p:cNvPr id="48" name="Image 9" descr="preencoded.png"/>
          <p:cNvPicPr>
            <a:picLocks noChangeAspect="1"/>
          </p:cNvPicPr>
          <p:nvPr/>
        </p:nvPicPr>
        <p:blipFill>
          <a:blip r:embed="rId11"/>
          <a:stretch>
            <a:fillRect/>
          </a:stretch>
        </p:blipFill>
        <p:spPr>
          <a:xfrm>
            <a:off x="3338513" y="5091112"/>
            <a:ext cx="133351" cy="9525"/>
          </a:xfrm>
          <a:prstGeom prst="rect">
            <a:avLst/>
          </a:prstGeom>
        </p:spPr>
      </p:pic>
      <p:sp>
        <p:nvSpPr>
          <p:cNvPr id="49" name="Text 37"/>
          <p:cNvSpPr/>
          <p:nvPr/>
        </p:nvSpPr>
        <p:spPr>
          <a:xfrm>
            <a:off x="3633788" y="4990968"/>
            <a:ext cx="145071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Measure &amp; Compare</a:t>
            </a:r>
            <a:endParaRPr lang="en-US" sz="1116" dirty="0"/>
          </a:p>
        </p:txBody>
      </p:sp>
      <p:sp>
        <p:nvSpPr>
          <p:cNvPr id="50" name="Text 38"/>
          <p:cNvSpPr/>
          <p:nvPr/>
        </p:nvSpPr>
        <p:spPr>
          <a:xfrm>
            <a:off x="3633789" y="5230341"/>
            <a:ext cx="1747273"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Analyze against requirements</a:t>
            </a:r>
            <a:endParaRPr lang="en-US" sz="976"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5682646"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Advanced Evaluation Techniques</a:t>
            </a:r>
            <a:endParaRPr lang="en-US" sz="2700" dirty="0"/>
          </a:p>
        </p:txBody>
      </p:sp>
      <p:sp>
        <p:nvSpPr>
          <p:cNvPr id="4" name="Text 1"/>
          <p:cNvSpPr/>
          <p:nvPr/>
        </p:nvSpPr>
        <p:spPr>
          <a:xfrm>
            <a:off x="381000" y="1120688"/>
            <a:ext cx="3358292"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Automated Evaluation Methods</a:t>
            </a:r>
            <a:endParaRPr lang="en-US" sz="1651" dirty="0"/>
          </a:p>
        </p:txBody>
      </p:sp>
      <p:sp>
        <p:nvSpPr>
          <p:cNvPr id="5" name="Shape 2"/>
          <p:cNvSpPr/>
          <p:nvPr/>
        </p:nvSpPr>
        <p:spPr>
          <a:xfrm>
            <a:off x="381000" y="1543051"/>
            <a:ext cx="2667000" cy="781051"/>
          </a:xfrm>
          <a:prstGeom prst="rect">
            <a:avLst/>
          </a:prstGeom>
          <a:solidFill>
            <a:srgbClr val="1A365D">
              <a:alpha val="5000"/>
            </a:srgbClr>
          </a:solidFill>
          <a:ln/>
        </p:spPr>
        <p:txBody>
          <a:bodyPr/>
          <a:lstStyle/>
          <a:p>
            <a:endParaRPr lang="en-IN" sz="2400"/>
          </a:p>
        </p:txBody>
      </p:sp>
      <p:sp>
        <p:nvSpPr>
          <p:cNvPr id="6" name="Shape 3"/>
          <p:cNvSpPr/>
          <p:nvPr/>
        </p:nvSpPr>
        <p:spPr>
          <a:xfrm>
            <a:off x="457200" y="1638300"/>
            <a:ext cx="228600" cy="228600"/>
          </a:xfrm>
          <a:prstGeom prst="ellipse">
            <a:avLst/>
          </a:prstGeom>
          <a:solidFill>
            <a:srgbClr val="1A365D"/>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88156" y="1747838"/>
            <a:ext cx="166688" cy="9525"/>
          </a:xfrm>
          <a:prstGeom prst="rect">
            <a:avLst/>
          </a:prstGeom>
        </p:spPr>
      </p:pic>
      <p:sp>
        <p:nvSpPr>
          <p:cNvPr id="8" name="Text 4"/>
          <p:cNvSpPr/>
          <p:nvPr/>
        </p:nvSpPr>
        <p:spPr>
          <a:xfrm>
            <a:off x="800100" y="1647694"/>
            <a:ext cx="96500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LLM-as-Judge</a:t>
            </a:r>
            <a:endParaRPr lang="en-US" sz="1116" dirty="0"/>
          </a:p>
        </p:txBody>
      </p:sp>
      <p:sp>
        <p:nvSpPr>
          <p:cNvPr id="9" name="Text 5"/>
          <p:cNvSpPr/>
          <p:nvPr/>
        </p:nvSpPr>
        <p:spPr>
          <a:xfrm>
            <a:off x="800101" y="1907231"/>
            <a:ext cx="2171700" cy="300339"/>
          </a:xfrm>
          <a:prstGeom prst="rect">
            <a:avLst/>
          </a:prstGeom>
          <a:noFill/>
          <a:ln/>
        </p:spPr>
        <p:txBody>
          <a:bodyPr wrap="squar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Using stronger LLMs to evaluate outputs</a:t>
            </a:r>
            <a:endParaRPr lang="en-US" sz="976" dirty="0"/>
          </a:p>
        </p:txBody>
      </p:sp>
      <p:sp>
        <p:nvSpPr>
          <p:cNvPr id="10" name="Shape 6"/>
          <p:cNvSpPr/>
          <p:nvPr/>
        </p:nvSpPr>
        <p:spPr>
          <a:xfrm>
            <a:off x="3143251" y="1543051"/>
            <a:ext cx="2667000" cy="781051"/>
          </a:xfrm>
          <a:prstGeom prst="rect">
            <a:avLst/>
          </a:prstGeom>
          <a:solidFill>
            <a:srgbClr val="1A365D">
              <a:alpha val="5000"/>
            </a:srgbClr>
          </a:solidFill>
          <a:ln/>
        </p:spPr>
        <p:txBody>
          <a:bodyPr/>
          <a:lstStyle/>
          <a:p>
            <a:endParaRPr lang="en-IN" sz="2400"/>
          </a:p>
        </p:txBody>
      </p:sp>
      <p:sp>
        <p:nvSpPr>
          <p:cNvPr id="11" name="Shape 7"/>
          <p:cNvSpPr/>
          <p:nvPr/>
        </p:nvSpPr>
        <p:spPr>
          <a:xfrm>
            <a:off x="3219451" y="1638300"/>
            <a:ext cx="228600" cy="228600"/>
          </a:xfrm>
          <a:prstGeom prst="ellipse">
            <a:avLst/>
          </a:prstGeom>
          <a:solidFill>
            <a:srgbClr val="1A365D"/>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3275410" y="1747838"/>
            <a:ext cx="116681" cy="9525"/>
          </a:xfrm>
          <a:prstGeom prst="rect">
            <a:avLst/>
          </a:prstGeom>
        </p:spPr>
      </p:pic>
      <p:sp>
        <p:nvSpPr>
          <p:cNvPr id="13" name="Text 8"/>
          <p:cNvSpPr/>
          <p:nvPr/>
        </p:nvSpPr>
        <p:spPr>
          <a:xfrm>
            <a:off x="3562351" y="1647694"/>
            <a:ext cx="1502014"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Pairwise Comparison</a:t>
            </a:r>
            <a:endParaRPr lang="en-US" sz="1116" dirty="0"/>
          </a:p>
        </p:txBody>
      </p:sp>
      <p:sp>
        <p:nvSpPr>
          <p:cNvPr id="14" name="Text 9"/>
          <p:cNvSpPr/>
          <p:nvPr/>
        </p:nvSpPr>
        <p:spPr>
          <a:xfrm>
            <a:off x="3562351" y="1887066"/>
            <a:ext cx="186910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Side-by-side output comparison</a:t>
            </a:r>
            <a:endParaRPr lang="en-US" sz="976" dirty="0"/>
          </a:p>
        </p:txBody>
      </p:sp>
      <p:sp>
        <p:nvSpPr>
          <p:cNvPr id="15" name="Shape 10"/>
          <p:cNvSpPr/>
          <p:nvPr/>
        </p:nvSpPr>
        <p:spPr>
          <a:xfrm>
            <a:off x="381000" y="2419351"/>
            <a:ext cx="2667000" cy="590551"/>
          </a:xfrm>
          <a:prstGeom prst="rect">
            <a:avLst/>
          </a:prstGeom>
          <a:solidFill>
            <a:srgbClr val="1A365D">
              <a:alpha val="5000"/>
            </a:srgbClr>
          </a:solidFill>
          <a:ln/>
        </p:spPr>
        <p:txBody>
          <a:bodyPr/>
          <a:lstStyle/>
          <a:p>
            <a:endParaRPr lang="en-IN" sz="2400"/>
          </a:p>
        </p:txBody>
      </p:sp>
      <p:sp>
        <p:nvSpPr>
          <p:cNvPr id="16" name="Shape 11"/>
          <p:cNvSpPr/>
          <p:nvPr/>
        </p:nvSpPr>
        <p:spPr>
          <a:xfrm>
            <a:off x="457200" y="2514600"/>
            <a:ext cx="228600" cy="228600"/>
          </a:xfrm>
          <a:prstGeom prst="ellipse">
            <a:avLst/>
          </a:prstGeom>
          <a:solidFill>
            <a:srgbClr val="1A365D"/>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04826" y="2624138"/>
            <a:ext cx="133351" cy="9525"/>
          </a:xfrm>
          <a:prstGeom prst="rect">
            <a:avLst/>
          </a:prstGeom>
        </p:spPr>
      </p:pic>
      <p:sp>
        <p:nvSpPr>
          <p:cNvPr id="18" name="Text 12"/>
          <p:cNvSpPr/>
          <p:nvPr/>
        </p:nvSpPr>
        <p:spPr>
          <a:xfrm>
            <a:off x="800100" y="2523994"/>
            <a:ext cx="129683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Benchmark Suites</a:t>
            </a:r>
            <a:endParaRPr lang="en-US" sz="1116" dirty="0"/>
          </a:p>
        </p:txBody>
      </p:sp>
      <p:sp>
        <p:nvSpPr>
          <p:cNvPr id="19" name="Text 13"/>
          <p:cNvSpPr/>
          <p:nvPr/>
        </p:nvSpPr>
        <p:spPr>
          <a:xfrm>
            <a:off x="800101" y="2763366"/>
            <a:ext cx="167834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Standardized capability tests</a:t>
            </a:r>
            <a:endParaRPr lang="en-US" sz="976" dirty="0"/>
          </a:p>
        </p:txBody>
      </p:sp>
      <p:sp>
        <p:nvSpPr>
          <p:cNvPr id="20" name="Shape 14"/>
          <p:cNvSpPr/>
          <p:nvPr/>
        </p:nvSpPr>
        <p:spPr>
          <a:xfrm>
            <a:off x="3143251" y="2419351"/>
            <a:ext cx="2667000" cy="590551"/>
          </a:xfrm>
          <a:prstGeom prst="rect">
            <a:avLst/>
          </a:prstGeom>
          <a:solidFill>
            <a:srgbClr val="1A365D">
              <a:alpha val="5000"/>
            </a:srgbClr>
          </a:solidFill>
          <a:ln/>
        </p:spPr>
        <p:txBody>
          <a:bodyPr/>
          <a:lstStyle/>
          <a:p>
            <a:endParaRPr lang="en-IN" sz="2400"/>
          </a:p>
        </p:txBody>
      </p:sp>
      <p:sp>
        <p:nvSpPr>
          <p:cNvPr id="21" name="Shape 15"/>
          <p:cNvSpPr/>
          <p:nvPr/>
        </p:nvSpPr>
        <p:spPr>
          <a:xfrm>
            <a:off x="3219451" y="2514600"/>
            <a:ext cx="228600" cy="228600"/>
          </a:xfrm>
          <a:prstGeom prst="ellipse">
            <a:avLst/>
          </a:prstGeom>
          <a:solidFill>
            <a:srgbClr val="1A365D"/>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3267075" y="2624138"/>
            <a:ext cx="133351" cy="9525"/>
          </a:xfrm>
          <a:prstGeom prst="rect">
            <a:avLst/>
          </a:prstGeom>
        </p:spPr>
      </p:pic>
      <p:sp>
        <p:nvSpPr>
          <p:cNvPr id="23" name="Text 16"/>
          <p:cNvSpPr/>
          <p:nvPr/>
        </p:nvSpPr>
        <p:spPr>
          <a:xfrm>
            <a:off x="3562351" y="2523994"/>
            <a:ext cx="138339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Adversarial Testing</a:t>
            </a:r>
            <a:endParaRPr lang="en-US" sz="1116" dirty="0"/>
          </a:p>
        </p:txBody>
      </p:sp>
      <p:sp>
        <p:nvSpPr>
          <p:cNvPr id="24" name="Text 17"/>
          <p:cNvSpPr/>
          <p:nvPr/>
        </p:nvSpPr>
        <p:spPr>
          <a:xfrm>
            <a:off x="3562351" y="2763366"/>
            <a:ext cx="124232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Edge case challenges</a:t>
            </a:r>
            <a:endParaRPr lang="en-US" sz="976" dirty="0"/>
          </a:p>
        </p:txBody>
      </p:sp>
      <p:sp>
        <p:nvSpPr>
          <p:cNvPr id="25" name="Text 18"/>
          <p:cNvSpPr/>
          <p:nvPr/>
        </p:nvSpPr>
        <p:spPr>
          <a:xfrm>
            <a:off x="381001" y="3282863"/>
            <a:ext cx="3265317"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Human-in-the-Loop Evaluation</a:t>
            </a:r>
            <a:endParaRPr lang="en-US" sz="1651" dirty="0"/>
          </a:p>
        </p:txBody>
      </p:sp>
      <p:sp>
        <p:nvSpPr>
          <p:cNvPr id="26" name="Shape 19"/>
          <p:cNvSpPr/>
          <p:nvPr/>
        </p:nvSpPr>
        <p:spPr>
          <a:xfrm>
            <a:off x="381000" y="3705226"/>
            <a:ext cx="2667000" cy="590551"/>
          </a:xfrm>
          <a:prstGeom prst="rect">
            <a:avLst/>
          </a:prstGeom>
          <a:solidFill>
            <a:srgbClr val="1A365D">
              <a:alpha val="5000"/>
            </a:srgbClr>
          </a:solidFill>
          <a:ln/>
        </p:spPr>
        <p:txBody>
          <a:bodyPr/>
          <a:lstStyle/>
          <a:p>
            <a:endParaRPr lang="en-IN" sz="2400"/>
          </a:p>
        </p:txBody>
      </p:sp>
      <p:sp>
        <p:nvSpPr>
          <p:cNvPr id="27" name="Shape 20"/>
          <p:cNvSpPr/>
          <p:nvPr/>
        </p:nvSpPr>
        <p:spPr>
          <a:xfrm>
            <a:off x="457200" y="3800475"/>
            <a:ext cx="228600" cy="228600"/>
          </a:xfrm>
          <a:prstGeom prst="ellipse">
            <a:avLst/>
          </a:prstGeom>
          <a:solidFill>
            <a:srgbClr val="1A365D"/>
          </a:solidFill>
          <a:ln/>
        </p:spPr>
        <p:txBody>
          <a:bodyPr/>
          <a:lstStyle/>
          <a:p>
            <a:endParaRPr lang="en-IN" sz="2400"/>
          </a:p>
        </p:txBody>
      </p:sp>
      <p:pic>
        <p:nvPicPr>
          <p:cNvPr id="28" name="Image 5" descr="preencoded.png"/>
          <p:cNvPicPr>
            <a:picLocks noChangeAspect="1"/>
          </p:cNvPicPr>
          <p:nvPr/>
        </p:nvPicPr>
        <p:blipFill>
          <a:blip r:embed="rId7"/>
          <a:stretch>
            <a:fillRect/>
          </a:stretch>
        </p:blipFill>
        <p:spPr>
          <a:xfrm>
            <a:off x="488156" y="3910012"/>
            <a:ext cx="166688" cy="9525"/>
          </a:xfrm>
          <a:prstGeom prst="rect">
            <a:avLst/>
          </a:prstGeom>
        </p:spPr>
      </p:pic>
      <p:sp>
        <p:nvSpPr>
          <p:cNvPr id="29" name="Text 21"/>
          <p:cNvSpPr/>
          <p:nvPr/>
        </p:nvSpPr>
        <p:spPr>
          <a:xfrm>
            <a:off x="800101" y="3809868"/>
            <a:ext cx="101470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Expert Review</a:t>
            </a:r>
            <a:endParaRPr lang="en-US" sz="1116" dirty="0"/>
          </a:p>
        </p:txBody>
      </p:sp>
      <p:sp>
        <p:nvSpPr>
          <p:cNvPr id="30" name="Text 22"/>
          <p:cNvSpPr/>
          <p:nvPr/>
        </p:nvSpPr>
        <p:spPr>
          <a:xfrm>
            <a:off x="800101" y="4049241"/>
            <a:ext cx="167834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Domain specialist evaluation</a:t>
            </a:r>
            <a:endParaRPr lang="en-US" sz="976" dirty="0"/>
          </a:p>
        </p:txBody>
      </p:sp>
      <p:sp>
        <p:nvSpPr>
          <p:cNvPr id="31" name="Shape 23"/>
          <p:cNvSpPr/>
          <p:nvPr/>
        </p:nvSpPr>
        <p:spPr>
          <a:xfrm>
            <a:off x="3143251" y="3705226"/>
            <a:ext cx="2667000" cy="590551"/>
          </a:xfrm>
          <a:prstGeom prst="rect">
            <a:avLst/>
          </a:prstGeom>
          <a:solidFill>
            <a:srgbClr val="1A365D">
              <a:alpha val="5000"/>
            </a:srgbClr>
          </a:solidFill>
          <a:ln/>
        </p:spPr>
        <p:txBody>
          <a:bodyPr/>
          <a:lstStyle/>
          <a:p>
            <a:endParaRPr lang="en-IN" sz="2400"/>
          </a:p>
        </p:txBody>
      </p:sp>
      <p:sp>
        <p:nvSpPr>
          <p:cNvPr id="32" name="Shape 24"/>
          <p:cNvSpPr/>
          <p:nvPr/>
        </p:nvSpPr>
        <p:spPr>
          <a:xfrm>
            <a:off x="3219451" y="3800475"/>
            <a:ext cx="228600" cy="228600"/>
          </a:xfrm>
          <a:prstGeom prst="ellipse">
            <a:avLst/>
          </a:prstGeom>
          <a:solidFill>
            <a:srgbClr val="1A365D"/>
          </a:solidFill>
          <a:ln/>
        </p:spPr>
        <p:txBody>
          <a:bodyPr/>
          <a:lstStyle/>
          <a:p>
            <a:endParaRPr lang="en-IN" sz="2400"/>
          </a:p>
        </p:txBody>
      </p:sp>
      <p:pic>
        <p:nvPicPr>
          <p:cNvPr id="33" name="Image 6" descr="preencoded.png"/>
          <p:cNvPicPr>
            <a:picLocks noChangeAspect="1"/>
          </p:cNvPicPr>
          <p:nvPr/>
        </p:nvPicPr>
        <p:blipFill>
          <a:blip r:embed="rId8"/>
          <a:stretch>
            <a:fillRect/>
          </a:stretch>
        </p:blipFill>
        <p:spPr>
          <a:xfrm>
            <a:off x="3267075" y="3910012"/>
            <a:ext cx="133351" cy="9525"/>
          </a:xfrm>
          <a:prstGeom prst="rect">
            <a:avLst/>
          </a:prstGeom>
        </p:spPr>
      </p:pic>
      <p:sp>
        <p:nvSpPr>
          <p:cNvPr id="34" name="Text 25"/>
          <p:cNvSpPr/>
          <p:nvPr/>
        </p:nvSpPr>
        <p:spPr>
          <a:xfrm>
            <a:off x="3562351" y="3809868"/>
            <a:ext cx="104195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User Feedback</a:t>
            </a:r>
            <a:endParaRPr lang="en-US" sz="1116" dirty="0"/>
          </a:p>
        </p:txBody>
      </p:sp>
      <p:sp>
        <p:nvSpPr>
          <p:cNvPr id="35" name="Text 26"/>
          <p:cNvSpPr/>
          <p:nvPr/>
        </p:nvSpPr>
        <p:spPr>
          <a:xfrm>
            <a:off x="3562351" y="4049241"/>
            <a:ext cx="172162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End-user satisfaction analysis</a:t>
            </a:r>
            <a:endParaRPr lang="en-US" sz="976"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81000" y="430427"/>
            <a:ext cx="6722994" cy="415498"/>
          </a:xfrm>
          <a:prstGeom prst="rect">
            <a:avLst/>
          </a:prstGeom>
          <a:noFill/>
          <a:ln/>
        </p:spPr>
        <p:txBody>
          <a:bodyPr wrap="none" lIns="0" tIns="0" rIns="0" bIns="0" rtlCol="0" anchor="ctr">
            <a:spAutoFit/>
          </a:bodyPr>
          <a:lstStyle/>
          <a:p>
            <a:r>
              <a:rPr lang="en-US" sz="2700" b="1" dirty="0">
                <a:solidFill>
                  <a:srgbClr val="1A365D"/>
                </a:solidFill>
                <a:latin typeface="Noto Sans" pitchFamily="34" charset="0"/>
                <a:ea typeface="Noto Sans" pitchFamily="34" charset="-122"/>
                <a:cs typeface="Noto Sans" pitchFamily="34" charset="-120"/>
              </a:rPr>
              <a:t>Operational Metrics for GenAI Systems</a:t>
            </a:r>
            <a:endParaRPr lang="en-US" sz="2700" dirty="0"/>
          </a:p>
        </p:txBody>
      </p:sp>
      <p:sp>
        <p:nvSpPr>
          <p:cNvPr id="4" name="Text 1"/>
          <p:cNvSpPr/>
          <p:nvPr/>
        </p:nvSpPr>
        <p:spPr>
          <a:xfrm>
            <a:off x="381001" y="1120688"/>
            <a:ext cx="2951129"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Key Performance Indicators</a:t>
            </a:r>
            <a:endParaRPr lang="en-US" sz="1651" dirty="0"/>
          </a:p>
        </p:txBody>
      </p:sp>
      <p:sp>
        <p:nvSpPr>
          <p:cNvPr id="5" name="Shape 2"/>
          <p:cNvSpPr/>
          <p:nvPr/>
        </p:nvSpPr>
        <p:spPr>
          <a:xfrm>
            <a:off x="381000" y="1543051"/>
            <a:ext cx="2738437" cy="590551"/>
          </a:xfrm>
          <a:prstGeom prst="rect">
            <a:avLst/>
          </a:prstGeom>
          <a:solidFill>
            <a:srgbClr val="1A365D">
              <a:alpha val="5000"/>
            </a:srgbClr>
          </a:solidFill>
          <a:ln/>
        </p:spPr>
        <p:txBody>
          <a:bodyPr/>
          <a:lstStyle/>
          <a:p>
            <a:endParaRPr lang="en-IN" sz="2400"/>
          </a:p>
        </p:txBody>
      </p:sp>
      <p:sp>
        <p:nvSpPr>
          <p:cNvPr id="6" name="Shape 3"/>
          <p:cNvSpPr/>
          <p:nvPr/>
        </p:nvSpPr>
        <p:spPr>
          <a:xfrm>
            <a:off x="457200" y="1638300"/>
            <a:ext cx="228600" cy="228600"/>
          </a:xfrm>
          <a:prstGeom prst="ellipse">
            <a:avLst/>
          </a:prstGeom>
          <a:solidFill>
            <a:srgbClr val="1A365D"/>
          </a:solidFill>
          <a:ln/>
        </p:spPr>
        <p:txBody>
          <a:bodyPr/>
          <a:lstStyle/>
          <a:p>
            <a:endParaRPr lang="en-IN" sz="2400"/>
          </a:p>
        </p:txBody>
      </p:sp>
      <p:pic>
        <p:nvPicPr>
          <p:cNvPr id="7" name="Image 1" descr="preencoded.png"/>
          <p:cNvPicPr>
            <a:picLocks noChangeAspect="1"/>
          </p:cNvPicPr>
          <p:nvPr/>
        </p:nvPicPr>
        <p:blipFill>
          <a:blip r:embed="rId3"/>
          <a:stretch>
            <a:fillRect/>
          </a:stretch>
        </p:blipFill>
        <p:spPr>
          <a:xfrm>
            <a:off x="496491" y="1747838"/>
            <a:ext cx="150019" cy="9525"/>
          </a:xfrm>
          <a:prstGeom prst="rect">
            <a:avLst/>
          </a:prstGeom>
        </p:spPr>
      </p:pic>
      <p:sp>
        <p:nvSpPr>
          <p:cNvPr id="8" name="Text 4"/>
          <p:cNvSpPr/>
          <p:nvPr/>
        </p:nvSpPr>
        <p:spPr>
          <a:xfrm>
            <a:off x="800101" y="1647694"/>
            <a:ext cx="1812997"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Latency &amp; Response Time</a:t>
            </a:r>
            <a:endParaRPr lang="en-US" sz="1116" dirty="0"/>
          </a:p>
        </p:txBody>
      </p:sp>
      <p:sp>
        <p:nvSpPr>
          <p:cNvPr id="9" name="Text 5"/>
          <p:cNvSpPr/>
          <p:nvPr/>
        </p:nvSpPr>
        <p:spPr>
          <a:xfrm>
            <a:off x="800100" y="1887066"/>
            <a:ext cx="1620636"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End-to-end processing time</a:t>
            </a:r>
            <a:endParaRPr lang="en-US" sz="976" dirty="0"/>
          </a:p>
        </p:txBody>
      </p:sp>
      <p:sp>
        <p:nvSpPr>
          <p:cNvPr id="10" name="Shape 6"/>
          <p:cNvSpPr/>
          <p:nvPr/>
        </p:nvSpPr>
        <p:spPr>
          <a:xfrm>
            <a:off x="3214688" y="1543051"/>
            <a:ext cx="2738437" cy="590551"/>
          </a:xfrm>
          <a:prstGeom prst="rect">
            <a:avLst/>
          </a:prstGeom>
          <a:solidFill>
            <a:srgbClr val="1A365D">
              <a:alpha val="5000"/>
            </a:srgbClr>
          </a:solidFill>
          <a:ln/>
        </p:spPr>
        <p:txBody>
          <a:bodyPr/>
          <a:lstStyle/>
          <a:p>
            <a:endParaRPr lang="en-IN" sz="2400"/>
          </a:p>
        </p:txBody>
      </p:sp>
      <p:sp>
        <p:nvSpPr>
          <p:cNvPr id="11" name="Shape 7"/>
          <p:cNvSpPr/>
          <p:nvPr/>
        </p:nvSpPr>
        <p:spPr>
          <a:xfrm>
            <a:off x="3290888" y="1638300"/>
            <a:ext cx="228600" cy="228600"/>
          </a:xfrm>
          <a:prstGeom prst="ellipse">
            <a:avLst/>
          </a:prstGeom>
          <a:solidFill>
            <a:srgbClr val="1A365D"/>
          </a:solidFill>
          <a:ln/>
        </p:spPr>
        <p:txBody>
          <a:bodyPr/>
          <a:lstStyle/>
          <a:p>
            <a:endParaRPr lang="en-IN" sz="2400"/>
          </a:p>
        </p:txBody>
      </p:sp>
      <p:pic>
        <p:nvPicPr>
          <p:cNvPr id="12" name="Image 2" descr="preencoded.png"/>
          <p:cNvPicPr>
            <a:picLocks noChangeAspect="1"/>
          </p:cNvPicPr>
          <p:nvPr/>
        </p:nvPicPr>
        <p:blipFill>
          <a:blip r:embed="rId4"/>
          <a:stretch>
            <a:fillRect/>
          </a:stretch>
        </p:blipFill>
        <p:spPr>
          <a:xfrm>
            <a:off x="3338513" y="1747838"/>
            <a:ext cx="133351" cy="9525"/>
          </a:xfrm>
          <a:prstGeom prst="rect">
            <a:avLst/>
          </a:prstGeom>
        </p:spPr>
      </p:pic>
      <p:sp>
        <p:nvSpPr>
          <p:cNvPr id="13" name="Text 8"/>
          <p:cNvSpPr/>
          <p:nvPr/>
        </p:nvSpPr>
        <p:spPr>
          <a:xfrm>
            <a:off x="3633789" y="1647694"/>
            <a:ext cx="1654299"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Throughput &amp; Capacity</a:t>
            </a:r>
            <a:endParaRPr lang="en-US" sz="1116" dirty="0"/>
          </a:p>
        </p:txBody>
      </p:sp>
      <p:sp>
        <p:nvSpPr>
          <p:cNvPr id="14" name="Text 9"/>
          <p:cNvSpPr/>
          <p:nvPr/>
        </p:nvSpPr>
        <p:spPr>
          <a:xfrm>
            <a:off x="3633789" y="1887066"/>
            <a:ext cx="1695977"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Requests processed per time</a:t>
            </a:r>
            <a:endParaRPr lang="en-US" sz="976" dirty="0"/>
          </a:p>
        </p:txBody>
      </p:sp>
      <p:sp>
        <p:nvSpPr>
          <p:cNvPr id="15" name="Shape 10"/>
          <p:cNvSpPr/>
          <p:nvPr/>
        </p:nvSpPr>
        <p:spPr>
          <a:xfrm>
            <a:off x="381000" y="2228851"/>
            <a:ext cx="2738437" cy="590551"/>
          </a:xfrm>
          <a:prstGeom prst="rect">
            <a:avLst/>
          </a:prstGeom>
          <a:solidFill>
            <a:srgbClr val="1A365D">
              <a:alpha val="5000"/>
            </a:srgbClr>
          </a:solidFill>
          <a:ln/>
        </p:spPr>
        <p:txBody>
          <a:bodyPr/>
          <a:lstStyle/>
          <a:p>
            <a:endParaRPr lang="en-IN" sz="2400"/>
          </a:p>
        </p:txBody>
      </p:sp>
      <p:sp>
        <p:nvSpPr>
          <p:cNvPr id="16" name="Shape 11"/>
          <p:cNvSpPr/>
          <p:nvPr/>
        </p:nvSpPr>
        <p:spPr>
          <a:xfrm>
            <a:off x="457200" y="2324100"/>
            <a:ext cx="228600" cy="228600"/>
          </a:xfrm>
          <a:prstGeom prst="ellipse">
            <a:avLst/>
          </a:prstGeom>
          <a:solidFill>
            <a:srgbClr val="1A365D"/>
          </a:solidFill>
          <a:ln/>
        </p:spPr>
        <p:txBody>
          <a:bodyPr/>
          <a:lstStyle/>
          <a:p>
            <a:endParaRPr lang="en-IN" sz="2400"/>
          </a:p>
        </p:txBody>
      </p:sp>
      <p:pic>
        <p:nvPicPr>
          <p:cNvPr id="17" name="Image 3" descr="preencoded.png"/>
          <p:cNvPicPr>
            <a:picLocks noChangeAspect="1"/>
          </p:cNvPicPr>
          <p:nvPr/>
        </p:nvPicPr>
        <p:blipFill>
          <a:blip r:embed="rId5"/>
          <a:stretch>
            <a:fillRect/>
          </a:stretch>
        </p:blipFill>
        <p:spPr>
          <a:xfrm>
            <a:off x="529828" y="2433638"/>
            <a:ext cx="83344" cy="9525"/>
          </a:xfrm>
          <a:prstGeom prst="rect">
            <a:avLst/>
          </a:prstGeom>
        </p:spPr>
      </p:pic>
      <p:sp>
        <p:nvSpPr>
          <p:cNvPr id="18" name="Text 12"/>
          <p:cNvSpPr/>
          <p:nvPr/>
        </p:nvSpPr>
        <p:spPr>
          <a:xfrm>
            <a:off x="800100" y="2333494"/>
            <a:ext cx="884858"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Cost Metrics</a:t>
            </a:r>
            <a:endParaRPr lang="en-US" sz="1116" dirty="0"/>
          </a:p>
        </p:txBody>
      </p:sp>
      <p:sp>
        <p:nvSpPr>
          <p:cNvPr id="19" name="Text 13"/>
          <p:cNvSpPr/>
          <p:nvPr/>
        </p:nvSpPr>
        <p:spPr>
          <a:xfrm>
            <a:off x="800101" y="2572866"/>
            <a:ext cx="1705595"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Financial impact of operation</a:t>
            </a:r>
            <a:endParaRPr lang="en-US" sz="976" dirty="0"/>
          </a:p>
        </p:txBody>
      </p:sp>
      <p:sp>
        <p:nvSpPr>
          <p:cNvPr id="20" name="Shape 14"/>
          <p:cNvSpPr/>
          <p:nvPr/>
        </p:nvSpPr>
        <p:spPr>
          <a:xfrm>
            <a:off x="3214688" y="2228851"/>
            <a:ext cx="2738437" cy="590551"/>
          </a:xfrm>
          <a:prstGeom prst="rect">
            <a:avLst/>
          </a:prstGeom>
          <a:solidFill>
            <a:srgbClr val="1A365D">
              <a:alpha val="5000"/>
            </a:srgbClr>
          </a:solidFill>
          <a:ln/>
        </p:spPr>
        <p:txBody>
          <a:bodyPr/>
          <a:lstStyle/>
          <a:p>
            <a:endParaRPr lang="en-IN" sz="2400"/>
          </a:p>
        </p:txBody>
      </p:sp>
      <p:sp>
        <p:nvSpPr>
          <p:cNvPr id="21" name="Shape 15"/>
          <p:cNvSpPr/>
          <p:nvPr/>
        </p:nvSpPr>
        <p:spPr>
          <a:xfrm>
            <a:off x="3290888" y="2324100"/>
            <a:ext cx="228600" cy="228600"/>
          </a:xfrm>
          <a:prstGeom prst="ellipse">
            <a:avLst/>
          </a:prstGeom>
          <a:solidFill>
            <a:srgbClr val="1A365D"/>
          </a:solidFill>
          <a:ln/>
        </p:spPr>
        <p:txBody>
          <a:bodyPr/>
          <a:lstStyle/>
          <a:p>
            <a:endParaRPr lang="en-IN" sz="2400"/>
          </a:p>
        </p:txBody>
      </p:sp>
      <p:pic>
        <p:nvPicPr>
          <p:cNvPr id="22" name="Image 4" descr="preencoded.png"/>
          <p:cNvPicPr>
            <a:picLocks noChangeAspect="1"/>
          </p:cNvPicPr>
          <p:nvPr/>
        </p:nvPicPr>
        <p:blipFill>
          <a:blip r:embed="rId6"/>
          <a:stretch>
            <a:fillRect/>
          </a:stretch>
        </p:blipFill>
        <p:spPr>
          <a:xfrm>
            <a:off x="3338513" y="2433638"/>
            <a:ext cx="133351" cy="9525"/>
          </a:xfrm>
          <a:prstGeom prst="rect">
            <a:avLst/>
          </a:prstGeom>
        </p:spPr>
      </p:pic>
      <p:sp>
        <p:nvSpPr>
          <p:cNvPr id="23" name="Text 16"/>
          <p:cNvSpPr/>
          <p:nvPr/>
        </p:nvSpPr>
        <p:spPr>
          <a:xfrm>
            <a:off x="3633789" y="2333494"/>
            <a:ext cx="80150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Error Rates</a:t>
            </a:r>
            <a:endParaRPr lang="en-US" sz="1116" dirty="0"/>
          </a:p>
        </p:txBody>
      </p:sp>
      <p:sp>
        <p:nvSpPr>
          <p:cNvPr id="24" name="Text 17"/>
          <p:cNvSpPr/>
          <p:nvPr/>
        </p:nvSpPr>
        <p:spPr>
          <a:xfrm>
            <a:off x="3633788" y="2572866"/>
            <a:ext cx="151483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System failures frequency</a:t>
            </a:r>
            <a:endParaRPr lang="en-US" sz="976" dirty="0"/>
          </a:p>
        </p:txBody>
      </p:sp>
      <p:sp>
        <p:nvSpPr>
          <p:cNvPr id="25" name="Text 18"/>
          <p:cNvSpPr/>
          <p:nvPr/>
        </p:nvSpPr>
        <p:spPr>
          <a:xfrm>
            <a:off x="381001" y="3092363"/>
            <a:ext cx="2728311"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Monitoring Best Practices</a:t>
            </a:r>
            <a:endParaRPr lang="en-US" sz="1651" dirty="0"/>
          </a:p>
        </p:txBody>
      </p:sp>
      <p:sp>
        <p:nvSpPr>
          <p:cNvPr id="26" name="Shape 19"/>
          <p:cNvSpPr/>
          <p:nvPr/>
        </p:nvSpPr>
        <p:spPr>
          <a:xfrm>
            <a:off x="381000" y="3514726"/>
            <a:ext cx="2738437" cy="590551"/>
          </a:xfrm>
          <a:prstGeom prst="rect">
            <a:avLst/>
          </a:prstGeom>
          <a:solidFill>
            <a:srgbClr val="1A365D">
              <a:alpha val="5000"/>
            </a:srgbClr>
          </a:solidFill>
          <a:ln/>
        </p:spPr>
        <p:txBody>
          <a:bodyPr/>
          <a:lstStyle/>
          <a:p>
            <a:endParaRPr lang="en-IN" sz="2400"/>
          </a:p>
        </p:txBody>
      </p:sp>
      <p:sp>
        <p:nvSpPr>
          <p:cNvPr id="27" name="Shape 20"/>
          <p:cNvSpPr/>
          <p:nvPr/>
        </p:nvSpPr>
        <p:spPr>
          <a:xfrm>
            <a:off x="457200" y="3609975"/>
            <a:ext cx="228600" cy="228600"/>
          </a:xfrm>
          <a:prstGeom prst="ellipse">
            <a:avLst/>
          </a:prstGeom>
          <a:solidFill>
            <a:srgbClr val="1A365D"/>
          </a:solidFill>
          <a:ln/>
        </p:spPr>
        <p:txBody>
          <a:bodyPr/>
          <a:lstStyle/>
          <a:p>
            <a:endParaRPr lang="en-IN" sz="2400"/>
          </a:p>
        </p:txBody>
      </p:sp>
      <p:pic>
        <p:nvPicPr>
          <p:cNvPr id="28" name="Image 5" descr="preencoded.png"/>
          <p:cNvPicPr>
            <a:picLocks noChangeAspect="1"/>
          </p:cNvPicPr>
          <p:nvPr/>
        </p:nvPicPr>
        <p:blipFill>
          <a:blip r:embed="rId7"/>
          <a:stretch>
            <a:fillRect/>
          </a:stretch>
        </p:blipFill>
        <p:spPr>
          <a:xfrm>
            <a:off x="504826" y="3719512"/>
            <a:ext cx="133351" cy="9525"/>
          </a:xfrm>
          <a:prstGeom prst="rect">
            <a:avLst/>
          </a:prstGeom>
        </p:spPr>
      </p:pic>
      <p:sp>
        <p:nvSpPr>
          <p:cNvPr id="29" name="Text 21"/>
          <p:cNvSpPr/>
          <p:nvPr/>
        </p:nvSpPr>
        <p:spPr>
          <a:xfrm>
            <a:off x="800101" y="3619368"/>
            <a:ext cx="180017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Multi-Level Observability</a:t>
            </a:r>
            <a:endParaRPr lang="en-US" sz="1116" dirty="0"/>
          </a:p>
        </p:txBody>
      </p:sp>
      <p:sp>
        <p:nvSpPr>
          <p:cNvPr id="30" name="Text 22"/>
          <p:cNvSpPr/>
          <p:nvPr/>
        </p:nvSpPr>
        <p:spPr>
          <a:xfrm>
            <a:off x="800100" y="3858741"/>
            <a:ext cx="146354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Monitor all system layers</a:t>
            </a:r>
            <a:endParaRPr lang="en-US" sz="976" dirty="0"/>
          </a:p>
        </p:txBody>
      </p:sp>
      <p:sp>
        <p:nvSpPr>
          <p:cNvPr id="31" name="Shape 23"/>
          <p:cNvSpPr/>
          <p:nvPr/>
        </p:nvSpPr>
        <p:spPr>
          <a:xfrm>
            <a:off x="3214688" y="3514726"/>
            <a:ext cx="2738437" cy="590551"/>
          </a:xfrm>
          <a:prstGeom prst="rect">
            <a:avLst/>
          </a:prstGeom>
          <a:solidFill>
            <a:srgbClr val="1A365D">
              <a:alpha val="5000"/>
            </a:srgbClr>
          </a:solidFill>
          <a:ln/>
        </p:spPr>
        <p:txBody>
          <a:bodyPr/>
          <a:lstStyle/>
          <a:p>
            <a:endParaRPr lang="en-IN" sz="2400"/>
          </a:p>
        </p:txBody>
      </p:sp>
      <p:sp>
        <p:nvSpPr>
          <p:cNvPr id="32" name="Shape 24"/>
          <p:cNvSpPr/>
          <p:nvPr/>
        </p:nvSpPr>
        <p:spPr>
          <a:xfrm>
            <a:off x="3290888" y="3609975"/>
            <a:ext cx="228600" cy="228600"/>
          </a:xfrm>
          <a:prstGeom prst="ellipse">
            <a:avLst/>
          </a:prstGeom>
          <a:solidFill>
            <a:srgbClr val="1A365D"/>
          </a:solidFill>
          <a:ln/>
        </p:spPr>
        <p:txBody>
          <a:bodyPr/>
          <a:lstStyle/>
          <a:p>
            <a:endParaRPr lang="en-IN" sz="2400"/>
          </a:p>
        </p:txBody>
      </p:sp>
      <p:pic>
        <p:nvPicPr>
          <p:cNvPr id="33" name="Image 6" descr="preencoded.png"/>
          <p:cNvPicPr>
            <a:picLocks noChangeAspect="1"/>
          </p:cNvPicPr>
          <p:nvPr/>
        </p:nvPicPr>
        <p:blipFill>
          <a:blip r:embed="rId8"/>
          <a:stretch>
            <a:fillRect/>
          </a:stretch>
        </p:blipFill>
        <p:spPr>
          <a:xfrm>
            <a:off x="3346848" y="3719512"/>
            <a:ext cx="116681" cy="9525"/>
          </a:xfrm>
          <a:prstGeom prst="rect">
            <a:avLst/>
          </a:prstGeom>
        </p:spPr>
      </p:pic>
      <p:sp>
        <p:nvSpPr>
          <p:cNvPr id="34" name="Text 25"/>
          <p:cNvSpPr/>
          <p:nvPr/>
        </p:nvSpPr>
        <p:spPr>
          <a:xfrm>
            <a:off x="3633788" y="3619368"/>
            <a:ext cx="1296830"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Proactive Alerting</a:t>
            </a:r>
            <a:endParaRPr lang="en-US" sz="1116" dirty="0"/>
          </a:p>
        </p:txBody>
      </p:sp>
      <p:sp>
        <p:nvSpPr>
          <p:cNvPr id="35" name="Text 26"/>
          <p:cNvSpPr/>
          <p:nvPr/>
        </p:nvSpPr>
        <p:spPr>
          <a:xfrm>
            <a:off x="3633788" y="3858741"/>
            <a:ext cx="130805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Early warning systems</a:t>
            </a:r>
            <a:endParaRPr lang="en-US" sz="976" dirty="0"/>
          </a:p>
        </p:txBody>
      </p:sp>
      <p:sp>
        <p:nvSpPr>
          <p:cNvPr id="36" name="Text 27"/>
          <p:cNvSpPr/>
          <p:nvPr/>
        </p:nvSpPr>
        <p:spPr>
          <a:xfrm>
            <a:off x="6238876" y="1120688"/>
            <a:ext cx="2532745" cy="311325"/>
          </a:xfrm>
          <a:prstGeom prst="rect">
            <a:avLst/>
          </a:prstGeom>
          <a:noFill/>
          <a:ln/>
        </p:spPr>
        <p:txBody>
          <a:bodyPr wrap="none" lIns="0" tIns="0" rIns="0" bIns="56727" rtlCol="0" anchor="ctr">
            <a:spAutoFit/>
          </a:bodyPr>
          <a:lstStyle/>
          <a:p>
            <a:r>
              <a:rPr lang="en-US" sz="1651" b="1" dirty="0">
                <a:solidFill>
                  <a:srgbClr val="1A365D"/>
                </a:solidFill>
                <a:latin typeface="Noto Sans" pitchFamily="34" charset="0"/>
                <a:ea typeface="Noto Sans" pitchFamily="34" charset="-122"/>
                <a:cs typeface="Noto Sans" pitchFamily="34" charset="-120"/>
              </a:rPr>
              <a:t>Pattern-Specific Metrics</a:t>
            </a:r>
            <a:endParaRPr lang="en-US" sz="1651" dirty="0"/>
          </a:p>
        </p:txBody>
      </p:sp>
      <p:sp>
        <p:nvSpPr>
          <p:cNvPr id="37" name="Shape 28"/>
          <p:cNvSpPr/>
          <p:nvPr/>
        </p:nvSpPr>
        <p:spPr>
          <a:xfrm>
            <a:off x="6238875" y="1543051"/>
            <a:ext cx="2738437" cy="590551"/>
          </a:xfrm>
          <a:prstGeom prst="rect">
            <a:avLst/>
          </a:prstGeom>
          <a:solidFill>
            <a:srgbClr val="1A365D">
              <a:alpha val="5000"/>
            </a:srgbClr>
          </a:solidFill>
          <a:ln/>
        </p:spPr>
        <p:txBody>
          <a:bodyPr/>
          <a:lstStyle/>
          <a:p>
            <a:endParaRPr lang="en-IN" sz="2400"/>
          </a:p>
        </p:txBody>
      </p:sp>
      <p:sp>
        <p:nvSpPr>
          <p:cNvPr id="38" name="Shape 29"/>
          <p:cNvSpPr/>
          <p:nvPr/>
        </p:nvSpPr>
        <p:spPr>
          <a:xfrm>
            <a:off x="6315075" y="1638300"/>
            <a:ext cx="228600" cy="228600"/>
          </a:xfrm>
          <a:prstGeom prst="ellipse">
            <a:avLst/>
          </a:prstGeom>
          <a:solidFill>
            <a:srgbClr val="1A365D"/>
          </a:solidFill>
          <a:ln/>
        </p:spPr>
        <p:txBody>
          <a:bodyPr/>
          <a:lstStyle/>
          <a:p>
            <a:endParaRPr lang="en-IN" sz="2400"/>
          </a:p>
        </p:txBody>
      </p:sp>
      <p:pic>
        <p:nvPicPr>
          <p:cNvPr id="39" name="Image 7" descr="preencoded.png"/>
          <p:cNvPicPr>
            <a:picLocks noChangeAspect="1"/>
          </p:cNvPicPr>
          <p:nvPr/>
        </p:nvPicPr>
        <p:blipFill>
          <a:blip r:embed="rId9"/>
          <a:stretch>
            <a:fillRect/>
          </a:stretch>
        </p:blipFill>
        <p:spPr>
          <a:xfrm>
            <a:off x="6362701" y="1747838"/>
            <a:ext cx="133351" cy="9525"/>
          </a:xfrm>
          <a:prstGeom prst="rect">
            <a:avLst/>
          </a:prstGeom>
        </p:spPr>
      </p:pic>
      <p:sp>
        <p:nvSpPr>
          <p:cNvPr id="40" name="Text 30"/>
          <p:cNvSpPr/>
          <p:nvPr/>
        </p:nvSpPr>
        <p:spPr>
          <a:xfrm>
            <a:off x="6657976" y="1647694"/>
            <a:ext cx="1644681"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Prompt-Based Systems</a:t>
            </a:r>
            <a:endParaRPr lang="en-US" sz="1116" dirty="0"/>
          </a:p>
        </p:txBody>
      </p:sp>
      <p:sp>
        <p:nvSpPr>
          <p:cNvPr id="41" name="Text 31"/>
          <p:cNvSpPr/>
          <p:nvPr/>
        </p:nvSpPr>
        <p:spPr>
          <a:xfrm>
            <a:off x="6657975" y="1887066"/>
            <a:ext cx="1328890"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Token usage efficiency</a:t>
            </a:r>
            <a:endParaRPr lang="en-US" sz="976" dirty="0"/>
          </a:p>
        </p:txBody>
      </p:sp>
      <p:sp>
        <p:nvSpPr>
          <p:cNvPr id="42" name="Shape 32"/>
          <p:cNvSpPr/>
          <p:nvPr/>
        </p:nvSpPr>
        <p:spPr>
          <a:xfrm>
            <a:off x="9072563" y="1543051"/>
            <a:ext cx="2738437" cy="590551"/>
          </a:xfrm>
          <a:prstGeom prst="rect">
            <a:avLst/>
          </a:prstGeom>
          <a:solidFill>
            <a:srgbClr val="1A365D">
              <a:alpha val="5000"/>
            </a:srgbClr>
          </a:solidFill>
          <a:ln/>
        </p:spPr>
        <p:txBody>
          <a:bodyPr/>
          <a:lstStyle/>
          <a:p>
            <a:endParaRPr lang="en-IN" sz="2400"/>
          </a:p>
        </p:txBody>
      </p:sp>
      <p:sp>
        <p:nvSpPr>
          <p:cNvPr id="43" name="Shape 33"/>
          <p:cNvSpPr/>
          <p:nvPr/>
        </p:nvSpPr>
        <p:spPr>
          <a:xfrm>
            <a:off x="9148763" y="1638300"/>
            <a:ext cx="228600" cy="228600"/>
          </a:xfrm>
          <a:prstGeom prst="ellipse">
            <a:avLst/>
          </a:prstGeom>
          <a:solidFill>
            <a:srgbClr val="1A365D"/>
          </a:solidFill>
          <a:ln/>
        </p:spPr>
        <p:txBody>
          <a:bodyPr/>
          <a:lstStyle/>
          <a:p>
            <a:endParaRPr lang="en-IN" sz="2400"/>
          </a:p>
        </p:txBody>
      </p:sp>
      <p:pic>
        <p:nvPicPr>
          <p:cNvPr id="44" name="Image 8" descr="preencoded.png"/>
          <p:cNvPicPr>
            <a:picLocks noChangeAspect="1"/>
          </p:cNvPicPr>
          <p:nvPr/>
        </p:nvPicPr>
        <p:blipFill>
          <a:blip r:embed="rId10"/>
          <a:stretch>
            <a:fillRect/>
          </a:stretch>
        </p:blipFill>
        <p:spPr>
          <a:xfrm>
            <a:off x="9188053" y="1747838"/>
            <a:ext cx="150019" cy="9525"/>
          </a:xfrm>
          <a:prstGeom prst="rect">
            <a:avLst/>
          </a:prstGeom>
        </p:spPr>
      </p:pic>
      <p:sp>
        <p:nvSpPr>
          <p:cNvPr id="45" name="Text 34"/>
          <p:cNvSpPr/>
          <p:nvPr/>
        </p:nvSpPr>
        <p:spPr>
          <a:xfrm>
            <a:off x="9491663" y="1647694"/>
            <a:ext cx="1203856"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Static Workflows</a:t>
            </a:r>
            <a:endParaRPr lang="en-US" sz="1116" dirty="0"/>
          </a:p>
        </p:txBody>
      </p:sp>
      <p:sp>
        <p:nvSpPr>
          <p:cNvPr id="46" name="Text 35"/>
          <p:cNvSpPr/>
          <p:nvPr/>
        </p:nvSpPr>
        <p:spPr>
          <a:xfrm>
            <a:off x="9491663" y="1887066"/>
            <a:ext cx="1282402"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Step completion rates</a:t>
            </a:r>
            <a:endParaRPr lang="en-US" sz="976" dirty="0"/>
          </a:p>
        </p:txBody>
      </p:sp>
      <p:sp>
        <p:nvSpPr>
          <p:cNvPr id="47" name="Shape 36"/>
          <p:cNvSpPr/>
          <p:nvPr/>
        </p:nvSpPr>
        <p:spPr>
          <a:xfrm>
            <a:off x="6238875" y="2228851"/>
            <a:ext cx="2738437" cy="590551"/>
          </a:xfrm>
          <a:prstGeom prst="rect">
            <a:avLst/>
          </a:prstGeom>
          <a:solidFill>
            <a:srgbClr val="1A365D">
              <a:alpha val="5000"/>
            </a:srgbClr>
          </a:solidFill>
          <a:ln/>
        </p:spPr>
        <p:txBody>
          <a:bodyPr/>
          <a:lstStyle/>
          <a:p>
            <a:endParaRPr lang="en-IN" sz="2400"/>
          </a:p>
        </p:txBody>
      </p:sp>
      <p:sp>
        <p:nvSpPr>
          <p:cNvPr id="48" name="Shape 37"/>
          <p:cNvSpPr/>
          <p:nvPr/>
        </p:nvSpPr>
        <p:spPr>
          <a:xfrm>
            <a:off x="6315075" y="2324100"/>
            <a:ext cx="228600" cy="228600"/>
          </a:xfrm>
          <a:prstGeom prst="ellipse">
            <a:avLst/>
          </a:prstGeom>
          <a:solidFill>
            <a:srgbClr val="1A365D"/>
          </a:solidFill>
          <a:ln/>
        </p:spPr>
        <p:txBody>
          <a:bodyPr/>
          <a:lstStyle/>
          <a:p>
            <a:endParaRPr lang="en-IN" sz="2400"/>
          </a:p>
        </p:txBody>
      </p:sp>
      <p:pic>
        <p:nvPicPr>
          <p:cNvPr id="49" name="Image 9" descr="preencoded.png"/>
          <p:cNvPicPr>
            <a:picLocks noChangeAspect="1"/>
          </p:cNvPicPr>
          <p:nvPr/>
        </p:nvPicPr>
        <p:blipFill>
          <a:blip r:embed="rId11"/>
          <a:stretch>
            <a:fillRect/>
          </a:stretch>
        </p:blipFill>
        <p:spPr>
          <a:xfrm>
            <a:off x="6371036" y="2433638"/>
            <a:ext cx="116681" cy="9525"/>
          </a:xfrm>
          <a:prstGeom prst="rect">
            <a:avLst/>
          </a:prstGeom>
        </p:spPr>
      </p:pic>
      <p:sp>
        <p:nvSpPr>
          <p:cNvPr id="50" name="Text 38"/>
          <p:cNvSpPr/>
          <p:nvPr/>
        </p:nvSpPr>
        <p:spPr>
          <a:xfrm>
            <a:off x="6657975" y="2333494"/>
            <a:ext cx="924933"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RAG Systems</a:t>
            </a:r>
            <a:endParaRPr lang="en-US" sz="1116" dirty="0"/>
          </a:p>
        </p:txBody>
      </p:sp>
      <p:sp>
        <p:nvSpPr>
          <p:cNvPr id="51" name="Text 39"/>
          <p:cNvSpPr/>
          <p:nvPr/>
        </p:nvSpPr>
        <p:spPr>
          <a:xfrm>
            <a:off x="6657975" y="2572866"/>
            <a:ext cx="1594988"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Retrieval latency, relevance</a:t>
            </a:r>
            <a:endParaRPr lang="en-US" sz="976" dirty="0"/>
          </a:p>
        </p:txBody>
      </p:sp>
      <p:sp>
        <p:nvSpPr>
          <p:cNvPr id="52" name="Shape 40"/>
          <p:cNvSpPr/>
          <p:nvPr/>
        </p:nvSpPr>
        <p:spPr>
          <a:xfrm>
            <a:off x="9072563" y="2228851"/>
            <a:ext cx="2738437" cy="590551"/>
          </a:xfrm>
          <a:prstGeom prst="rect">
            <a:avLst/>
          </a:prstGeom>
          <a:solidFill>
            <a:srgbClr val="1A365D">
              <a:alpha val="5000"/>
            </a:srgbClr>
          </a:solidFill>
          <a:ln/>
        </p:spPr>
        <p:txBody>
          <a:bodyPr/>
          <a:lstStyle/>
          <a:p>
            <a:endParaRPr lang="en-IN" sz="2400"/>
          </a:p>
        </p:txBody>
      </p:sp>
      <p:sp>
        <p:nvSpPr>
          <p:cNvPr id="53" name="Shape 41"/>
          <p:cNvSpPr/>
          <p:nvPr/>
        </p:nvSpPr>
        <p:spPr>
          <a:xfrm>
            <a:off x="9148763" y="2324100"/>
            <a:ext cx="228600" cy="228600"/>
          </a:xfrm>
          <a:prstGeom prst="ellipse">
            <a:avLst/>
          </a:prstGeom>
          <a:solidFill>
            <a:srgbClr val="1A365D"/>
          </a:solidFill>
          <a:ln/>
        </p:spPr>
        <p:txBody>
          <a:bodyPr/>
          <a:lstStyle/>
          <a:p>
            <a:endParaRPr lang="en-IN" sz="2400"/>
          </a:p>
        </p:txBody>
      </p:sp>
      <p:pic>
        <p:nvPicPr>
          <p:cNvPr id="54" name="Image 10" descr="preencoded.png"/>
          <p:cNvPicPr>
            <a:picLocks noChangeAspect="1"/>
          </p:cNvPicPr>
          <p:nvPr/>
        </p:nvPicPr>
        <p:blipFill>
          <a:blip r:embed="rId12"/>
          <a:stretch>
            <a:fillRect/>
          </a:stretch>
        </p:blipFill>
        <p:spPr>
          <a:xfrm>
            <a:off x="9179719" y="2433638"/>
            <a:ext cx="166688" cy="9525"/>
          </a:xfrm>
          <a:prstGeom prst="rect">
            <a:avLst/>
          </a:prstGeom>
        </p:spPr>
      </p:pic>
      <p:sp>
        <p:nvSpPr>
          <p:cNvPr id="55" name="Text 42"/>
          <p:cNvSpPr/>
          <p:nvPr/>
        </p:nvSpPr>
        <p:spPr>
          <a:xfrm>
            <a:off x="9491663" y="2333494"/>
            <a:ext cx="1175002" cy="171714"/>
          </a:xfrm>
          <a:prstGeom prst="rect">
            <a:avLst/>
          </a:prstGeom>
          <a:noFill/>
          <a:ln/>
        </p:spPr>
        <p:txBody>
          <a:bodyPr wrap="none" lIns="0" tIns="0" rIns="0" bIns="0" rtlCol="0" anchor="ctr">
            <a:spAutoFit/>
          </a:bodyPr>
          <a:lstStyle/>
          <a:p>
            <a:r>
              <a:rPr lang="en-US" sz="1116" b="1" dirty="0">
                <a:solidFill>
                  <a:srgbClr val="000000"/>
                </a:solidFill>
                <a:latin typeface="Noto Sans" pitchFamily="34" charset="0"/>
                <a:ea typeface="Noto Sans" pitchFamily="34" charset="-122"/>
                <a:cs typeface="Noto Sans" pitchFamily="34" charset="-120"/>
              </a:rPr>
              <a:t>Agentic Systems</a:t>
            </a:r>
            <a:endParaRPr lang="en-US" sz="1116" dirty="0"/>
          </a:p>
        </p:txBody>
      </p:sp>
      <p:sp>
        <p:nvSpPr>
          <p:cNvPr id="56" name="Text 43"/>
          <p:cNvSpPr/>
          <p:nvPr/>
        </p:nvSpPr>
        <p:spPr>
          <a:xfrm>
            <a:off x="9491664" y="2572866"/>
            <a:ext cx="1804981" cy="150169"/>
          </a:xfrm>
          <a:prstGeom prst="rect">
            <a:avLst/>
          </a:prstGeom>
          <a:noFill/>
          <a:ln/>
        </p:spPr>
        <p:txBody>
          <a:bodyPr wrap="none" lIns="0" tIns="0" rIns="0" bIns="0" rtlCol="0" anchor="ctr">
            <a:spAutoFit/>
          </a:bodyPr>
          <a:lstStyle/>
          <a:p>
            <a:r>
              <a:rPr lang="en-US" sz="976" dirty="0">
                <a:solidFill>
                  <a:srgbClr val="374151"/>
                </a:solidFill>
                <a:latin typeface="Noto Sans" pitchFamily="34" charset="0"/>
                <a:ea typeface="Noto Sans" pitchFamily="34" charset="-122"/>
                <a:cs typeface="Noto Sans" pitchFamily="34" charset="-120"/>
              </a:rPr>
              <a:t>Tool usage, planning efficiency</a:t>
            </a:r>
            <a:endParaRPr lang="en-US" sz="976"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D55B757-7BE3-3720-0194-DA1A7D8C1DD6}"/>
              </a:ext>
            </a:extLst>
          </p:cNvPr>
          <p:cNvPicPr>
            <a:picLocks noChangeAspect="1"/>
          </p:cNvPicPr>
          <p:nvPr/>
        </p:nvPicPr>
        <p:blipFill>
          <a:blip r:embed="rId2">
            <a:duotone>
              <a:schemeClr val="bg2">
                <a:shade val="45000"/>
                <a:satMod val="135000"/>
              </a:schemeClr>
              <a:prstClr val="white"/>
            </a:duotone>
          </a:blip>
          <a:srcRect t="12153" b="3578"/>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1B766A-123B-2D65-5A8D-869C77D0B4D7}"/>
              </a:ext>
            </a:extLst>
          </p:cNvPr>
          <p:cNvSpPr>
            <a:spLocks noGrp="1"/>
          </p:cNvSpPr>
          <p:nvPr>
            <p:ph type="title"/>
          </p:nvPr>
        </p:nvSpPr>
        <p:spPr>
          <a:xfrm>
            <a:off x="211582" y="159489"/>
            <a:ext cx="10515600" cy="703447"/>
          </a:xfrm>
        </p:spPr>
        <p:txBody>
          <a:bodyPr>
            <a:normAutofit/>
          </a:bodyPr>
          <a:lstStyle/>
          <a:p>
            <a:r>
              <a:rPr lang="en-IN" dirty="0"/>
              <a:t>GenAI Application Pattern</a:t>
            </a:r>
          </a:p>
        </p:txBody>
      </p:sp>
      <p:grpSp>
        <p:nvGrpSpPr>
          <p:cNvPr id="4" name="Group 3">
            <a:extLst>
              <a:ext uri="{FF2B5EF4-FFF2-40B4-BE49-F238E27FC236}">
                <a16:creationId xmlns:a16="http://schemas.microsoft.com/office/drawing/2014/main" id="{1622B12D-AFA3-FBFF-C29C-9A72F53C08E5}"/>
              </a:ext>
            </a:extLst>
          </p:cNvPr>
          <p:cNvGrpSpPr/>
          <p:nvPr/>
        </p:nvGrpSpPr>
        <p:grpSpPr>
          <a:xfrm>
            <a:off x="222790" y="1258920"/>
            <a:ext cx="11659093" cy="5439592"/>
            <a:chOff x="1068079" y="1896891"/>
            <a:chExt cx="9886380" cy="4737224"/>
          </a:xfrm>
        </p:grpSpPr>
        <p:sp>
          <p:nvSpPr>
            <p:cNvPr id="6" name="Freeform: Shape 5">
              <a:extLst>
                <a:ext uri="{FF2B5EF4-FFF2-40B4-BE49-F238E27FC236}">
                  <a16:creationId xmlns:a16="http://schemas.microsoft.com/office/drawing/2014/main" id="{0E90A031-B456-6764-D686-9A9B347CACE0}"/>
                </a:ext>
              </a:extLst>
            </p:cNvPr>
            <p:cNvSpPr/>
            <p:nvPr/>
          </p:nvSpPr>
          <p:spPr>
            <a:xfrm>
              <a:off x="1068079" y="1896891"/>
              <a:ext cx="1647730" cy="617898"/>
            </a:xfrm>
            <a:custGeom>
              <a:avLst/>
              <a:gdLst>
                <a:gd name="connsiteX0" fmla="*/ 0 w 1647730"/>
                <a:gd name="connsiteY0" fmla="*/ 82387 h 823865"/>
                <a:gd name="connsiteX1" fmla="*/ 82387 w 1647730"/>
                <a:gd name="connsiteY1" fmla="*/ 0 h 823865"/>
                <a:gd name="connsiteX2" fmla="*/ 1565344 w 1647730"/>
                <a:gd name="connsiteY2" fmla="*/ 0 h 823865"/>
                <a:gd name="connsiteX3" fmla="*/ 1647731 w 1647730"/>
                <a:gd name="connsiteY3" fmla="*/ 82387 h 823865"/>
                <a:gd name="connsiteX4" fmla="*/ 1647730 w 1647730"/>
                <a:gd name="connsiteY4" fmla="*/ 741479 h 823865"/>
                <a:gd name="connsiteX5" fmla="*/ 1565343 w 1647730"/>
                <a:gd name="connsiteY5" fmla="*/ 823866 h 823865"/>
                <a:gd name="connsiteX6" fmla="*/ 82387 w 1647730"/>
                <a:gd name="connsiteY6" fmla="*/ 823865 h 823865"/>
                <a:gd name="connsiteX7" fmla="*/ 0 w 1647730"/>
                <a:gd name="connsiteY7" fmla="*/ 741478 h 823865"/>
                <a:gd name="connsiteX8" fmla="*/ 0 w 1647730"/>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30" h="823865">
                  <a:moveTo>
                    <a:pt x="0" y="82387"/>
                  </a:moveTo>
                  <a:cubicBezTo>
                    <a:pt x="0" y="36886"/>
                    <a:pt x="36886" y="0"/>
                    <a:pt x="82387" y="0"/>
                  </a:cubicBezTo>
                  <a:lnTo>
                    <a:pt x="1565344" y="0"/>
                  </a:lnTo>
                  <a:cubicBezTo>
                    <a:pt x="1610845" y="0"/>
                    <a:pt x="1647731" y="36886"/>
                    <a:pt x="1647731" y="82387"/>
                  </a:cubicBezTo>
                  <a:cubicBezTo>
                    <a:pt x="1647731" y="302084"/>
                    <a:pt x="1647730" y="521782"/>
                    <a:pt x="1647730" y="741479"/>
                  </a:cubicBezTo>
                  <a:cubicBezTo>
                    <a:pt x="1647730" y="786980"/>
                    <a:pt x="1610844" y="823866"/>
                    <a:pt x="1565343" y="823866"/>
                  </a:cubicBezTo>
                  <a:lnTo>
                    <a:pt x="82387" y="823865"/>
                  </a:lnTo>
                  <a:cubicBezTo>
                    <a:pt x="36886" y="823865"/>
                    <a:pt x="0" y="786979"/>
                    <a:pt x="0" y="741478"/>
                  </a:cubicBezTo>
                  <a:lnTo>
                    <a:pt x="0" y="82387"/>
                  </a:lnTo>
                  <a:close/>
                </a:path>
              </a:pathLst>
            </a:custGeom>
          </p:spPr>
          <p:style>
            <a:lnRef idx="3">
              <a:schemeClr val="lt1">
                <a:hueOff val="0"/>
                <a:satOff val="0"/>
                <a:lumOff val="0"/>
                <a:alphaOff val="0"/>
              </a:schemeClr>
            </a:lnRef>
            <a:fillRef idx="1">
              <a:schemeClr val="accent5">
                <a:hueOff val="0"/>
                <a:satOff val="0"/>
                <a:lumOff val="0"/>
                <a:alphaOff val="0"/>
              </a:schemeClr>
            </a:fillRef>
            <a:effectRef idx="1">
              <a:schemeClr val="accent5">
                <a:hueOff val="0"/>
                <a:satOff val="0"/>
                <a:lumOff val="0"/>
                <a:alphaOff val="0"/>
              </a:schemeClr>
            </a:effectRef>
            <a:fontRef idx="minor">
              <a:schemeClr val="lt1"/>
            </a:fontRef>
          </p:style>
          <p:txBody>
            <a:bodyPr spcFirstLastPara="0" vert="horz" wrap="square" lIns="52705" tIns="43180" rIns="52705" bIns="43180" numCol="1" spcCol="1270" anchor="ctr" anchorCtr="0">
              <a:noAutofit/>
            </a:bodyPr>
            <a:lstStyle/>
            <a:p>
              <a:pPr marL="0" lvl="0" indent="0" algn="ctr" defTabSz="666750">
                <a:lnSpc>
                  <a:spcPct val="90000"/>
                </a:lnSpc>
                <a:spcBef>
                  <a:spcPct val="0"/>
                </a:spcBef>
                <a:spcAft>
                  <a:spcPct val="35000"/>
                </a:spcAft>
                <a:buNone/>
              </a:pPr>
              <a:r>
                <a:rPr lang="en-IN" sz="1600" kern="1200" dirty="0"/>
                <a:t>🎯 Prompt-Based Solution</a:t>
              </a:r>
              <a:endParaRPr lang="en-US" sz="1600" kern="1200" dirty="0"/>
            </a:p>
          </p:txBody>
        </p:sp>
        <p:sp>
          <p:nvSpPr>
            <p:cNvPr id="8" name="Freeform: Shape 7">
              <a:extLst>
                <a:ext uri="{FF2B5EF4-FFF2-40B4-BE49-F238E27FC236}">
                  <a16:creationId xmlns:a16="http://schemas.microsoft.com/office/drawing/2014/main" id="{E165415C-1774-08CE-55C8-01DD2D541F49}"/>
                </a:ext>
              </a:extLst>
            </p:cNvPr>
            <p:cNvSpPr/>
            <p:nvPr/>
          </p:nvSpPr>
          <p:spPr>
            <a:xfrm>
              <a:off x="1232852" y="2514790"/>
              <a:ext cx="164773" cy="617898"/>
            </a:xfrm>
            <a:custGeom>
              <a:avLst/>
              <a:gdLst/>
              <a:ahLst/>
              <a:cxnLst/>
              <a:rect l="0" t="0" r="0" b="0"/>
              <a:pathLst>
                <a:path>
                  <a:moveTo>
                    <a:pt x="0" y="0"/>
                  </a:moveTo>
                  <a:lnTo>
                    <a:pt x="0" y="617898"/>
                  </a:lnTo>
                  <a:lnTo>
                    <a:pt x="164773" y="61789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9" name="Freeform: Shape 8">
              <a:extLst>
                <a:ext uri="{FF2B5EF4-FFF2-40B4-BE49-F238E27FC236}">
                  <a16:creationId xmlns:a16="http://schemas.microsoft.com/office/drawing/2014/main" id="{9380B85B-101F-D511-E8D3-0579ACF8E28D}"/>
                </a:ext>
              </a:extLst>
            </p:cNvPr>
            <p:cNvSpPr/>
            <p:nvPr/>
          </p:nvSpPr>
          <p:spPr>
            <a:xfrm>
              <a:off x="1397625" y="2720756"/>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Best for: Simple, single-step tasks</a:t>
              </a:r>
              <a:endParaRPr lang="en-US" sz="900" kern="1200"/>
            </a:p>
          </p:txBody>
        </p:sp>
        <p:sp>
          <p:nvSpPr>
            <p:cNvPr id="12" name="Freeform: Shape 11">
              <a:extLst>
                <a:ext uri="{FF2B5EF4-FFF2-40B4-BE49-F238E27FC236}">
                  <a16:creationId xmlns:a16="http://schemas.microsoft.com/office/drawing/2014/main" id="{53D301DB-0255-AC61-D726-27A8AF7F26EA}"/>
                </a:ext>
              </a:extLst>
            </p:cNvPr>
            <p:cNvSpPr/>
            <p:nvPr/>
          </p:nvSpPr>
          <p:spPr>
            <a:xfrm>
              <a:off x="1232852" y="2514790"/>
              <a:ext cx="164773" cy="1647730"/>
            </a:xfrm>
            <a:custGeom>
              <a:avLst/>
              <a:gdLst/>
              <a:ahLst/>
              <a:cxnLst/>
              <a:rect l="0" t="0" r="0" b="0"/>
              <a:pathLst>
                <a:path>
                  <a:moveTo>
                    <a:pt x="0" y="0"/>
                  </a:moveTo>
                  <a:lnTo>
                    <a:pt x="0" y="1647730"/>
                  </a:lnTo>
                  <a:lnTo>
                    <a:pt x="164773" y="1647730"/>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13" name="Freeform: Shape 12">
              <a:extLst>
                <a:ext uri="{FF2B5EF4-FFF2-40B4-BE49-F238E27FC236}">
                  <a16:creationId xmlns:a16="http://schemas.microsoft.com/office/drawing/2014/main" id="{C8C63016-32D1-9122-D8B8-36A5114BE9C8}"/>
                </a:ext>
              </a:extLst>
            </p:cNvPr>
            <p:cNvSpPr/>
            <p:nvPr/>
          </p:nvSpPr>
          <p:spPr>
            <a:xfrm>
              <a:off x="1397625" y="3750587"/>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639587"/>
                <a:satOff val="-43"/>
                <a:lumOff val="10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t" anchorCtr="0">
              <a:noAutofit/>
            </a:bodyPr>
            <a:lstStyle/>
            <a:p>
              <a:pPr marL="0" lvl="0" indent="0" algn="l" defTabSz="355600">
                <a:lnSpc>
                  <a:spcPct val="90000"/>
                </a:lnSpc>
                <a:spcBef>
                  <a:spcPct val="0"/>
                </a:spcBef>
                <a:spcAft>
                  <a:spcPct val="35000"/>
                </a:spcAft>
                <a:buNone/>
              </a:pPr>
              <a:r>
                <a:rPr lang="en-IN" sz="900" kern="1200"/>
                <a:t>Use when:</a:t>
              </a:r>
              <a:endParaRPr lang="en-US" sz="900" kern="1200"/>
            </a:p>
            <a:p>
              <a:pPr marL="57150" lvl="1" indent="-57150" algn="l" defTabSz="266700">
                <a:lnSpc>
                  <a:spcPct val="90000"/>
                </a:lnSpc>
                <a:spcBef>
                  <a:spcPct val="0"/>
                </a:spcBef>
                <a:spcAft>
                  <a:spcPct val="15000"/>
                </a:spcAft>
                <a:buChar char="•"/>
              </a:pPr>
              <a:r>
                <a:rPr lang="en-IN" sz="700" kern="1200"/>
                <a:t>Direct input → output (translation, summarization, classification)</a:t>
              </a:r>
              <a:endParaRPr lang="en-US" sz="700" kern="1200"/>
            </a:p>
            <a:p>
              <a:pPr marL="57150" lvl="1" indent="-57150" algn="l" defTabSz="266700">
                <a:lnSpc>
                  <a:spcPct val="90000"/>
                </a:lnSpc>
                <a:spcBef>
                  <a:spcPct val="0"/>
                </a:spcBef>
                <a:spcAft>
                  <a:spcPct val="15000"/>
                </a:spcAft>
                <a:buChar char="•"/>
              </a:pPr>
              <a:r>
                <a:rPr lang="en-IN" sz="700" kern="1200"/>
                <a:t>No intermediate processing needed</a:t>
              </a:r>
              <a:endParaRPr lang="en-US" sz="700" kern="1200"/>
            </a:p>
            <a:p>
              <a:pPr marL="57150" lvl="1" indent="-57150" algn="l" defTabSz="266700">
                <a:lnSpc>
                  <a:spcPct val="90000"/>
                </a:lnSpc>
                <a:spcBef>
                  <a:spcPct val="0"/>
                </a:spcBef>
                <a:spcAft>
                  <a:spcPct val="15000"/>
                </a:spcAft>
                <a:buChar char="•"/>
              </a:pPr>
              <a:r>
                <a:rPr lang="en-IN" sz="700" kern="1200"/>
                <a:t>Quick prototyping or MVP development</a:t>
              </a:r>
              <a:endParaRPr lang="en-US" sz="700" kern="1200"/>
            </a:p>
          </p:txBody>
        </p:sp>
        <p:sp>
          <p:nvSpPr>
            <p:cNvPr id="14" name="Freeform: Shape 13">
              <a:extLst>
                <a:ext uri="{FF2B5EF4-FFF2-40B4-BE49-F238E27FC236}">
                  <a16:creationId xmlns:a16="http://schemas.microsoft.com/office/drawing/2014/main" id="{09775D28-0AAB-D935-1D82-8E26A66E9288}"/>
                </a:ext>
              </a:extLst>
            </p:cNvPr>
            <p:cNvSpPr/>
            <p:nvPr/>
          </p:nvSpPr>
          <p:spPr>
            <a:xfrm>
              <a:off x="1232852" y="2514790"/>
              <a:ext cx="164773" cy="2677561"/>
            </a:xfrm>
            <a:custGeom>
              <a:avLst/>
              <a:gdLst/>
              <a:ahLst/>
              <a:cxnLst/>
              <a:rect l="0" t="0" r="0" b="0"/>
              <a:pathLst>
                <a:path>
                  <a:moveTo>
                    <a:pt x="0" y="0"/>
                  </a:moveTo>
                  <a:lnTo>
                    <a:pt x="0" y="2677561"/>
                  </a:lnTo>
                  <a:lnTo>
                    <a:pt x="164773" y="2677561"/>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15" name="Freeform: Shape 14">
              <a:extLst>
                <a:ext uri="{FF2B5EF4-FFF2-40B4-BE49-F238E27FC236}">
                  <a16:creationId xmlns:a16="http://schemas.microsoft.com/office/drawing/2014/main" id="{9ED9D3B1-ACCA-F66F-E134-9F8877EA5092}"/>
                </a:ext>
              </a:extLst>
            </p:cNvPr>
            <p:cNvSpPr/>
            <p:nvPr/>
          </p:nvSpPr>
          <p:spPr>
            <a:xfrm>
              <a:off x="1397625" y="4780419"/>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1279174"/>
                <a:satOff val="-87"/>
                <a:lumOff val="20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Examples: Text translation, email drafting, content summarization</a:t>
              </a:r>
              <a:endParaRPr lang="en-US" sz="900" kern="1200"/>
            </a:p>
          </p:txBody>
        </p:sp>
        <p:sp>
          <p:nvSpPr>
            <p:cNvPr id="16" name="Freeform: Shape 15">
              <a:extLst>
                <a:ext uri="{FF2B5EF4-FFF2-40B4-BE49-F238E27FC236}">
                  <a16:creationId xmlns:a16="http://schemas.microsoft.com/office/drawing/2014/main" id="{A0117E03-D352-FFC0-6BAE-996CDADA7EBC}"/>
                </a:ext>
              </a:extLst>
            </p:cNvPr>
            <p:cNvSpPr/>
            <p:nvPr/>
          </p:nvSpPr>
          <p:spPr>
            <a:xfrm>
              <a:off x="1232852" y="2514790"/>
              <a:ext cx="164773" cy="3707392"/>
            </a:xfrm>
            <a:custGeom>
              <a:avLst/>
              <a:gdLst/>
              <a:ahLst/>
              <a:cxnLst/>
              <a:rect l="0" t="0" r="0" b="0"/>
              <a:pathLst>
                <a:path>
                  <a:moveTo>
                    <a:pt x="0" y="0"/>
                  </a:moveTo>
                  <a:lnTo>
                    <a:pt x="0" y="3707392"/>
                  </a:lnTo>
                  <a:lnTo>
                    <a:pt x="164773" y="3707392"/>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17" name="Freeform: Shape 16">
              <a:extLst>
                <a:ext uri="{FF2B5EF4-FFF2-40B4-BE49-F238E27FC236}">
                  <a16:creationId xmlns:a16="http://schemas.microsoft.com/office/drawing/2014/main" id="{CF6622C2-A7E1-834A-B87A-3CEBEDFA0D76}"/>
                </a:ext>
              </a:extLst>
            </p:cNvPr>
            <p:cNvSpPr/>
            <p:nvPr/>
          </p:nvSpPr>
          <p:spPr>
            <a:xfrm>
              <a:off x="1397625" y="5810250"/>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1918760"/>
                <a:satOff val="-130"/>
                <a:lumOff val="31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dirty="0"/>
                <a:t>Implementation: Direct API calls to LLM providers (OpenAI, Google Vertex AI)</a:t>
              </a:r>
              <a:endParaRPr lang="en-US" sz="900" kern="1200" dirty="0"/>
            </a:p>
          </p:txBody>
        </p:sp>
        <p:sp>
          <p:nvSpPr>
            <p:cNvPr id="18" name="Freeform: Shape 17">
              <a:extLst>
                <a:ext uri="{FF2B5EF4-FFF2-40B4-BE49-F238E27FC236}">
                  <a16:creationId xmlns:a16="http://schemas.microsoft.com/office/drawing/2014/main" id="{8BE74F4C-3948-0B10-39CC-BFF7DF453A29}"/>
                </a:ext>
              </a:extLst>
            </p:cNvPr>
            <p:cNvSpPr/>
            <p:nvPr/>
          </p:nvSpPr>
          <p:spPr>
            <a:xfrm>
              <a:off x="3127741" y="1896891"/>
              <a:ext cx="1647730" cy="617898"/>
            </a:xfrm>
            <a:custGeom>
              <a:avLst/>
              <a:gdLst>
                <a:gd name="connsiteX0" fmla="*/ 0 w 1647730"/>
                <a:gd name="connsiteY0" fmla="*/ 82387 h 823865"/>
                <a:gd name="connsiteX1" fmla="*/ 82387 w 1647730"/>
                <a:gd name="connsiteY1" fmla="*/ 0 h 823865"/>
                <a:gd name="connsiteX2" fmla="*/ 1565344 w 1647730"/>
                <a:gd name="connsiteY2" fmla="*/ 0 h 823865"/>
                <a:gd name="connsiteX3" fmla="*/ 1647731 w 1647730"/>
                <a:gd name="connsiteY3" fmla="*/ 82387 h 823865"/>
                <a:gd name="connsiteX4" fmla="*/ 1647730 w 1647730"/>
                <a:gd name="connsiteY4" fmla="*/ 741479 h 823865"/>
                <a:gd name="connsiteX5" fmla="*/ 1565343 w 1647730"/>
                <a:gd name="connsiteY5" fmla="*/ 823866 h 823865"/>
                <a:gd name="connsiteX6" fmla="*/ 82387 w 1647730"/>
                <a:gd name="connsiteY6" fmla="*/ 823865 h 823865"/>
                <a:gd name="connsiteX7" fmla="*/ 0 w 1647730"/>
                <a:gd name="connsiteY7" fmla="*/ 741478 h 823865"/>
                <a:gd name="connsiteX8" fmla="*/ 0 w 1647730"/>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30" h="823865">
                  <a:moveTo>
                    <a:pt x="0" y="82387"/>
                  </a:moveTo>
                  <a:cubicBezTo>
                    <a:pt x="0" y="36886"/>
                    <a:pt x="36886" y="0"/>
                    <a:pt x="82387" y="0"/>
                  </a:cubicBezTo>
                  <a:lnTo>
                    <a:pt x="1565344" y="0"/>
                  </a:lnTo>
                  <a:cubicBezTo>
                    <a:pt x="1610845" y="0"/>
                    <a:pt x="1647731" y="36886"/>
                    <a:pt x="1647731" y="82387"/>
                  </a:cubicBezTo>
                  <a:cubicBezTo>
                    <a:pt x="1647731" y="302084"/>
                    <a:pt x="1647730" y="521782"/>
                    <a:pt x="1647730" y="741479"/>
                  </a:cubicBezTo>
                  <a:cubicBezTo>
                    <a:pt x="1647730" y="786980"/>
                    <a:pt x="1610844" y="823866"/>
                    <a:pt x="1565343" y="823866"/>
                  </a:cubicBezTo>
                  <a:lnTo>
                    <a:pt x="82387" y="823865"/>
                  </a:lnTo>
                  <a:cubicBezTo>
                    <a:pt x="36886" y="823865"/>
                    <a:pt x="0" y="786979"/>
                    <a:pt x="0" y="741478"/>
                  </a:cubicBezTo>
                  <a:lnTo>
                    <a:pt x="0" y="82387"/>
                  </a:lnTo>
                  <a:close/>
                </a:path>
              </a:pathLst>
            </a:custGeom>
          </p:spPr>
          <p:style>
            <a:lnRef idx="3">
              <a:schemeClr val="lt1">
                <a:hueOff val="0"/>
                <a:satOff val="0"/>
                <a:lumOff val="0"/>
                <a:alphaOff val="0"/>
              </a:schemeClr>
            </a:lnRef>
            <a:fillRef idx="1">
              <a:schemeClr val="accent5">
                <a:hueOff val="-3038037"/>
                <a:satOff val="-207"/>
                <a:lumOff val="490"/>
                <a:alphaOff val="0"/>
              </a:schemeClr>
            </a:fillRef>
            <a:effectRef idx="1">
              <a:schemeClr val="accent5">
                <a:hueOff val="-3038037"/>
                <a:satOff val="-207"/>
                <a:lumOff val="490"/>
                <a:alphaOff val="0"/>
              </a:schemeClr>
            </a:effectRef>
            <a:fontRef idx="minor">
              <a:schemeClr val="lt1"/>
            </a:fontRef>
          </p:style>
          <p:txBody>
            <a:bodyPr spcFirstLastPara="0" vert="horz" wrap="square" lIns="52705" tIns="43180" rIns="52705" bIns="43180" numCol="1" spcCol="1270" anchor="ctr" anchorCtr="0">
              <a:noAutofit/>
            </a:bodyPr>
            <a:lstStyle/>
            <a:p>
              <a:pPr marL="0" lvl="0" indent="0" algn="ctr" defTabSz="666750">
                <a:lnSpc>
                  <a:spcPct val="90000"/>
                </a:lnSpc>
                <a:spcBef>
                  <a:spcPct val="0"/>
                </a:spcBef>
                <a:spcAft>
                  <a:spcPct val="35000"/>
                </a:spcAft>
                <a:buNone/>
              </a:pPr>
              <a:r>
                <a:rPr lang="en-IN" sz="1600" kern="1200"/>
                <a:t>🔗 Chain-Based Automation</a:t>
              </a:r>
              <a:endParaRPr lang="en-US" sz="1600" kern="1200"/>
            </a:p>
          </p:txBody>
        </p:sp>
        <p:sp>
          <p:nvSpPr>
            <p:cNvPr id="19" name="Freeform: Shape 18">
              <a:extLst>
                <a:ext uri="{FF2B5EF4-FFF2-40B4-BE49-F238E27FC236}">
                  <a16:creationId xmlns:a16="http://schemas.microsoft.com/office/drawing/2014/main" id="{63076541-9689-1DEB-B0AC-CA28C5C44796}"/>
                </a:ext>
              </a:extLst>
            </p:cNvPr>
            <p:cNvSpPr/>
            <p:nvPr/>
          </p:nvSpPr>
          <p:spPr>
            <a:xfrm>
              <a:off x="3292514" y="2514790"/>
              <a:ext cx="164773" cy="617898"/>
            </a:xfrm>
            <a:custGeom>
              <a:avLst/>
              <a:gdLst/>
              <a:ahLst/>
              <a:cxnLst/>
              <a:rect l="0" t="0" r="0" b="0"/>
              <a:pathLst>
                <a:path>
                  <a:moveTo>
                    <a:pt x="0" y="0"/>
                  </a:moveTo>
                  <a:lnTo>
                    <a:pt x="0" y="617898"/>
                  </a:lnTo>
                  <a:lnTo>
                    <a:pt x="164773" y="61789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20" name="Freeform: Shape 19">
              <a:extLst>
                <a:ext uri="{FF2B5EF4-FFF2-40B4-BE49-F238E27FC236}">
                  <a16:creationId xmlns:a16="http://schemas.microsoft.com/office/drawing/2014/main" id="{B3225320-9439-4150-1C81-D3F97638B040}"/>
                </a:ext>
              </a:extLst>
            </p:cNvPr>
            <p:cNvSpPr/>
            <p:nvPr/>
          </p:nvSpPr>
          <p:spPr>
            <a:xfrm>
              <a:off x="3457287" y="2720756"/>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2558347"/>
                <a:satOff val="-174"/>
                <a:lumOff val="41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Best for: Multi-step processes with fixed sequence</a:t>
              </a:r>
              <a:endParaRPr lang="en-US" sz="900" kern="1200"/>
            </a:p>
          </p:txBody>
        </p:sp>
        <p:sp>
          <p:nvSpPr>
            <p:cNvPr id="21" name="Freeform: Shape 20">
              <a:extLst>
                <a:ext uri="{FF2B5EF4-FFF2-40B4-BE49-F238E27FC236}">
                  <a16:creationId xmlns:a16="http://schemas.microsoft.com/office/drawing/2014/main" id="{037E4812-2B7A-BD28-54B2-50487419E7CC}"/>
                </a:ext>
              </a:extLst>
            </p:cNvPr>
            <p:cNvSpPr/>
            <p:nvPr/>
          </p:nvSpPr>
          <p:spPr>
            <a:xfrm>
              <a:off x="3292514" y="2514790"/>
              <a:ext cx="164773" cy="1647730"/>
            </a:xfrm>
            <a:custGeom>
              <a:avLst/>
              <a:gdLst/>
              <a:ahLst/>
              <a:cxnLst/>
              <a:rect l="0" t="0" r="0" b="0"/>
              <a:pathLst>
                <a:path>
                  <a:moveTo>
                    <a:pt x="0" y="0"/>
                  </a:moveTo>
                  <a:lnTo>
                    <a:pt x="0" y="1647730"/>
                  </a:lnTo>
                  <a:lnTo>
                    <a:pt x="164773" y="1647730"/>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22" name="Freeform: Shape 21">
              <a:extLst>
                <a:ext uri="{FF2B5EF4-FFF2-40B4-BE49-F238E27FC236}">
                  <a16:creationId xmlns:a16="http://schemas.microsoft.com/office/drawing/2014/main" id="{8B4F74A8-0514-105E-4ADC-B0FDD3C7319C}"/>
                </a:ext>
              </a:extLst>
            </p:cNvPr>
            <p:cNvSpPr/>
            <p:nvPr/>
          </p:nvSpPr>
          <p:spPr>
            <a:xfrm>
              <a:off x="3457287" y="3750587"/>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3197934"/>
                <a:satOff val="-217"/>
                <a:lumOff val="51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t" anchorCtr="0">
              <a:noAutofit/>
            </a:bodyPr>
            <a:lstStyle/>
            <a:p>
              <a:pPr marL="0" lvl="0" indent="0" algn="l" defTabSz="355600">
                <a:lnSpc>
                  <a:spcPct val="90000"/>
                </a:lnSpc>
                <a:spcBef>
                  <a:spcPct val="0"/>
                </a:spcBef>
                <a:spcAft>
                  <a:spcPct val="35000"/>
                </a:spcAft>
                <a:buNone/>
              </a:pPr>
              <a:r>
                <a:rPr lang="en-IN" sz="900" kern="1200"/>
                <a:t>Use when:</a:t>
              </a:r>
              <a:endParaRPr lang="en-US" sz="900" kern="1200"/>
            </a:p>
            <a:p>
              <a:pPr marL="57150" lvl="1" indent="-57150" algn="l" defTabSz="266700">
                <a:lnSpc>
                  <a:spcPct val="90000"/>
                </a:lnSpc>
                <a:spcBef>
                  <a:spcPct val="0"/>
                </a:spcBef>
                <a:spcAft>
                  <a:spcPct val="15000"/>
                </a:spcAft>
                <a:buChar char="•"/>
              </a:pPr>
              <a:r>
                <a:rPr lang="en-IN" sz="700" kern="1200"/>
                <a:t>Deterministic business workflows</a:t>
              </a:r>
              <a:endParaRPr lang="en-US" sz="700" kern="1200"/>
            </a:p>
            <a:p>
              <a:pPr marL="57150" lvl="1" indent="-57150" algn="l" defTabSz="266700">
                <a:lnSpc>
                  <a:spcPct val="90000"/>
                </a:lnSpc>
                <a:spcBef>
                  <a:spcPct val="0"/>
                </a:spcBef>
                <a:spcAft>
                  <a:spcPct val="15000"/>
                </a:spcAft>
                <a:buChar char="•"/>
              </a:pPr>
              <a:r>
                <a:rPr lang="en-IN" sz="700" kern="1200"/>
                <a:t>Each step depends on the previous one</a:t>
              </a:r>
              <a:endParaRPr lang="en-US" sz="700" kern="1200"/>
            </a:p>
            <a:p>
              <a:pPr marL="57150" lvl="1" indent="-57150" algn="l" defTabSz="266700">
                <a:lnSpc>
                  <a:spcPct val="90000"/>
                </a:lnSpc>
                <a:spcBef>
                  <a:spcPct val="0"/>
                </a:spcBef>
                <a:spcAft>
                  <a:spcPct val="15000"/>
                </a:spcAft>
                <a:buChar char="•"/>
              </a:pPr>
              <a:r>
                <a:rPr lang="en-IN" sz="700" kern="1200"/>
                <a:t>Predictable sequence of operations</a:t>
              </a:r>
              <a:endParaRPr lang="en-US" sz="700" kern="1200"/>
            </a:p>
          </p:txBody>
        </p:sp>
        <p:sp>
          <p:nvSpPr>
            <p:cNvPr id="23" name="Freeform: Shape 22">
              <a:extLst>
                <a:ext uri="{FF2B5EF4-FFF2-40B4-BE49-F238E27FC236}">
                  <a16:creationId xmlns:a16="http://schemas.microsoft.com/office/drawing/2014/main" id="{22FEFA46-95D3-A3A1-AAA3-F05B6AA45B73}"/>
                </a:ext>
              </a:extLst>
            </p:cNvPr>
            <p:cNvSpPr/>
            <p:nvPr/>
          </p:nvSpPr>
          <p:spPr>
            <a:xfrm>
              <a:off x="3292514" y="2514790"/>
              <a:ext cx="164773" cy="2677561"/>
            </a:xfrm>
            <a:custGeom>
              <a:avLst/>
              <a:gdLst/>
              <a:ahLst/>
              <a:cxnLst/>
              <a:rect l="0" t="0" r="0" b="0"/>
              <a:pathLst>
                <a:path>
                  <a:moveTo>
                    <a:pt x="0" y="0"/>
                  </a:moveTo>
                  <a:lnTo>
                    <a:pt x="0" y="2677561"/>
                  </a:lnTo>
                  <a:lnTo>
                    <a:pt x="164773" y="2677561"/>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24" name="Freeform: Shape 23">
              <a:extLst>
                <a:ext uri="{FF2B5EF4-FFF2-40B4-BE49-F238E27FC236}">
                  <a16:creationId xmlns:a16="http://schemas.microsoft.com/office/drawing/2014/main" id="{A03DE9B1-5772-65B3-E88C-EB18D692558B}"/>
                </a:ext>
              </a:extLst>
            </p:cNvPr>
            <p:cNvSpPr/>
            <p:nvPr/>
          </p:nvSpPr>
          <p:spPr>
            <a:xfrm>
              <a:off x="3457287" y="4780419"/>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3837521"/>
                <a:satOff val="-261"/>
                <a:lumOff val="61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Examples: Document processing pipeline, data extraction → validation → formatting</a:t>
              </a:r>
              <a:endParaRPr lang="en-US" sz="900" kern="1200"/>
            </a:p>
          </p:txBody>
        </p:sp>
        <p:sp>
          <p:nvSpPr>
            <p:cNvPr id="25" name="Freeform: Shape 24">
              <a:extLst>
                <a:ext uri="{FF2B5EF4-FFF2-40B4-BE49-F238E27FC236}">
                  <a16:creationId xmlns:a16="http://schemas.microsoft.com/office/drawing/2014/main" id="{B9D179BF-6C6B-A712-49EE-A1A3033A9382}"/>
                </a:ext>
              </a:extLst>
            </p:cNvPr>
            <p:cNvSpPr/>
            <p:nvPr/>
          </p:nvSpPr>
          <p:spPr>
            <a:xfrm>
              <a:off x="3292514" y="2514790"/>
              <a:ext cx="164773" cy="3707392"/>
            </a:xfrm>
            <a:custGeom>
              <a:avLst/>
              <a:gdLst/>
              <a:ahLst/>
              <a:cxnLst/>
              <a:rect l="0" t="0" r="0" b="0"/>
              <a:pathLst>
                <a:path>
                  <a:moveTo>
                    <a:pt x="0" y="0"/>
                  </a:moveTo>
                  <a:lnTo>
                    <a:pt x="0" y="3707392"/>
                  </a:lnTo>
                  <a:lnTo>
                    <a:pt x="164773" y="3707392"/>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26" name="Freeform: Shape 25">
              <a:extLst>
                <a:ext uri="{FF2B5EF4-FFF2-40B4-BE49-F238E27FC236}">
                  <a16:creationId xmlns:a16="http://schemas.microsoft.com/office/drawing/2014/main" id="{2A816304-15CD-A934-2E82-D8197C2C46D1}"/>
                </a:ext>
              </a:extLst>
            </p:cNvPr>
            <p:cNvSpPr/>
            <p:nvPr/>
          </p:nvSpPr>
          <p:spPr>
            <a:xfrm>
              <a:off x="3457287" y="5810250"/>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4477108"/>
                <a:satOff val="-304"/>
                <a:lumOff val="7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Frameworks: LangChain, LangGraph, AutoGen</a:t>
              </a:r>
              <a:endParaRPr lang="en-US" sz="900" kern="1200"/>
            </a:p>
          </p:txBody>
        </p:sp>
        <p:sp>
          <p:nvSpPr>
            <p:cNvPr id="27" name="Freeform: Shape 26">
              <a:extLst>
                <a:ext uri="{FF2B5EF4-FFF2-40B4-BE49-F238E27FC236}">
                  <a16:creationId xmlns:a16="http://schemas.microsoft.com/office/drawing/2014/main" id="{62B1421D-666A-D9A3-8D22-2C7DBB211387}"/>
                </a:ext>
              </a:extLst>
            </p:cNvPr>
            <p:cNvSpPr/>
            <p:nvPr/>
          </p:nvSpPr>
          <p:spPr>
            <a:xfrm>
              <a:off x="5187404" y="1896891"/>
              <a:ext cx="1647730" cy="617898"/>
            </a:xfrm>
            <a:custGeom>
              <a:avLst/>
              <a:gdLst>
                <a:gd name="connsiteX0" fmla="*/ 0 w 1647730"/>
                <a:gd name="connsiteY0" fmla="*/ 82387 h 823865"/>
                <a:gd name="connsiteX1" fmla="*/ 82387 w 1647730"/>
                <a:gd name="connsiteY1" fmla="*/ 0 h 823865"/>
                <a:gd name="connsiteX2" fmla="*/ 1565344 w 1647730"/>
                <a:gd name="connsiteY2" fmla="*/ 0 h 823865"/>
                <a:gd name="connsiteX3" fmla="*/ 1647731 w 1647730"/>
                <a:gd name="connsiteY3" fmla="*/ 82387 h 823865"/>
                <a:gd name="connsiteX4" fmla="*/ 1647730 w 1647730"/>
                <a:gd name="connsiteY4" fmla="*/ 741479 h 823865"/>
                <a:gd name="connsiteX5" fmla="*/ 1565343 w 1647730"/>
                <a:gd name="connsiteY5" fmla="*/ 823866 h 823865"/>
                <a:gd name="connsiteX6" fmla="*/ 82387 w 1647730"/>
                <a:gd name="connsiteY6" fmla="*/ 823865 h 823865"/>
                <a:gd name="connsiteX7" fmla="*/ 0 w 1647730"/>
                <a:gd name="connsiteY7" fmla="*/ 741478 h 823865"/>
                <a:gd name="connsiteX8" fmla="*/ 0 w 1647730"/>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30" h="823865">
                  <a:moveTo>
                    <a:pt x="0" y="82387"/>
                  </a:moveTo>
                  <a:cubicBezTo>
                    <a:pt x="0" y="36886"/>
                    <a:pt x="36886" y="0"/>
                    <a:pt x="82387" y="0"/>
                  </a:cubicBezTo>
                  <a:lnTo>
                    <a:pt x="1565344" y="0"/>
                  </a:lnTo>
                  <a:cubicBezTo>
                    <a:pt x="1610845" y="0"/>
                    <a:pt x="1647731" y="36886"/>
                    <a:pt x="1647731" y="82387"/>
                  </a:cubicBezTo>
                  <a:cubicBezTo>
                    <a:pt x="1647731" y="302084"/>
                    <a:pt x="1647730" y="521782"/>
                    <a:pt x="1647730" y="741479"/>
                  </a:cubicBezTo>
                  <a:cubicBezTo>
                    <a:pt x="1647730" y="786980"/>
                    <a:pt x="1610844" y="823866"/>
                    <a:pt x="1565343" y="823866"/>
                  </a:cubicBezTo>
                  <a:lnTo>
                    <a:pt x="82387" y="823865"/>
                  </a:lnTo>
                  <a:cubicBezTo>
                    <a:pt x="36886" y="823865"/>
                    <a:pt x="0" y="786979"/>
                    <a:pt x="0" y="741478"/>
                  </a:cubicBezTo>
                  <a:lnTo>
                    <a:pt x="0" y="82387"/>
                  </a:lnTo>
                  <a:close/>
                </a:path>
              </a:pathLst>
            </a:custGeom>
          </p:spPr>
          <p:style>
            <a:lnRef idx="3">
              <a:schemeClr val="lt1">
                <a:hueOff val="0"/>
                <a:satOff val="0"/>
                <a:lumOff val="0"/>
                <a:alphaOff val="0"/>
              </a:schemeClr>
            </a:lnRef>
            <a:fillRef idx="1">
              <a:schemeClr val="accent5">
                <a:hueOff val="-6076075"/>
                <a:satOff val="-413"/>
                <a:lumOff val="981"/>
                <a:alphaOff val="0"/>
              </a:schemeClr>
            </a:fillRef>
            <a:effectRef idx="1">
              <a:schemeClr val="accent5">
                <a:hueOff val="-6076075"/>
                <a:satOff val="-413"/>
                <a:lumOff val="981"/>
                <a:alphaOff val="0"/>
              </a:schemeClr>
            </a:effectRef>
            <a:fontRef idx="minor">
              <a:schemeClr val="lt1"/>
            </a:fontRef>
          </p:style>
          <p:txBody>
            <a:bodyPr spcFirstLastPara="0" vert="horz" wrap="square" lIns="52705" tIns="43180" rIns="52705" bIns="43180" numCol="1" spcCol="1270" anchor="ctr" anchorCtr="0">
              <a:noAutofit/>
            </a:bodyPr>
            <a:lstStyle/>
            <a:p>
              <a:pPr marL="0" lvl="0" indent="0" algn="ctr" defTabSz="666750">
                <a:lnSpc>
                  <a:spcPct val="90000"/>
                </a:lnSpc>
                <a:spcBef>
                  <a:spcPct val="0"/>
                </a:spcBef>
                <a:spcAft>
                  <a:spcPct val="35000"/>
                </a:spcAft>
                <a:buNone/>
              </a:pPr>
              <a:r>
                <a:rPr lang="en-IN" sz="1600" kern="1200"/>
                <a:t>🤖 Agentic AI Solution</a:t>
              </a:r>
              <a:endParaRPr lang="en-US" sz="1600" kern="1200"/>
            </a:p>
          </p:txBody>
        </p:sp>
        <p:sp>
          <p:nvSpPr>
            <p:cNvPr id="28" name="Freeform: Shape 27">
              <a:extLst>
                <a:ext uri="{FF2B5EF4-FFF2-40B4-BE49-F238E27FC236}">
                  <a16:creationId xmlns:a16="http://schemas.microsoft.com/office/drawing/2014/main" id="{91366F4D-4D45-C797-38CE-CE57DBE8AEC9}"/>
                </a:ext>
              </a:extLst>
            </p:cNvPr>
            <p:cNvSpPr/>
            <p:nvPr/>
          </p:nvSpPr>
          <p:spPr>
            <a:xfrm>
              <a:off x="5352177" y="2514790"/>
              <a:ext cx="164773" cy="617898"/>
            </a:xfrm>
            <a:custGeom>
              <a:avLst/>
              <a:gdLst/>
              <a:ahLst/>
              <a:cxnLst/>
              <a:rect l="0" t="0" r="0" b="0"/>
              <a:pathLst>
                <a:path>
                  <a:moveTo>
                    <a:pt x="0" y="0"/>
                  </a:moveTo>
                  <a:lnTo>
                    <a:pt x="0" y="617898"/>
                  </a:lnTo>
                  <a:lnTo>
                    <a:pt x="164773" y="61789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29" name="Freeform: Shape 28">
              <a:extLst>
                <a:ext uri="{FF2B5EF4-FFF2-40B4-BE49-F238E27FC236}">
                  <a16:creationId xmlns:a16="http://schemas.microsoft.com/office/drawing/2014/main" id="{03C223C5-A6FD-92D0-1767-9F4C9038C358}"/>
                </a:ext>
              </a:extLst>
            </p:cNvPr>
            <p:cNvSpPr/>
            <p:nvPr/>
          </p:nvSpPr>
          <p:spPr>
            <a:xfrm>
              <a:off x="5516950" y="2720756"/>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5116695"/>
                <a:satOff val="-348"/>
                <a:lumOff val="82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Best for: Dynamic, autonomous decision-making</a:t>
              </a:r>
              <a:endParaRPr lang="en-US" sz="900" kern="1200"/>
            </a:p>
          </p:txBody>
        </p:sp>
        <p:sp>
          <p:nvSpPr>
            <p:cNvPr id="30" name="Freeform: Shape 29">
              <a:extLst>
                <a:ext uri="{FF2B5EF4-FFF2-40B4-BE49-F238E27FC236}">
                  <a16:creationId xmlns:a16="http://schemas.microsoft.com/office/drawing/2014/main" id="{D99BA7E5-DE3D-DFB5-0ADF-EDF8B1FAB52D}"/>
                </a:ext>
              </a:extLst>
            </p:cNvPr>
            <p:cNvSpPr/>
            <p:nvPr/>
          </p:nvSpPr>
          <p:spPr>
            <a:xfrm>
              <a:off x="5352177" y="2514790"/>
              <a:ext cx="164773" cy="1647730"/>
            </a:xfrm>
            <a:custGeom>
              <a:avLst/>
              <a:gdLst/>
              <a:ahLst/>
              <a:cxnLst/>
              <a:rect l="0" t="0" r="0" b="0"/>
              <a:pathLst>
                <a:path>
                  <a:moveTo>
                    <a:pt x="0" y="0"/>
                  </a:moveTo>
                  <a:lnTo>
                    <a:pt x="0" y="1647730"/>
                  </a:lnTo>
                  <a:lnTo>
                    <a:pt x="164773" y="1647730"/>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31" name="Freeform: Shape 30">
              <a:extLst>
                <a:ext uri="{FF2B5EF4-FFF2-40B4-BE49-F238E27FC236}">
                  <a16:creationId xmlns:a16="http://schemas.microsoft.com/office/drawing/2014/main" id="{365EAFFA-C0B2-6BC3-34D9-DFE19C27FFC4}"/>
                </a:ext>
              </a:extLst>
            </p:cNvPr>
            <p:cNvSpPr/>
            <p:nvPr/>
          </p:nvSpPr>
          <p:spPr>
            <a:xfrm>
              <a:off x="5516950" y="3750587"/>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5756282"/>
                <a:satOff val="-391"/>
                <a:lumOff val="92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t" anchorCtr="0">
              <a:noAutofit/>
            </a:bodyPr>
            <a:lstStyle/>
            <a:p>
              <a:pPr marL="0" lvl="0" indent="0" algn="l" defTabSz="355600">
                <a:lnSpc>
                  <a:spcPct val="90000"/>
                </a:lnSpc>
                <a:spcBef>
                  <a:spcPct val="0"/>
                </a:spcBef>
                <a:spcAft>
                  <a:spcPct val="35000"/>
                </a:spcAft>
                <a:buNone/>
              </a:pPr>
              <a:r>
                <a:rPr lang="en-IN" sz="900" kern="1200"/>
                <a:t>Use when:</a:t>
              </a:r>
              <a:endParaRPr lang="en-US" sz="900" kern="1200"/>
            </a:p>
            <a:p>
              <a:pPr marL="57150" lvl="1" indent="-57150" algn="l" defTabSz="266700">
                <a:lnSpc>
                  <a:spcPct val="90000"/>
                </a:lnSpc>
                <a:spcBef>
                  <a:spcPct val="0"/>
                </a:spcBef>
                <a:spcAft>
                  <a:spcPct val="15000"/>
                </a:spcAft>
                <a:buChar char="•"/>
              </a:pPr>
              <a:r>
                <a:rPr lang="en-IN" sz="700" kern="1200"/>
                <a:t>Non-deterministic processes</a:t>
              </a:r>
              <a:endParaRPr lang="en-US" sz="700" kern="1200"/>
            </a:p>
            <a:p>
              <a:pPr marL="57150" lvl="1" indent="-57150" algn="l" defTabSz="266700">
                <a:lnSpc>
                  <a:spcPct val="90000"/>
                </a:lnSpc>
                <a:spcBef>
                  <a:spcPct val="0"/>
                </a:spcBef>
                <a:spcAft>
                  <a:spcPct val="15000"/>
                </a:spcAft>
                <a:buChar char="•"/>
              </a:pPr>
              <a:r>
                <a:rPr lang="en-IN" sz="700" kern="1200"/>
                <a:t>Need planning and reasoning capabilities</a:t>
              </a:r>
              <a:endParaRPr lang="en-US" sz="700" kern="1200"/>
            </a:p>
            <a:p>
              <a:pPr marL="57150" lvl="1" indent="-57150" algn="l" defTabSz="266700">
                <a:lnSpc>
                  <a:spcPct val="90000"/>
                </a:lnSpc>
                <a:spcBef>
                  <a:spcPct val="0"/>
                </a:spcBef>
                <a:spcAft>
                  <a:spcPct val="15000"/>
                </a:spcAft>
                <a:buChar char="•"/>
              </a:pPr>
              <a:r>
                <a:rPr lang="en-IN" sz="700" kern="1200"/>
                <a:t>Tool usage and external API integration required</a:t>
              </a:r>
              <a:endParaRPr lang="en-US" sz="700" kern="1200"/>
            </a:p>
          </p:txBody>
        </p:sp>
        <p:sp>
          <p:nvSpPr>
            <p:cNvPr id="32" name="Freeform: Shape 31">
              <a:extLst>
                <a:ext uri="{FF2B5EF4-FFF2-40B4-BE49-F238E27FC236}">
                  <a16:creationId xmlns:a16="http://schemas.microsoft.com/office/drawing/2014/main" id="{A0630D47-9771-A8DA-1C25-C5BBC62648E0}"/>
                </a:ext>
              </a:extLst>
            </p:cNvPr>
            <p:cNvSpPr/>
            <p:nvPr/>
          </p:nvSpPr>
          <p:spPr>
            <a:xfrm>
              <a:off x="5352177" y="2514790"/>
              <a:ext cx="164773" cy="2677561"/>
            </a:xfrm>
            <a:custGeom>
              <a:avLst/>
              <a:gdLst/>
              <a:ahLst/>
              <a:cxnLst/>
              <a:rect l="0" t="0" r="0" b="0"/>
              <a:pathLst>
                <a:path>
                  <a:moveTo>
                    <a:pt x="0" y="0"/>
                  </a:moveTo>
                  <a:lnTo>
                    <a:pt x="0" y="2677561"/>
                  </a:lnTo>
                  <a:lnTo>
                    <a:pt x="164773" y="2677561"/>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33" name="Freeform: Shape 32">
              <a:extLst>
                <a:ext uri="{FF2B5EF4-FFF2-40B4-BE49-F238E27FC236}">
                  <a16:creationId xmlns:a16="http://schemas.microsoft.com/office/drawing/2014/main" id="{F7BC5118-950F-1F18-6B8B-33814A0B8085}"/>
                </a:ext>
              </a:extLst>
            </p:cNvPr>
            <p:cNvSpPr/>
            <p:nvPr/>
          </p:nvSpPr>
          <p:spPr>
            <a:xfrm>
              <a:off x="5516950" y="4780419"/>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6395869"/>
                <a:satOff val="-435"/>
                <a:lumOff val="103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Examples: Research assistants, adaptive workflow automation, complex problem-solving</a:t>
              </a:r>
              <a:endParaRPr lang="en-US" sz="900" kern="1200"/>
            </a:p>
          </p:txBody>
        </p:sp>
        <p:sp>
          <p:nvSpPr>
            <p:cNvPr id="34" name="Freeform: Shape 33">
              <a:extLst>
                <a:ext uri="{FF2B5EF4-FFF2-40B4-BE49-F238E27FC236}">
                  <a16:creationId xmlns:a16="http://schemas.microsoft.com/office/drawing/2014/main" id="{F5F773A3-8386-21B2-4922-C5CF8E537436}"/>
                </a:ext>
              </a:extLst>
            </p:cNvPr>
            <p:cNvSpPr/>
            <p:nvPr/>
          </p:nvSpPr>
          <p:spPr>
            <a:xfrm>
              <a:off x="5352177" y="2514790"/>
              <a:ext cx="164773" cy="3707392"/>
            </a:xfrm>
            <a:custGeom>
              <a:avLst/>
              <a:gdLst/>
              <a:ahLst/>
              <a:cxnLst/>
              <a:rect l="0" t="0" r="0" b="0"/>
              <a:pathLst>
                <a:path>
                  <a:moveTo>
                    <a:pt x="0" y="0"/>
                  </a:moveTo>
                  <a:lnTo>
                    <a:pt x="0" y="3707392"/>
                  </a:lnTo>
                  <a:lnTo>
                    <a:pt x="164773" y="3707392"/>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35" name="Freeform: Shape 34">
              <a:extLst>
                <a:ext uri="{FF2B5EF4-FFF2-40B4-BE49-F238E27FC236}">
                  <a16:creationId xmlns:a16="http://schemas.microsoft.com/office/drawing/2014/main" id="{40F4309E-A695-CD4F-07F1-B4D8D31EFCF2}"/>
                </a:ext>
              </a:extLst>
            </p:cNvPr>
            <p:cNvSpPr/>
            <p:nvPr/>
          </p:nvSpPr>
          <p:spPr>
            <a:xfrm>
              <a:off x="5516950" y="5810250"/>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7035455"/>
                <a:satOff val="-478"/>
                <a:lumOff val="113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dirty="0"/>
                <a:t>Frameworks: </a:t>
              </a:r>
              <a:r>
                <a:rPr lang="en-IN" sz="900" kern="1200" dirty="0" err="1"/>
                <a:t>AutoGen</a:t>
              </a:r>
              <a:r>
                <a:rPr lang="en-IN" sz="900" kern="1200" dirty="0"/>
                <a:t>, </a:t>
              </a:r>
              <a:r>
                <a:rPr lang="en-IN" sz="900" kern="1200" dirty="0" err="1"/>
                <a:t>LangGraph</a:t>
              </a:r>
              <a:r>
                <a:rPr lang="en-IN" sz="900" kern="1200" dirty="0"/>
                <a:t> Agents, </a:t>
              </a:r>
              <a:r>
                <a:rPr lang="en-IN" sz="900" kern="1200" dirty="0" err="1"/>
                <a:t>CrewAI</a:t>
              </a:r>
              <a:endParaRPr lang="en-US" sz="900" kern="1200" dirty="0"/>
            </a:p>
          </p:txBody>
        </p:sp>
        <p:sp>
          <p:nvSpPr>
            <p:cNvPr id="36" name="Freeform: Shape 35">
              <a:extLst>
                <a:ext uri="{FF2B5EF4-FFF2-40B4-BE49-F238E27FC236}">
                  <a16:creationId xmlns:a16="http://schemas.microsoft.com/office/drawing/2014/main" id="{A75B44B7-E8FB-9F54-E5B5-6F7F5BBD72E7}"/>
                </a:ext>
              </a:extLst>
            </p:cNvPr>
            <p:cNvSpPr/>
            <p:nvPr/>
          </p:nvSpPr>
          <p:spPr>
            <a:xfrm>
              <a:off x="7247067" y="1896891"/>
              <a:ext cx="1647730" cy="617898"/>
            </a:xfrm>
            <a:custGeom>
              <a:avLst/>
              <a:gdLst>
                <a:gd name="connsiteX0" fmla="*/ 0 w 1647730"/>
                <a:gd name="connsiteY0" fmla="*/ 82387 h 823865"/>
                <a:gd name="connsiteX1" fmla="*/ 82387 w 1647730"/>
                <a:gd name="connsiteY1" fmla="*/ 0 h 823865"/>
                <a:gd name="connsiteX2" fmla="*/ 1565344 w 1647730"/>
                <a:gd name="connsiteY2" fmla="*/ 0 h 823865"/>
                <a:gd name="connsiteX3" fmla="*/ 1647731 w 1647730"/>
                <a:gd name="connsiteY3" fmla="*/ 82387 h 823865"/>
                <a:gd name="connsiteX4" fmla="*/ 1647730 w 1647730"/>
                <a:gd name="connsiteY4" fmla="*/ 741479 h 823865"/>
                <a:gd name="connsiteX5" fmla="*/ 1565343 w 1647730"/>
                <a:gd name="connsiteY5" fmla="*/ 823866 h 823865"/>
                <a:gd name="connsiteX6" fmla="*/ 82387 w 1647730"/>
                <a:gd name="connsiteY6" fmla="*/ 823865 h 823865"/>
                <a:gd name="connsiteX7" fmla="*/ 0 w 1647730"/>
                <a:gd name="connsiteY7" fmla="*/ 741478 h 823865"/>
                <a:gd name="connsiteX8" fmla="*/ 0 w 1647730"/>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30" h="823865">
                  <a:moveTo>
                    <a:pt x="0" y="82387"/>
                  </a:moveTo>
                  <a:cubicBezTo>
                    <a:pt x="0" y="36886"/>
                    <a:pt x="36886" y="0"/>
                    <a:pt x="82387" y="0"/>
                  </a:cubicBezTo>
                  <a:lnTo>
                    <a:pt x="1565344" y="0"/>
                  </a:lnTo>
                  <a:cubicBezTo>
                    <a:pt x="1610845" y="0"/>
                    <a:pt x="1647731" y="36886"/>
                    <a:pt x="1647731" y="82387"/>
                  </a:cubicBezTo>
                  <a:cubicBezTo>
                    <a:pt x="1647731" y="302084"/>
                    <a:pt x="1647730" y="521782"/>
                    <a:pt x="1647730" y="741479"/>
                  </a:cubicBezTo>
                  <a:cubicBezTo>
                    <a:pt x="1647730" y="786980"/>
                    <a:pt x="1610844" y="823866"/>
                    <a:pt x="1565343" y="823866"/>
                  </a:cubicBezTo>
                  <a:lnTo>
                    <a:pt x="82387" y="823865"/>
                  </a:lnTo>
                  <a:cubicBezTo>
                    <a:pt x="36886" y="823865"/>
                    <a:pt x="0" y="786979"/>
                    <a:pt x="0" y="741478"/>
                  </a:cubicBezTo>
                  <a:lnTo>
                    <a:pt x="0" y="82387"/>
                  </a:lnTo>
                  <a:close/>
                </a:path>
              </a:pathLst>
            </a:custGeom>
          </p:spPr>
          <p:style>
            <a:lnRef idx="3">
              <a:schemeClr val="lt1">
                <a:hueOff val="0"/>
                <a:satOff val="0"/>
                <a:lumOff val="0"/>
                <a:alphaOff val="0"/>
              </a:schemeClr>
            </a:lnRef>
            <a:fillRef idx="1">
              <a:schemeClr val="accent5">
                <a:hueOff val="-9114112"/>
                <a:satOff val="-620"/>
                <a:lumOff val="1471"/>
                <a:alphaOff val="0"/>
              </a:schemeClr>
            </a:fillRef>
            <a:effectRef idx="1">
              <a:schemeClr val="accent5">
                <a:hueOff val="-9114112"/>
                <a:satOff val="-620"/>
                <a:lumOff val="1471"/>
                <a:alphaOff val="0"/>
              </a:schemeClr>
            </a:effectRef>
            <a:fontRef idx="minor">
              <a:schemeClr val="lt1"/>
            </a:fontRef>
          </p:style>
          <p:txBody>
            <a:bodyPr spcFirstLastPara="0" vert="horz" wrap="square" lIns="52705" tIns="43180" rIns="52705" bIns="43180" numCol="1" spcCol="1270" anchor="ctr" anchorCtr="0">
              <a:noAutofit/>
            </a:bodyPr>
            <a:lstStyle/>
            <a:p>
              <a:pPr marL="0" lvl="0" indent="0" algn="ctr" defTabSz="666750">
                <a:lnSpc>
                  <a:spcPct val="90000"/>
                </a:lnSpc>
                <a:spcBef>
                  <a:spcPct val="0"/>
                </a:spcBef>
                <a:spcAft>
                  <a:spcPct val="35000"/>
                </a:spcAft>
                <a:buNone/>
              </a:pPr>
              <a:r>
                <a:rPr lang="en-IN" sz="1600" kern="1200"/>
                <a:t>📚 RAG (Retrieval-Augmented Generation)</a:t>
              </a:r>
              <a:endParaRPr lang="en-US" sz="1600" kern="1200"/>
            </a:p>
          </p:txBody>
        </p:sp>
        <p:sp>
          <p:nvSpPr>
            <p:cNvPr id="37" name="Freeform: Shape 36">
              <a:extLst>
                <a:ext uri="{FF2B5EF4-FFF2-40B4-BE49-F238E27FC236}">
                  <a16:creationId xmlns:a16="http://schemas.microsoft.com/office/drawing/2014/main" id="{D8CA828F-E22F-7BDB-C5BA-227A1B36E5EC}"/>
                </a:ext>
              </a:extLst>
            </p:cNvPr>
            <p:cNvSpPr/>
            <p:nvPr/>
          </p:nvSpPr>
          <p:spPr>
            <a:xfrm>
              <a:off x="7411840" y="2514790"/>
              <a:ext cx="164773" cy="617898"/>
            </a:xfrm>
            <a:custGeom>
              <a:avLst/>
              <a:gdLst/>
              <a:ahLst/>
              <a:cxnLst/>
              <a:rect l="0" t="0" r="0" b="0"/>
              <a:pathLst>
                <a:path>
                  <a:moveTo>
                    <a:pt x="0" y="0"/>
                  </a:moveTo>
                  <a:lnTo>
                    <a:pt x="0" y="617898"/>
                  </a:lnTo>
                  <a:lnTo>
                    <a:pt x="164773" y="61789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38" name="Freeform: Shape 37">
              <a:extLst>
                <a:ext uri="{FF2B5EF4-FFF2-40B4-BE49-F238E27FC236}">
                  <a16:creationId xmlns:a16="http://schemas.microsoft.com/office/drawing/2014/main" id="{9FB97B41-F913-3A46-66C8-263FFCB65762}"/>
                </a:ext>
              </a:extLst>
            </p:cNvPr>
            <p:cNvSpPr/>
            <p:nvPr/>
          </p:nvSpPr>
          <p:spPr>
            <a:xfrm>
              <a:off x="7576613" y="2720756"/>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7675042"/>
                <a:satOff val="-522"/>
                <a:lumOff val="123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Best for: Dynamic knowledge that changes frequently</a:t>
              </a:r>
              <a:endParaRPr lang="en-US" sz="900" kern="1200"/>
            </a:p>
          </p:txBody>
        </p:sp>
        <p:sp>
          <p:nvSpPr>
            <p:cNvPr id="39" name="Freeform: Shape 38">
              <a:extLst>
                <a:ext uri="{FF2B5EF4-FFF2-40B4-BE49-F238E27FC236}">
                  <a16:creationId xmlns:a16="http://schemas.microsoft.com/office/drawing/2014/main" id="{CB1219FE-6634-3ABB-2599-61BFD66B940B}"/>
                </a:ext>
              </a:extLst>
            </p:cNvPr>
            <p:cNvSpPr/>
            <p:nvPr/>
          </p:nvSpPr>
          <p:spPr>
            <a:xfrm>
              <a:off x="7411840" y="2514790"/>
              <a:ext cx="164773" cy="1647730"/>
            </a:xfrm>
            <a:custGeom>
              <a:avLst/>
              <a:gdLst/>
              <a:ahLst/>
              <a:cxnLst/>
              <a:rect l="0" t="0" r="0" b="0"/>
              <a:pathLst>
                <a:path>
                  <a:moveTo>
                    <a:pt x="0" y="0"/>
                  </a:moveTo>
                  <a:lnTo>
                    <a:pt x="0" y="1647730"/>
                  </a:lnTo>
                  <a:lnTo>
                    <a:pt x="164773" y="1647730"/>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40" name="Freeform: Shape 39">
              <a:extLst>
                <a:ext uri="{FF2B5EF4-FFF2-40B4-BE49-F238E27FC236}">
                  <a16:creationId xmlns:a16="http://schemas.microsoft.com/office/drawing/2014/main" id="{53A49B35-D8E9-0940-E551-332BBE92140C}"/>
                </a:ext>
              </a:extLst>
            </p:cNvPr>
            <p:cNvSpPr/>
            <p:nvPr/>
          </p:nvSpPr>
          <p:spPr>
            <a:xfrm>
              <a:off x="7576613" y="3750587"/>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8314629"/>
                <a:satOff val="-565"/>
                <a:lumOff val="134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t" anchorCtr="0">
              <a:noAutofit/>
            </a:bodyPr>
            <a:lstStyle/>
            <a:p>
              <a:pPr marL="0" lvl="0" indent="0" algn="l" defTabSz="355600">
                <a:lnSpc>
                  <a:spcPct val="90000"/>
                </a:lnSpc>
                <a:spcBef>
                  <a:spcPct val="0"/>
                </a:spcBef>
                <a:spcAft>
                  <a:spcPct val="35000"/>
                </a:spcAft>
                <a:buNone/>
              </a:pPr>
              <a:r>
                <a:rPr lang="en-IN" sz="900" kern="1200"/>
                <a:t>Use when:</a:t>
              </a:r>
              <a:endParaRPr lang="en-US" sz="900" kern="1200"/>
            </a:p>
            <a:p>
              <a:pPr marL="57150" lvl="1" indent="-57150" algn="l" defTabSz="266700">
                <a:lnSpc>
                  <a:spcPct val="90000"/>
                </a:lnSpc>
                <a:spcBef>
                  <a:spcPct val="0"/>
                </a:spcBef>
                <a:spcAft>
                  <a:spcPct val="15000"/>
                </a:spcAft>
                <a:buChar char="•"/>
              </a:pPr>
              <a:r>
                <a:rPr lang="en-IN" sz="700" kern="1200"/>
                <a:t>External knowledge base needed</a:t>
              </a:r>
              <a:endParaRPr lang="en-US" sz="700" kern="1200"/>
            </a:p>
            <a:p>
              <a:pPr marL="57150" lvl="1" indent="-57150" algn="l" defTabSz="266700">
                <a:lnSpc>
                  <a:spcPct val="90000"/>
                </a:lnSpc>
                <a:spcBef>
                  <a:spcPct val="0"/>
                </a:spcBef>
                <a:spcAft>
                  <a:spcPct val="15000"/>
                </a:spcAft>
                <a:buChar char="•"/>
              </a:pPr>
              <a:r>
                <a:rPr lang="en-IN" sz="700" kern="1200"/>
                <a:t>Information updates regularly</a:t>
              </a:r>
              <a:endParaRPr lang="en-US" sz="700" kern="1200"/>
            </a:p>
            <a:p>
              <a:pPr marL="57150" lvl="1" indent="-57150" algn="l" defTabSz="266700">
                <a:lnSpc>
                  <a:spcPct val="90000"/>
                </a:lnSpc>
                <a:spcBef>
                  <a:spcPct val="0"/>
                </a:spcBef>
                <a:spcAft>
                  <a:spcPct val="15000"/>
                </a:spcAft>
                <a:buChar char="•"/>
              </a:pPr>
              <a:r>
                <a:rPr lang="en-IN" sz="700" kern="1200"/>
                <a:t>Context-aware responses required</a:t>
              </a:r>
              <a:endParaRPr lang="en-US" sz="700" kern="1200"/>
            </a:p>
          </p:txBody>
        </p:sp>
        <p:sp>
          <p:nvSpPr>
            <p:cNvPr id="41" name="Freeform: Shape 40">
              <a:extLst>
                <a:ext uri="{FF2B5EF4-FFF2-40B4-BE49-F238E27FC236}">
                  <a16:creationId xmlns:a16="http://schemas.microsoft.com/office/drawing/2014/main" id="{926FF89D-E962-5CB3-5876-CB74AAE55798}"/>
                </a:ext>
              </a:extLst>
            </p:cNvPr>
            <p:cNvSpPr/>
            <p:nvPr/>
          </p:nvSpPr>
          <p:spPr>
            <a:xfrm>
              <a:off x="7411840" y="2514790"/>
              <a:ext cx="164773" cy="2677561"/>
            </a:xfrm>
            <a:custGeom>
              <a:avLst/>
              <a:gdLst/>
              <a:ahLst/>
              <a:cxnLst/>
              <a:rect l="0" t="0" r="0" b="0"/>
              <a:pathLst>
                <a:path>
                  <a:moveTo>
                    <a:pt x="0" y="0"/>
                  </a:moveTo>
                  <a:lnTo>
                    <a:pt x="0" y="2677561"/>
                  </a:lnTo>
                  <a:lnTo>
                    <a:pt x="164773" y="2677561"/>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42" name="Freeform: Shape 41">
              <a:extLst>
                <a:ext uri="{FF2B5EF4-FFF2-40B4-BE49-F238E27FC236}">
                  <a16:creationId xmlns:a16="http://schemas.microsoft.com/office/drawing/2014/main" id="{0546B698-FCB7-9CE8-77AB-B0947682FCA9}"/>
                </a:ext>
              </a:extLst>
            </p:cNvPr>
            <p:cNvSpPr/>
            <p:nvPr/>
          </p:nvSpPr>
          <p:spPr>
            <a:xfrm>
              <a:off x="7576613" y="4780419"/>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8954215"/>
                <a:satOff val="-609"/>
                <a:lumOff val="144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Examples: Customer support, document Q&amp;A, policy inquiries</a:t>
              </a:r>
              <a:endParaRPr lang="en-US" sz="900" kern="1200"/>
            </a:p>
          </p:txBody>
        </p:sp>
        <p:sp>
          <p:nvSpPr>
            <p:cNvPr id="43" name="Freeform: Shape 42">
              <a:extLst>
                <a:ext uri="{FF2B5EF4-FFF2-40B4-BE49-F238E27FC236}">
                  <a16:creationId xmlns:a16="http://schemas.microsoft.com/office/drawing/2014/main" id="{F1815D42-7947-849B-421C-D22529CFA3C3}"/>
                </a:ext>
              </a:extLst>
            </p:cNvPr>
            <p:cNvSpPr/>
            <p:nvPr/>
          </p:nvSpPr>
          <p:spPr>
            <a:xfrm>
              <a:off x="7411840" y="2514790"/>
              <a:ext cx="164773" cy="3707392"/>
            </a:xfrm>
            <a:custGeom>
              <a:avLst/>
              <a:gdLst/>
              <a:ahLst/>
              <a:cxnLst/>
              <a:rect l="0" t="0" r="0" b="0"/>
              <a:pathLst>
                <a:path>
                  <a:moveTo>
                    <a:pt x="0" y="0"/>
                  </a:moveTo>
                  <a:lnTo>
                    <a:pt x="0" y="3707392"/>
                  </a:lnTo>
                  <a:lnTo>
                    <a:pt x="164773" y="3707392"/>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44" name="Freeform: Shape 43">
              <a:extLst>
                <a:ext uri="{FF2B5EF4-FFF2-40B4-BE49-F238E27FC236}">
                  <a16:creationId xmlns:a16="http://schemas.microsoft.com/office/drawing/2014/main" id="{4E3C7A9C-7719-E0FB-2216-4E078D559B46}"/>
                </a:ext>
              </a:extLst>
            </p:cNvPr>
            <p:cNvSpPr/>
            <p:nvPr/>
          </p:nvSpPr>
          <p:spPr>
            <a:xfrm>
              <a:off x="7576613" y="5810250"/>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9593803"/>
                <a:satOff val="-652"/>
                <a:lumOff val="154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Components: Vector database + Embeddings + LLM</a:t>
              </a:r>
              <a:endParaRPr lang="en-US" sz="900" kern="1200"/>
            </a:p>
          </p:txBody>
        </p:sp>
        <p:sp>
          <p:nvSpPr>
            <p:cNvPr id="45" name="Freeform: Shape 44">
              <a:extLst>
                <a:ext uri="{FF2B5EF4-FFF2-40B4-BE49-F238E27FC236}">
                  <a16:creationId xmlns:a16="http://schemas.microsoft.com/office/drawing/2014/main" id="{4A0A841F-BDF3-1D88-B0E8-5C350D2156CC}"/>
                </a:ext>
              </a:extLst>
            </p:cNvPr>
            <p:cNvSpPr/>
            <p:nvPr/>
          </p:nvSpPr>
          <p:spPr>
            <a:xfrm>
              <a:off x="9306729" y="1896891"/>
              <a:ext cx="1647730" cy="617898"/>
            </a:xfrm>
            <a:custGeom>
              <a:avLst/>
              <a:gdLst>
                <a:gd name="connsiteX0" fmla="*/ 0 w 1647730"/>
                <a:gd name="connsiteY0" fmla="*/ 82387 h 823865"/>
                <a:gd name="connsiteX1" fmla="*/ 82387 w 1647730"/>
                <a:gd name="connsiteY1" fmla="*/ 0 h 823865"/>
                <a:gd name="connsiteX2" fmla="*/ 1565344 w 1647730"/>
                <a:gd name="connsiteY2" fmla="*/ 0 h 823865"/>
                <a:gd name="connsiteX3" fmla="*/ 1647731 w 1647730"/>
                <a:gd name="connsiteY3" fmla="*/ 82387 h 823865"/>
                <a:gd name="connsiteX4" fmla="*/ 1647730 w 1647730"/>
                <a:gd name="connsiteY4" fmla="*/ 741479 h 823865"/>
                <a:gd name="connsiteX5" fmla="*/ 1565343 w 1647730"/>
                <a:gd name="connsiteY5" fmla="*/ 823866 h 823865"/>
                <a:gd name="connsiteX6" fmla="*/ 82387 w 1647730"/>
                <a:gd name="connsiteY6" fmla="*/ 823865 h 823865"/>
                <a:gd name="connsiteX7" fmla="*/ 0 w 1647730"/>
                <a:gd name="connsiteY7" fmla="*/ 741478 h 823865"/>
                <a:gd name="connsiteX8" fmla="*/ 0 w 1647730"/>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7730" h="823865">
                  <a:moveTo>
                    <a:pt x="0" y="82387"/>
                  </a:moveTo>
                  <a:cubicBezTo>
                    <a:pt x="0" y="36886"/>
                    <a:pt x="36886" y="0"/>
                    <a:pt x="82387" y="0"/>
                  </a:cubicBezTo>
                  <a:lnTo>
                    <a:pt x="1565344" y="0"/>
                  </a:lnTo>
                  <a:cubicBezTo>
                    <a:pt x="1610845" y="0"/>
                    <a:pt x="1647731" y="36886"/>
                    <a:pt x="1647731" y="82387"/>
                  </a:cubicBezTo>
                  <a:cubicBezTo>
                    <a:pt x="1647731" y="302084"/>
                    <a:pt x="1647730" y="521782"/>
                    <a:pt x="1647730" y="741479"/>
                  </a:cubicBezTo>
                  <a:cubicBezTo>
                    <a:pt x="1647730" y="786980"/>
                    <a:pt x="1610844" y="823866"/>
                    <a:pt x="1565343" y="823866"/>
                  </a:cubicBezTo>
                  <a:lnTo>
                    <a:pt x="82387" y="823865"/>
                  </a:lnTo>
                  <a:cubicBezTo>
                    <a:pt x="36886" y="823865"/>
                    <a:pt x="0" y="786979"/>
                    <a:pt x="0" y="741478"/>
                  </a:cubicBezTo>
                  <a:lnTo>
                    <a:pt x="0" y="82387"/>
                  </a:lnTo>
                  <a:close/>
                </a:path>
              </a:pathLst>
            </a:custGeom>
          </p:spPr>
          <p:style>
            <a:lnRef idx="3">
              <a:schemeClr val="lt1">
                <a:hueOff val="0"/>
                <a:satOff val="0"/>
                <a:lumOff val="0"/>
                <a:alphaOff val="0"/>
              </a:schemeClr>
            </a:lnRef>
            <a:fillRef idx="1">
              <a:schemeClr val="accent5">
                <a:hueOff val="-12152150"/>
                <a:satOff val="-826"/>
                <a:lumOff val="1961"/>
                <a:alphaOff val="0"/>
              </a:schemeClr>
            </a:fillRef>
            <a:effectRef idx="1">
              <a:schemeClr val="accent5">
                <a:hueOff val="-12152150"/>
                <a:satOff val="-826"/>
                <a:lumOff val="1961"/>
                <a:alphaOff val="0"/>
              </a:schemeClr>
            </a:effectRef>
            <a:fontRef idx="minor">
              <a:schemeClr val="lt1"/>
            </a:fontRef>
          </p:style>
          <p:txBody>
            <a:bodyPr spcFirstLastPara="0" vert="horz" wrap="square" lIns="52705" tIns="43180" rIns="52705" bIns="43180" numCol="1" spcCol="1270" anchor="ctr" anchorCtr="0">
              <a:noAutofit/>
            </a:bodyPr>
            <a:lstStyle/>
            <a:p>
              <a:pPr marL="0" lvl="0" indent="0" algn="ctr" defTabSz="666750">
                <a:lnSpc>
                  <a:spcPct val="90000"/>
                </a:lnSpc>
                <a:spcBef>
                  <a:spcPct val="0"/>
                </a:spcBef>
                <a:spcAft>
                  <a:spcPct val="35000"/>
                </a:spcAft>
                <a:buNone/>
              </a:pPr>
              <a:r>
                <a:rPr lang="en-IN" sz="1600" kern="1200"/>
                <a:t>🎓 Fine-Tuning LLM</a:t>
              </a:r>
              <a:endParaRPr lang="en-US" sz="1600" kern="1200"/>
            </a:p>
          </p:txBody>
        </p:sp>
        <p:sp>
          <p:nvSpPr>
            <p:cNvPr id="46" name="Freeform: Shape 45">
              <a:extLst>
                <a:ext uri="{FF2B5EF4-FFF2-40B4-BE49-F238E27FC236}">
                  <a16:creationId xmlns:a16="http://schemas.microsoft.com/office/drawing/2014/main" id="{339ECAB7-644A-8B3C-B5CB-52194358E1FD}"/>
                </a:ext>
              </a:extLst>
            </p:cNvPr>
            <p:cNvSpPr/>
            <p:nvPr/>
          </p:nvSpPr>
          <p:spPr>
            <a:xfrm>
              <a:off x="9471502" y="2514790"/>
              <a:ext cx="164773" cy="617898"/>
            </a:xfrm>
            <a:custGeom>
              <a:avLst/>
              <a:gdLst/>
              <a:ahLst/>
              <a:cxnLst/>
              <a:rect l="0" t="0" r="0" b="0"/>
              <a:pathLst>
                <a:path>
                  <a:moveTo>
                    <a:pt x="0" y="0"/>
                  </a:moveTo>
                  <a:lnTo>
                    <a:pt x="0" y="617898"/>
                  </a:lnTo>
                  <a:lnTo>
                    <a:pt x="164773" y="61789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47" name="Freeform: Shape 46">
              <a:extLst>
                <a:ext uri="{FF2B5EF4-FFF2-40B4-BE49-F238E27FC236}">
                  <a16:creationId xmlns:a16="http://schemas.microsoft.com/office/drawing/2014/main" id="{3A6B58EE-1ACC-C68A-6719-BBAF5E5EC5A3}"/>
                </a:ext>
              </a:extLst>
            </p:cNvPr>
            <p:cNvSpPr/>
            <p:nvPr/>
          </p:nvSpPr>
          <p:spPr>
            <a:xfrm>
              <a:off x="9636275" y="2720756"/>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10233389"/>
                <a:satOff val="-696"/>
                <a:lumOff val="1651"/>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Best for: Static, specialized domain expertise</a:t>
              </a:r>
              <a:endParaRPr lang="en-US" sz="900" kern="1200"/>
            </a:p>
          </p:txBody>
        </p:sp>
        <p:sp>
          <p:nvSpPr>
            <p:cNvPr id="48" name="Freeform: Shape 47">
              <a:extLst>
                <a:ext uri="{FF2B5EF4-FFF2-40B4-BE49-F238E27FC236}">
                  <a16:creationId xmlns:a16="http://schemas.microsoft.com/office/drawing/2014/main" id="{B2B9E226-7D1A-C574-CCF8-39236404BECD}"/>
                </a:ext>
              </a:extLst>
            </p:cNvPr>
            <p:cNvSpPr/>
            <p:nvPr/>
          </p:nvSpPr>
          <p:spPr>
            <a:xfrm>
              <a:off x="9471502" y="2514790"/>
              <a:ext cx="164773" cy="1647730"/>
            </a:xfrm>
            <a:custGeom>
              <a:avLst/>
              <a:gdLst/>
              <a:ahLst/>
              <a:cxnLst/>
              <a:rect l="0" t="0" r="0" b="0"/>
              <a:pathLst>
                <a:path>
                  <a:moveTo>
                    <a:pt x="0" y="0"/>
                  </a:moveTo>
                  <a:lnTo>
                    <a:pt x="0" y="1647730"/>
                  </a:lnTo>
                  <a:lnTo>
                    <a:pt x="164773" y="1647730"/>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49" name="Freeform: Shape 48">
              <a:extLst>
                <a:ext uri="{FF2B5EF4-FFF2-40B4-BE49-F238E27FC236}">
                  <a16:creationId xmlns:a16="http://schemas.microsoft.com/office/drawing/2014/main" id="{3D863221-151C-3E58-6643-3ECB2F58E3DF}"/>
                </a:ext>
              </a:extLst>
            </p:cNvPr>
            <p:cNvSpPr/>
            <p:nvPr/>
          </p:nvSpPr>
          <p:spPr>
            <a:xfrm>
              <a:off x="9636275" y="3750587"/>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10872976"/>
                <a:satOff val="-739"/>
                <a:lumOff val="175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t" anchorCtr="0">
              <a:noAutofit/>
            </a:bodyPr>
            <a:lstStyle/>
            <a:p>
              <a:pPr marL="0" lvl="0" indent="0" algn="l" defTabSz="355600">
                <a:lnSpc>
                  <a:spcPct val="90000"/>
                </a:lnSpc>
                <a:spcBef>
                  <a:spcPct val="0"/>
                </a:spcBef>
                <a:spcAft>
                  <a:spcPct val="35000"/>
                </a:spcAft>
                <a:buNone/>
              </a:pPr>
              <a:r>
                <a:rPr lang="en-IN" sz="900" kern="1200"/>
                <a:t>Use when:</a:t>
              </a:r>
              <a:endParaRPr lang="en-US" sz="900" kern="1200"/>
            </a:p>
            <a:p>
              <a:pPr marL="57150" lvl="1" indent="-57150" algn="l" defTabSz="266700">
                <a:lnSpc>
                  <a:spcPct val="90000"/>
                </a:lnSpc>
                <a:spcBef>
                  <a:spcPct val="0"/>
                </a:spcBef>
                <a:spcAft>
                  <a:spcPct val="15000"/>
                </a:spcAft>
                <a:buChar char="•"/>
              </a:pPr>
              <a:r>
                <a:rPr lang="en-IN" sz="700" kern="1200"/>
                <a:t>Deep domain-specific knowledge required</a:t>
              </a:r>
              <a:endParaRPr lang="en-US" sz="700" kern="1200"/>
            </a:p>
            <a:p>
              <a:pPr marL="57150" lvl="1" indent="-57150" algn="l" defTabSz="266700">
                <a:lnSpc>
                  <a:spcPct val="90000"/>
                </a:lnSpc>
                <a:spcBef>
                  <a:spcPct val="0"/>
                </a:spcBef>
                <a:spcAft>
                  <a:spcPct val="15000"/>
                </a:spcAft>
                <a:buChar char="•"/>
              </a:pPr>
              <a:r>
                <a:rPr lang="en-IN" sz="700" kern="1200"/>
                <a:t>Specialized terminology and jargon</a:t>
              </a:r>
              <a:endParaRPr lang="en-US" sz="700" kern="1200"/>
            </a:p>
            <a:p>
              <a:pPr marL="57150" lvl="1" indent="-57150" algn="l" defTabSz="266700">
                <a:lnSpc>
                  <a:spcPct val="90000"/>
                </a:lnSpc>
                <a:spcBef>
                  <a:spcPct val="0"/>
                </a:spcBef>
                <a:spcAft>
                  <a:spcPct val="15000"/>
                </a:spcAft>
                <a:buChar char="•"/>
              </a:pPr>
              <a:r>
                <a:rPr lang="en-IN" sz="700" kern="1200"/>
                <a:t>Knowledge rarely changes</a:t>
              </a:r>
              <a:endParaRPr lang="en-US" sz="700" kern="1200"/>
            </a:p>
          </p:txBody>
        </p:sp>
        <p:sp>
          <p:nvSpPr>
            <p:cNvPr id="50" name="Freeform: Shape 49">
              <a:extLst>
                <a:ext uri="{FF2B5EF4-FFF2-40B4-BE49-F238E27FC236}">
                  <a16:creationId xmlns:a16="http://schemas.microsoft.com/office/drawing/2014/main" id="{C9B0AE91-9223-8967-7AE5-8DA9194B45E1}"/>
                </a:ext>
              </a:extLst>
            </p:cNvPr>
            <p:cNvSpPr/>
            <p:nvPr/>
          </p:nvSpPr>
          <p:spPr>
            <a:xfrm>
              <a:off x="9471502" y="2514790"/>
              <a:ext cx="164773" cy="2677561"/>
            </a:xfrm>
            <a:custGeom>
              <a:avLst/>
              <a:gdLst/>
              <a:ahLst/>
              <a:cxnLst/>
              <a:rect l="0" t="0" r="0" b="0"/>
              <a:pathLst>
                <a:path>
                  <a:moveTo>
                    <a:pt x="0" y="0"/>
                  </a:moveTo>
                  <a:lnTo>
                    <a:pt x="0" y="2677561"/>
                  </a:lnTo>
                  <a:lnTo>
                    <a:pt x="164773" y="2677561"/>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51" name="Freeform: Shape 50">
              <a:extLst>
                <a:ext uri="{FF2B5EF4-FFF2-40B4-BE49-F238E27FC236}">
                  <a16:creationId xmlns:a16="http://schemas.microsoft.com/office/drawing/2014/main" id="{BC5D727F-2C35-08EE-DA19-63B4E981643A}"/>
                </a:ext>
              </a:extLst>
            </p:cNvPr>
            <p:cNvSpPr/>
            <p:nvPr/>
          </p:nvSpPr>
          <p:spPr>
            <a:xfrm>
              <a:off x="9636275" y="4780419"/>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11512563"/>
                <a:satOff val="-783"/>
                <a:lumOff val="185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Examples: Medical diagnosis, legal document analysis, technical writing</a:t>
              </a:r>
              <a:endParaRPr lang="en-US" sz="900" kern="1200"/>
            </a:p>
          </p:txBody>
        </p:sp>
        <p:sp>
          <p:nvSpPr>
            <p:cNvPr id="52" name="Freeform: Shape 51">
              <a:extLst>
                <a:ext uri="{FF2B5EF4-FFF2-40B4-BE49-F238E27FC236}">
                  <a16:creationId xmlns:a16="http://schemas.microsoft.com/office/drawing/2014/main" id="{A6FFE675-7A81-79BD-F81B-E5FE1F61107E}"/>
                </a:ext>
              </a:extLst>
            </p:cNvPr>
            <p:cNvSpPr/>
            <p:nvPr/>
          </p:nvSpPr>
          <p:spPr>
            <a:xfrm>
              <a:off x="9471502" y="2514790"/>
              <a:ext cx="164773" cy="3707392"/>
            </a:xfrm>
            <a:custGeom>
              <a:avLst/>
              <a:gdLst/>
              <a:ahLst/>
              <a:cxnLst/>
              <a:rect l="0" t="0" r="0" b="0"/>
              <a:pathLst>
                <a:path>
                  <a:moveTo>
                    <a:pt x="0" y="0"/>
                  </a:moveTo>
                  <a:lnTo>
                    <a:pt x="0" y="3707392"/>
                  </a:lnTo>
                  <a:lnTo>
                    <a:pt x="164773" y="3707392"/>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en-IN" sz="2000"/>
            </a:p>
          </p:txBody>
        </p:sp>
        <p:sp>
          <p:nvSpPr>
            <p:cNvPr id="53" name="Freeform: Shape 52">
              <a:extLst>
                <a:ext uri="{FF2B5EF4-FFF2-40B4-BE49-F238E27FC236}">
                  <a16:creationId xmlns:a16="http://schemas.microsoft.com/office/drawing/2014/main" id="{FEA8292B-CCDA-EAD4-3923-11B937EDA940}"/>
                </a:ext>
              </a:extLst>
            </p:cNvPr>
            <p:cNvSpPr/>
            <p:nvPr/>
          </p:nvSpPr>
          <p:spPr>
            <a:xfrm>
              <a:off x="9636275" y="5810250"/>
              <a:ext cx="1318184" cy="823865"/>
            </a:xfrm>
            <a:custGeom>
              <a:avLst/>
              <a:gdLst>
                <a:gd name="connsiteX0" fmla="*/ 0 w 1318184"/>
                <a:gd name="connsiteY0" fmla="*/ 82387 h 823865"/>
                <a:gd name="connsiteX1" fmla="*/ 82387 w 1318184"/>
                <a:gd name="connsiteY1" fmla="*/ 0 h 823865"/>
                <a:gd name="connsiteX2" fmla="*/ 1235798 w 1318184"/>
                <a:gd name="connsiteY2" fmla="*/ 0 h 823865"/>
                <a:gd name="connsiteX3" fmla="*/ 1318185 w 1318184"/>
                <a:gd name="connsiteY3" fmla="*/ 82387 h 823865"/>
                <a:gd name="connsiteX4" fmla="*/ 1318184 w 1318184"/>
                <a:gd name="connsiteY4" fmla="*/ 741479 h 823865"/>
                <a:gd name="connsiteX5" fmla="*/ 1235797 w 1318184"/>
                <a:gd name="connsiteY5" fmla="*/ 823866 h 823865"/>
                <a:gd name="connsiteX6" fmla="*/ 82387 w 1318184"/>
                <a:gd name="connsiteY6" fmla="*/ 823865 h 823865"/>
                <a:gd name="connsiteX7" fmla="*/ 0 w 1318184"/>
                <a:gd name="connsiteY7" fmla="*/ 741478 h 823865"/>
                <a:gd name="connsiteX8" fmla="*/ 0 w 1318184"/>
                <a:gd name="connsiteY8" fmla="*/ 82387 h 823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84" h="823865">
                  <a:moveTo>
                    <a:pt x="0" y="82387"/>
                  </a:moveTo>
                  <a:cubicBezTo>
                    <a:pt x="0" y="36886"/>
                    <a:pt x="36886" y="0"/>
                    <a:pt x="82387" y="0"/>
                  </a:cubicBezTo>
                  <a:lnTo>
                    <a:pt x="1235798" y="0"/>
                  </a:lnTo>
                  <a:cubicBezTo>
                    <a:pt x="1281299" y="0"/>
                    <a:pt x="1318185" y="36886"/>
                    <a:pt x="1318185" y="82387"/>
                  </a:cubicBezTo>
                  <a:cubicBezTo>
                    <a:pt x="1318185" y="302084"/>
                    <a:pt x="1318184" y="521782"/>
                    <a:pt x="1318184" y="741479"/>
                  </a:cubicBezTo>
                  <a:cubicBezTo>
                    <a:pt x="1318184" y="786980"/>
                    <a:pt x="1281298" y="823866"/>
                    <a:pt x="1235797" y="823866"/>
                  </a:cubicBezTo>
                  <a:lnTo>
                    <a:pt x="82387" y="823865"/>
                  </a:lnTo>
                  <a:cubicBezTo>
                    <a:pt x="36886" y="823865"/>
                    <a:pt x="0" y="786979"/>
                    <a:pt x="0" y="741478"/>
                  </a:cubicBezTo>
                  <a:lnTo>
                    <a:pt x="0" y="82387"/>
                  </a:lnTo>
                  <a:close/>
                </a:path>
              </a:pathLst>
            </a:custGeom>
          </p:spPr>
          <p:style>
            <a:lnRef idx="2">
              <a:schemeClr val="accent5">
                <a:hueOff val="-12152150"/>
                <a:satOff val="-826"/>
                <a:lumOff val="1961"/>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9370" tIns="34290" rIns="39370" bIns="34290" numCol="1" spcCol="1270" anchor="ctr" anchorCtr="0">
              <a:noAutofit/>
            </a:bodyPr>
            <a:lstStyle/>
            <a:p>
              <a:pPr marL="0" lvl="0" indent="0" algn="ctr" defTabSz="355600">
                <a:lnSpc>
                  <a:spcPct val="90000"/>
                </a:lnSpc>
                <a:spcBef>
                  <a:spcPct val="0"/>
                </a:spcBef>
                <a:spcAft>
                  <a:spcPct val="35000"/>
                </a:spcAft>
                <a:buNone/>
              </a:pPr>
              <a:r>
                <a:rPr lang="en-IN" sz="900" kern="1200"/>
                <a:t>Requirements: Significant compute resources and training data</a:t>
              </a:r>
              <a:endParaRPr lang="en-US" sz="900" kern="1200"/>
            </a:p>
          </p:txBody>
        </p:sp>
      </p:grpSp>
    </p:spTree>
    <p:extLst>
      <p:ext uri="{BB962C8B-B14F-4D97-AF65-F5344CB8AC3E}">
        <p14:creationId xmlns:p14="http://schemas.microsoft.com/office/powerpoint/2010/main" val="1974357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C58EEF-A040-01BB-020B-90F2C08D360E}"/>
            </a:ext>
          </a:extLst>
        </p:cNvPr>
        <p:cNvGrpSpPr/>
        <p:nvPr/>
      </p:nvGrpSpPr>
      <p:grpSpPr>
        <a:xfrm>
          <a:off x="0" y="0"/>
          <a:ext cx="0" cy="0"/>
          <a:chOff x="0" y="0"/>
          <a:chExt cx="0" cy="0"/>
        </a:xfrm>
      </p:grpSpPr>
      <p:sp>
        <p:nvSpPr>
          <p:cNvPr id="1031" name="Flowchart: Document 1030">
            <a:extLst>
              <a:ext uri="{FF2B5EF4-FFF2-40B4-BE49-F238E27FC236}">
                <a16:creationId xmlns:a16="http://schemas.microsoft.com/office/drawing/2014/main" id="{C3F8B514-B33E-C66A-9F4E-872984FF8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B0E3902-20C0-D6DF-B632-67595CC69351}"/>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GenAI Application Pattern</a:t>
            </a:r>
          </a:p>
        </p:txBody>
      </p:sp>
      <p:pic>
        <p:nvPicPr>
          <p:cNvPr id="4" name="Picture 2">
            <a:extLst>
              <a:ext uri="{FF2B5EF4-FFF2-40B4-BE49-F238E27FC236}">
                <a16:creationId xmlns:a16="http://schemas.microsoft.com/office/drawing/2014/main" id="{0423AE94-BDF5-1E0E-66AE-079A8C548E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5331" y="55019"/>
            <a:ext cx="6460254" cy="6733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61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17CF0-D646-E3AA-F153-9043C4EBE425}"/>
              </a:ext>
            </a:extLst>
          </p:cNvPr>
          <p:cNvSpPr>
            <a:spLocks noGrp="1"/>
          </p:cNvSpPr>
          <p:nvPr>
            <p:ph type="title"/>
          </p:nvPr>
        </p:nvSpPr>
        <p:spPr>
          <a:xfrm>
            <a:off x="838200" y="365126"/>
            <a:ext cx="10515600" cy="597122"/>
          </a:xfrm>
        </p:spPr>
        <p:txBody>
          <a:bodyPr>
            <a:normAutofit fontScale="90000"/>
          </a:bodyPr>
          <a:lstStyle/>
          <a:p>
            <a:r>
              <a:rPr lang="en-IN" dirty="0"/>
              <a:t>GenAI Application Pattern</a:t>
            </a:r>
          </a:p>
        </p:txBody>
      </p:sp>
      <p:graphicFrame>
        <p:nvGraphicFramePr>
          <p:cNvPr id="4" name="Content Placeholder 3">
            <a:extLst>
              <a:ext uri="{FF2B5EF4-FFF2-40B4-BE49-F238E27FC236}">
                <a16:creationId xmlns:a16="http://schemas.microsoft.com/office/drawing/2014/main" id="{F5C7292D-52AB-7CC3-0CFA-F293105DF37D}"/>
              </a:ext>
            </a:extLst>
          </p:cNvPr>
          <p:cNvGraphicFramePr>
            <a:graphicFrameLocks noGrp="1"/>
          </p:cNvGraphicFramePr>
          <p:nvPr>
            <p:ph idx="1"/>
            <p:extLst>
              <p:ext uri="{D42A27DB-BD31-4B8C-83A1-F6EECF244321}">
                <p14:modId xmlns:p14="http://schemas.microsoft.com/office/powerpoint/2010/main" val="3500856280"/>
              </p:ext>
            </p:extLst>
          </p:nvPr>
        </p:nvGraphicFramePr>
        <p:xfrm>
          <a:off x="423530" y="1268194"/>
          <a:ext cx="11357345" cy="5224679"/>
        </p:xfrm>
        <a:graphic>
          <a:graphicData uri="http://schemas.openxmlformats.org/drawingml/2006/table">
            <a:tbl>
              <a:tblPr/>
              <a:tblGrid>
                <a:gridCol w="2271469">
                  <a:extLst>
                    <a:ext uri="{9D8B030D-6E8A-4147-A177-3AD203B41FA5}">
                      <a16:colId xmlns:a16="http://schemas.microsoft.com/office/drawing/2014/main" val="2130612234"/>
                    </a:ext>
                  </a:extLst>
                </a:gridCol>
                <a:gridCol w="2271469">
                  <a:extLst>
                    <a:ext uri="{9D8B030D-6E8A-4147-A177-3AD203B41FA5}">
                      <a16:colId xmlns:a16="http://schemas.microsoft.com/office/drawing/2014/main" val="1880802763"/>
                    </a:ext>
                  </a:extLst>
                </a:gridCol>
                <a:gridCol w="2271469">
                  <a:extLst>
                    <a:ext uri="{9D8B030D-6E8A-4147-A177-3AD203B41FA5}">
                      <a16:colId xmlns:a16="http://schemas.microsoft.com/office/drawing/2014/main" val="1800270150"/>
                    </a:ext>
                  </a:extLst>
                </a:gridCol>
                <a:gridCol w="2271469">
                  <a:extLst>
                    <a:ext uri="{9D8B030D-6E8A-4147-A177-3AD203B41FA5}">
                      <a16:colId xmlns:a16="http://schemas.microsoft.com/office/drawing/2014/main" val="1362930521"/>
                    </a:ext>
                  </a:extLst>
                </a:gridCol>
                <a:gridCol w="2271469">
                  <a:extLst>
                    <a:ext uri="{9D8B030D-6E8A-4147-A177-3AD203B41FA5}">
                      <a16:colId xmlns:a16="http://schemas.microsoft.com/office/drawing/2014/main" val="808062209"/>
                    </a:ext>
                  </a:extLst>
                </a:gridCol>
              </a:tblGrid>
              <a:tr h="926795">
                <a:tc>
                  <a:txBody>
                    <a:bodyPr/>
                    <a:lstStyle/>
                    <a:p>
                      <a:pPr rtl="0" fontAlgn="t">
                        <a:buNone/>
                      </a:pPr>
                      <a:r>
                        <a:rPr lang="en-IN" sz="1400" b="1" i="0" u="none" strike="noStrike" dirty="0">
                          <a:solidFill>
                            <a:srgbClr val="000000"/>
                          </a:solidFill>
                          <a:effectLst/>
                          <a:latin typeface="Arial" panose="020B0604020202020204" pitchFamily="34" charset="0"/>
                        </a:rPr>
                        <a:t>Pattern</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dirty="0">
                          <a:solidFill>
                            <a:srgbClr val="000000"/>
                          </a:solidFill>
                          <a:effectLst/>
                          <a:latin typeface="Arial" panose="020B0604020202020204" pitchFamily="34" charset="0"/>
                        </a:rPr>
                        <a:t>Development Complexity</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a:solidFill>
                            <a:srgbClr val="000000"/>
                          </a:solidFill>
                          <a:effectLst/>
                          <a:latin typeface="Arial" panose="020B0604020202020204" pitchFamily="34" charset="0"/>
                        </a:rPr>
                        <a:t>Update Effort</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a:solidFill>
                            <a:srgbClr val="000000"/>
                          </a:solidFill>
                          <a:effectLst/>
                          <a:latin typeface="Arial" panose="020B0604020202020204" pitchFamily="34" charset="0"/>
                        </a:rPr>
                        <a:t>Latency</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a:solidFill>
                            <a:srgbClr val="000000"/>
                          </a:solidFill>
                          <a:effectLst/>
                          <a:latin typeface="Arial" panose="020B0604020202020204" pitchFamily="34" charset="0"/>
                        </a:rPr>
                        <a:t>Cost</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0689208"/>
                  </a:ext>
                </a:extLst>
              </a:tr>
              <a:tr h="590704">
                <a:tc>
                  <a:txBody>
                    <a:bodyPr/>
                    <a:lstStyle/>
                    <a:p>
                      <a:pPr rtl="0" fontAlgn="t">
                        <a:buNone/>
                      </a:pPr>
                      <a:r>
                        <a:rPr lang="en-IN" sz="1400" b="1" i="0" u="none" strike="noStrike">
                          <a:solidFill>
                            <a:srgbClr val="000000"/>
                          </a:solidFill>
                          <a:effectLst/>
                          <a:latin typeface="Arial" panose="020B0604020202020204" pitchFamily="34" charset="0"/>
                        </a:rPr>
                        <a:t>Prompt-Based</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Very Low</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None</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Very Low</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Low</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9311691"/>
                  </a:ext>
                </a:extLst>
              </a:tr>
              <a:tr h="926795">
                <a:tc>
                  <a:txBody>
                    <a:bodyPr/>
                    <a:lstStyle/>
                    <a:p>
                      <a:pPr rtl="0" fontAlgn="t">
                        <a:buNone/>
                      </a:pPr>
                      <a:r>
                        <a:rPr lang="en-IN" sz="1400" b="1" i="0" u="none" strike="noStrike">
                          <a:solidFill>
                            <a:srgbClr val="000000"/>
                          </a:solidFill>
                          <a:effectLst/>
                          <a:latin typeface="Arial" panose="020B0604020202020204" pitchFamily="34" charset="0"/>
                        </a:rPr>
                        <a:t>Chain Automation</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Arial" panose="020B0604020202020204" pitchFamily="34" charset="0"/>
                        </a:rPr>
                        <a:t>⭐⭐ Low-Medium</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Arial" panose="020B0604020202020204" pitchFamily="34" charset="0"/>
                        </a:rPr>
                        <a:t>⭐⭐ Moderate</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Low</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Medium</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8668949"/>
                  </a:ext>
                </a:extLst>
              </a:tr>
              <a:tr h="926795">
                <a:tc>
                  <a:txBody>
                    <a:bodyPr/>
                    <a:lstStyle/>
                    <a:p>
                      <a:pPr rtl="0" fontAlgn="t">
                        <a:buNone/>
                      </a:pPr>
                      <a:r>
                        <a:rPr lang="en-IN" sz="1400" b="1" i="0" u="none" strike="noStrike">
                          <a:solidFill>
                            <a:srgbClr val="000000"/>
                          </a:solidFill>
                          <a:effectLst/>
                          <a:latin typeface="Arial" panose="020B0604020202020204" pitchFamily="34" charset="0"/>
                        </a:rPr>
                        <a:t>RAG</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Medium</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Low</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Arial" panose="020B0604020202020204" pitchFamily="34" charset="0"/>
                        </a:rPr>
                        <a:t>⭐⭐ Medium</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Medium</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0767938"/>
                  </a:ext>
                </a:extLst>
              </a:tr>
              <a:tr h="926795">
                <a:tc>
                  <a:txBody>
                    <a:bodyPr/>
                    <a:lstStyle/>
                    <a:p>
                      <a:pPr rtl="0" fontAlgn="t">
                        <a:buNone/>
                      </a:pPr>
                      <a:r>
                        <a:rPr lang="en-IN" sz="1400" b="1" i="0" u="none" strike="noStrike">
                          <a:solidFill>
                            <a:srgbClr val="000000"/>
                          </a:solidFill>
                          <a:effectLst/>
                          <a:latin typeface="Arial" panose="020B0604020202020204" pitchFamily="34" charset="0"/>
                        </a:rPr>
                        <a:t>Agentic AI</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Medium-High</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High</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Arial" panose="020B0604020202020204" pitchFamily="34" charset="0"/>
                        </a:rPr>
                        <a:t>⭐⭐ Medium</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Arial" panose="020B0604020202020204" pitchFamily="34" charset="0"/>
                        </a:rPr>
                        <a:t>⭐⭐⭐ High</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7472408"/>
                  </a:ext>
                </a:extLst>
              </a:tr>
              <a:tr h="926795">
                <a:tc>
                  <a:txBody>
                    <a:bodyPr/>
                    <a:lstStyle/>
                    <a:p>
                      <a:pPr rtl="0" fontAlgn="t">
                        <a:buNone/>
                      </a:pPr>
                      <a:r>
                        <a:rPr lang="en-IN" sz="1400" b="1" i="0" u="none" strike="noStrike">
                          <a:solidFill>
                            <a:srgbClr val="000000"/>
                          </a:solidFill>
                          <a:effectLst/>
                          <a:latin typeface="Arial" panose="020B0604020202020204" pitchFamily="34" charset="0"/>
                        </a:rPr>
                        <a:t>Fine-Tuning</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Very High</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Arial" panose="020B0604020202020204" pitchFamily="34" charset="0"/>
                        </a:rPr>
                        <a:t>⭐⭐⭐⭐⭐ Very High</a:t>
                      </a:r>
                      <a:endParaRPr lang="en-IN" sz="24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Arial" panose="020B0604020202020204" pitchFamily="34" charset="0"/>
                        </a:rPr>
                        <a:t>⭐⭐ Low-Medium</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Arial" panose="020B0604020202020204" pitchFamily="34" charset="0"/>
                        </a:rPr>
                        <a:t>⭐⭐⭐⭐⭐ Very High</a:t>
                      </a:r>
                      <a:endParaRPr lang="en-IN" sz="24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26137"/>
                  </a:ext>
                </a:extLst>
              </a:tr>
            </a:tbl>
          </a:graphicData>
        </a:graphic>
      </p:graphicFrame>
      <p:sp>
        <p:nvSpPr>
          <p:cNvPr id="5" name="Rectangle 1">
            <a:extLst>
              <a:ext uri="{FF2B5EF4-FFF2-40B4-BE49-F238E27FC236}">
                <a16:creationId xmlns:a16="http://schemas.microsoft.com/office/drawing/2014/main" id="{5308F886-56B2-51DD-D407-CF5616E6185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934936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lowchart: Document 103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CE3EA6-838D-8DAE-B4FA-6A4E84528EFD}"/>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NLP2SQL</a:t>
            </a:r>
          </a:p>
        </p:txBody>
      </p:sp>
      <p:pic>
        <p:nvPicPr>
          <p:cNvPr id="1026" name="Picture 2">
            <a:extLst>
              <a:ext uri="{FF2B5EF4-FFF2-40B4-BE49-F238E27FC236}">
                <a16:creationId xmlns:a16="http://schemas.microsoft.com/office/drawing/2014/main" id="{0A97C6A4-65BE-084D-4FB2-B114EEC5A4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210334" y="-1"/>
            <a:ext cx="7343491" cy="6829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011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67755-CF85-3BA9-C3D8-5827A242D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CE7BF-EBDE-4073-258B-A9BD61AED813}"/>
              </a:ext>
            </a:extLst>
          </p:cNvPr>
          <p:cNvSpPr>
            <a:spLocks noGrp="1"/>
          </p:cNvSpPr>
          <p:nvPr>
            <p:ph type="title"/>
          </p:nvPr>
        </p:nvSpPr>
        <p:spPr>
          <a:xfrm>
            <a:off x="418475" y="365125"/>
            <a:ext cx="10515600" cy="676691"/>
          </a:xfrm>
        </p:spPr>
        <p:txBody>
          <a:bodyPr>
            <a:normAutofit fontScale="90000"/>
          </a:bodyPr>
          <a:lstStyle/>
          <a:p>
            <a:r>
              <a:rPr lang="en-IN" b="1" dirty="0"/>
              <a:t>Generative AI for Marketing Using Google Cloud</a:t>
            </a:r>
            <a:endParaRPr lang="en-IN" dirty="0"/>
          </a:p>
        </p:txBody>
      </p:sp>
      <p:sp>
        <p:nvSpPr>
          <p:cNvPr id="3" name="Content Placeholder 2">
            <a:extLst>
              <a:ext uri="{FF2B5EF4-FFF2-40B4-BE49-F238E27FC236}">
                <a16:creationId xmlns:a16="http://schemas.microsoft.com/office/drawing/2014/main" id="{4B613217-0E97-887B-6FC0-9C8DAA2BE304}"/>
              </a:ext>
            </a:extLst>
          </p:cNvPr>
          <p:cNvSpPr>
            <a:spLocks noGrp="1"/>
          </p:cNvSpPr>
          <p:nvPr>
            <p:ph idx="1"/>
          </p:nvPr>
        </p:nvSpPr>
        <p:spPr>
          <a:xfrm>
            <a:off x="351020" y="1253331"/>
            <a:ext cx="3023412" cy="4351338"/>
          </a:xfrm>
        </p:spPr>
        <p:txBody>
          <a:bodyPr>
            <a:normAutofit/>
          </a:bodyPr>
          <a:lstStyle/>
          <a:p>
            <a:pPr marL="0" indent="0">
              <a:buNone/>
            </a:pPr>
            <a:r>
              <a:rPr lang="en-US" sz="1600" dirty="0"/>
              <a:t>This repository showcases the application of Google Cloud's Generative AI to marketing scenarios. It contains detailed, step-by-step instructions to deploy a solution implementing marketing-centric Generative AI capabilities, including capabilities to craft marketing materials like blog posts and social media content. This video walks through the functionality in the solution.</a:t>
            </a:r>
            <a:endParaRPr lang="en-IN" sz="1600" dirty="0"/>
          </a:p>
        </p:txBody>
      </p:sp>
      <p:sp>
        <p:nvSpPr>
          <p:cNvPr id="7" name="TextBox 6">
            <a:extLst>
              <a:ext uri="{FF2B5EF4-FFF2-40B4-BE49-F238E27FC236}">
                <a16:creationId xmlns:a16="http://schemas.microsoft.com/office/drawing/2014/main" id="{371F3A1D-A3D0-C0F4-7274-BBDF9BA4100C}"/>
              </a:ext>
            </a:extLst>
          </p:cNvPr>
          <p:cNvSpPr txBox="1"/>
          <p:nvPr/>
        </p:nvSpPr>
        <p:spPr>
          <a:xfrm>
            <a:off x="418475" y="6381185"/>
            <a:ext cx="8059086" cy="369332"/>
          </a:xfrm>
          <a:prstGeom prst="rect">
            <a:avLst/>
          </a:prstGeom>
          <a:noFill/>
        </p:spPr>
        <p:txBody>
          <a:bodyPr wrap="square">
            <a:spAutoFit/>
          </a:bodyPr>
          <a:lstStyle/>
          <a:p>
            <a:r>
              <a:rPr lang="en-IN" dirty="0">
                <a:hlinkClick r:id="rId2"/>
              </a:rPr>
              <a:t>https://github.com/GoogleCloudPlatform/genai-for-marketing</a:t>
            </a:r>
            <a:r>
              <a:rPr lang="en-IN" dirty="0"/>
              <a:t> </a:t>
            </a:r>
          </a:p>
        </p:txBody>
      </p:sp>
      <p:pic>
        <p:nvPicPr>
          <p:cNvPr id="10242" name="Picture 2" descr="Architecture">
            <a:extLst>
              <a:ext uri="{FF2B5EF4-FFF2-40B4-BE49-F238E27FC236}">
                <a16:creationId xmlns:a16="http://schemas.microsoft.com/office/drawing/2014/main" id="{1CFB2D98-A0B3-9931-29CC-6726D109C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908" y="1329656"/>
            <a:ext cx="8481306" cy="4198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472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8C0F-C805-D5E3-036F-C2D427CE843A}"/>
              </a:ext>
            </a:extLst>
          </p:cNvPr>
          <p:cNvSpPr>
            <a:spLocks noGrp="1"/>
          </p:cNvSpPr>
          <p:nvPr>
            <p:ph type="title"/>
          </p:nvPr>
        </p:nvSpPr>
        <p:spPr>
          <a:xfrm>
            <a:off x="838200" y="365125"/>
            <a:ext cx="3571115" cy="4257363"/>
          </a:xfrm>
        </p:spPr>
        <p:txBody>
          <a:bodyPr/>
          <a:lstStyle/>
          <a:p>
            <a:r>
              <a:rPr lang="en-IN" dirty="0"/>
              <a:t>Multi-agent AI system in Google Cloud</a:t>
            </a:r>
          </a:p>
        </p:txBody>
      </p:sp>
      <p:pic>
        <p:nvPicPr>
          <p:cNvPr id="4" name="Content Placeholder 3">
            <a:extLst>
              <a:ext uri="{FF2B5EF4-FFF2-40B4-BE49-F238E27FC236}">
                <a16:creationId xmlns:a16="http://schemas.microsoft.com/office/drawing/2014/main" id="{0B2FB419-022F-28AF-6215-86E76B569097}"/>
              </a:ext>
            </a:extLst>
          </p:cNvPr>
          <p:cNvPicPr>
            <a:picLocks noGrp="1" noChangeAspect="1"/>
          </p:cNvPicPr>
          <p:nvPr>
            <p:ph idx="1"/>
          </p:nvPr>
        </p:nvPicPr>
        <p:blipFill>
          <a:blip r:embed="rId2"/>
          <a:stretch>
            <a:fillRect/>
          </a:stretch>
        </p:blipFill>
        <p:spPr>
          <a:xfrm>
            <a:off x="5183471" y="159509"/>
            <a:ext cx="6436120" cy="6592555"/>
          </a:xfrm>
          <a:prstGeom prst="rect">
            <a:avLst/>
          </a:prstGeom>
        </p:spPr>
      </p:pic>
    </p:spTree>
    <p:extLst>
      <p:ext uri="{BB962C8B-B14F-4D97-AF65-F5344CB8AC3E}">
        <p14:creationId xmlns:p14="http://schemas.microsoft.com/office/powerpoint/2010/main" val="2988230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9335-72CE-EF4E-B906-EF26DC870196}"/>
              </a:ext>
            </a:extLst>
          </p:cNvPr>
          <p:cNvSpPr>
            <a:spLocks noGrp="1"/>
          </p:cNvSpPr>
          <p:nvPr>
            <p:ph type="title"/>
          </p:nvPr>
        </p:nvSpPr>
        <p:spPr>
          <a:xfrm>
            <a:off x="418475" y="365125"/>
            <a:ext cx="10515600" cy="676691"/>
          </a:xfrm>
        </p:spPr>
        <p:txBody>
          <a:bodyPr>
            <a:normAutofit fontScale="90000"/>
          </a:bodyPr>
          <a:lstStyle/>
          <a:p>
            <a:r>
              <a:rPr lang="en-IN" b="1" dirty="0"/>
              <a:t>Azure Agents Travel Assistant</a:t>
            </a:r>
            <a:endParaRPr lang="en-IN" dirty="0"/>
          </a:p>
        </p:txBody>
      </p:sp>
      <p:sp>
        <p:nvSpPr>
          <p:cNvPr id="3" name="Content Placeholder 2">
            <a:extLst>
              <a:ext uri="{FF2B5EF4-FFF2-40B4-BE49-F238E27FC236}">
                <a16:creationId xmlns:a16="http://schemas.microsoft.com/office/drawing/2014/main" id="{7BA69709-C3FB-9932-7135-DF1BFF4346BA}"/>
              </a:ext>
            </a:extLst>
          </p:cNvPr>
          <p:cNvSpPr>
            <a:spLocks noGrp="1"/>
          </p:cNvSpPr>
          <p:nvPr>
            <p:ph idx="1"/>
          </p:nvPr>
        </p:nvSpPr>
        <p:spPr>
          <a:xfrm>
            <a:off x="351019" y="1253331"/>
            <a:ext cx="11461229" cy="4351338"/>
          </a:xfrm>
        </p:spPr>
        <p:txBody>
          <a:bodyPr>
            <a:normAutofit/>
          </a:bodyPr>
          <a:lstStyle/>
          <a:p>
            <a:pPr marL="0" indent="0">
              <a:buNone/>
            </a:pPr>
            <a:r>
              <a:rPr lang="en-US" sz="1600" dirty="0"/>
              <a:t>End-to-end sample of a travel agent implemented with Azure AI Agent Service and Bot Framework. The travel assistant leverages the Azure AI platform to understand images and documents, providing assistance during travel planning and common travel situations. Key features include:</a:t>
            </a:r>
          </a:p>
          <a:p>
            <a:r>
              <a:rPr lang="en-US" sz="1600" b="1" dirty="0"/>
              <a:t>Image Recognition</a:t>
            </a:r>
            <a:r>
              <a:rPr lang="en-US" sz="1600" dirty="0"/>
              <a:t>: Identify landmarks, extract text from travel documents, and more.</a:t>
            </a:r>
          </a:p>
          <a:p>
            <a:r>
              <a:rPr lang="en-US" sz="1600" b="1" dirty="0"/>
              <a:t>Document Understanding</a:t>
            </a:r>
            <a:r>
              <a:rPr lang="en-US" sz="1600" dirty="0"/>
              <a:t>: Parse itineraries, booking confirmations, and other travel-related documents.</a:t>
            </a:r>
          </a:p>
          <a:p>
            <a:r>
              <a:rPr lang="en-US" sz="1600" b="1" dirty="0"/>
              <a:t>Travel Assistance</a:t>
            </a:r>
            <a:r>
              <a:rPr lang="en-US" sz="1600" dirty="0"/>
              <a:t>: Offer recommendations, reminders, and support for various travel scenarios.</a:t>
            </a:r>
          </a:p>
          <a:p>
            <a:endParaRPr lang="en-IN" sz="1600" dirty="0"/>
          </a:p>
        </p:txBody>
      </p:sp>
      <p:pic>
        <p:nvPicPr>
          <p:cNvPr id="5" name="Picture 4">
            <a:extLst>
              <a:ext uri="{FF2B5EF4-FFF2-40B4-BE49-F238E27FC236}">
                <a16:creationId xmlns:a16="http://schemas.microsoft.com/office/drawing/2014/main" id="{3485F7DA-9C26-BA71-267C-27796DC10C84}"/>
              </a:ext>
            </a:extLst>
          </p:cNvPr>
          <p:cNvPicPr>
            <a:picLocks noChangeAspect="1"/>
          </p:cNvPicPr>
          <p:nvPr/>
        </p:nvPicPr>
        <p:blipFill>
          <a:blip r:embed="rId2"/>
          <a:stretch>
            <a:fillRect/>
          </a:stretch>
        </p:blipFill>
        <p:spPr>
          <a:xfrm>
            <a:off x="622092" y="3060140"/>
            <a:ext cx="8661816" cy="3237863"/>
          </a:xfrm>
          <a:prstGeom prst="rect">
            <a:avLst/>
          </a:prstGeom>
        </p:spPr>
      </p:pic>
      <p:sp>
        <p:nvSpPr>
          <p:cNvPr id="7" name="TextBox 6">
            <a:extLst>
              <a:ext uri="{FF2B5EF4-FFF2-40B4-BE49-F238E27FC236}">
                <a16:creationId xmlns:a16="http://schemas.microsoft.com/office/drawing/2014/main" id="{AEF17B43-ABDE-774A-0D53-00C03CFA09BB}"/>
              </a:ext>
            </a:extLst>
          </p:cNvPr>
          <p:cNvSpPr txBox="1"/>
          <p:nvPr/>
        </p:nvSpPr>
        <p:spPr>
          <a:xfrm>
            <a:off x="418475" y="6381185"/>
            <a:ext cx="8059086" cy="369332"/>
          </a:xfrm>
          <a:prstGeom prst="rect">
            <a:avLst/>
          </a:prstGeom>
          <a:noFill/>
        </p:spPr>
        <p:txBody>
          <a:bodyPr wrap="square">
            <a:spAutoFit/>
          </a:bodyPr>
          <a:lstStyle/>
          <a:p>
            <a:r>
              <a:rPr lang="en-IN" dirty="0">
                <a:hlinkClick r:id="rId3"/>
              </a:rPr>
              <a:t>https://github.com/Azure-Samples/azureai-travel-agent-python</a:t>
            </a:r>
            <a:r>
              <a:rPr lang="en-IN" dirty="0"/>
              <a:t> </a:t>
            </a:r>
          </a:p>
        </p:txBody>
      </p:sp>
    </p:spTree>
    <p:extLst>
      <p:ext uri="{BB962C8B-B14F-4D97-AF65-F5344CB8AC3E}">
        <p14:creationId xmlns:p14="http://schemas.microsoft.com/office/powerpoint/2010/main" val="1112479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D243B-4C97-BE9E-5CBB-46CCD3C98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458D3-780A-5846-6548-EC21AEE8EBCC}"/>
              </a:ext>
            </a:extLst>
          </p:cNvPr>
          <p:cNvSpPr>
            <a:spLocks noGrp="1"/>
          </p:cNvSpPr>
          <p:nvPr>
            <p:ph type="title"/>
          </p:nvPr>
        </p:nvSpPr>
        <p:spPr>
          <a:xfrm>
            <a:off x="418475" y="365125"/>
            <a:ext cx="10515600" cy="676691"/>
          </a:xfrm>
        </p:spPr>
        <p:txBody>
          <a:bodyPr>
            <a:normAutofit fontScale="90000"/>
          </a:bodyPr>
          <a:lstStyle/>
          <a:p>
            <a:r>
              <a:rPr lang="en-US" b="1" dirty="0"/>
              <a:t>Creative Writing Assistant: Working with Agents</a:t>
            </a:r>
            <a:endParaRPr lang="en-IN" dirty="0"/>
          </a:p>
        </p:txBody>
      </p:sp>
      <p:sp>
        <p:nvSpPr>
          <p:cNvPr id="3" name="Content Placeholder 2">
            <a:extLst>
              <a:ext uri="{FF2B5EF4-FFF2-40B4-BE49-F238E27FC236}">
                <a16:creationId xmlns:a16="http://schemas.microsoft.com/office/drawing/2014/main" id="{0CE0F00C-3D8C-7775-1ADF-2551DA0E02C0}"/>
              </a:ext>
            </a:extLst>
          </p:cNvPr>
          <p:cNvSpPr>
            <a:spLocks noGrp="1"/>
          </p:cNvSpPr>
          <p:nvPr>
            <p:ph idx="1"/>
          </p:nvPr>
        </p:nvSpPr>
        <p:spPr>
          <a:xfrm>
            <a:off x="351019" y="1253331"/>
            <a:ext cx="4513289" cy="4351338"/>
          </a:xfrm>
        </p:spPr>
        <p:txBody>
          <a:bodyPr>
            <a:normAutofit/>
          </a:bodyPr>
          <a:lstStyle/>
          <a:p>
            <a:pPr marL="0" indent="0">
              <a:buNone/>
            </a:pPr>
            <a:r>
              <a:rPr lang="en-US" sz="1600" dirty="0"/>
              <a:t>Contoso Creative Writer is an app that will help you write well researched, product specific articles. Enter the required information and then click "Start Work". The result will begin writing once the agents complete the tasks to write the article.</a:t>
            </a:r>
          </a:p>
          <a:p>
            <a:pPr marL="0" indent="0">
              <a:buNone/>
            </a:pPr>
            <a:endParaRPr lang="en-US" sz="1600" dirty="0"/>
          </a:p>
          <a:p>
            <a:pPr marL="0" indent="0">
              <a:buNone/>
            </a:pPr>
            <a:r>
              <a:rPr lang="en-US" sz="1600" dirty="0"/>
              <a:t>It includes a </a:t>
            </a:r>
            <a:r>
              <a:rPr lang="en-US" sz="1600" dirty="0" err="1"/>
              <a:t>FastAPI</a:t>
            </a:r>
            <a:r>
              <a:rPr lang="en-US" sz="1600" dirty="0"/>
              <a:t> app that takes a topic and instruction from a user and then calls a research agent that uses the Bing Grounding Tool in Azure AI Agent Service to research the topic, a product agent that uses Azure AI Search to do a semantic similarity search for related products from a vector store, a writer agent to combine the research and product information into a helpful article, and an editor agent to refine the article that's finally presented to the user.</a:t>
            </a:r>
            <a:endParaRPr lang="en-IN" sz="1600" dirty="0"/>
          </a:p>
        </p:txBody>
      </p:sp>
      <p:sp>
        <p:nvSpPr>
          <p:cNvPr id="7" name="TextBox 6">
            <a:extLst>
              <a:ext uri="{FF2B5EF4-FFF2-40B4-BE49-F238E27FC236}">
                <a16:creationId xmlns:a16="http://schemas.microsoft.com/office/drawing/2014/main" id="{6500BC66-86CE-4E79-297B-46ECED5808DC}"/>
              </a:ext>
            </a:extLst>
          </p:cNvPr>
          <p:cNvSpPr txBox="1"/>
          <p:nvPr/>
        </p:nvSpPr>
        <p:spPr>
          <a:xfrm>
            <a:off x="418475" y="6381185"/>
            <a:ext cx="8059086" cy="369332"/>
          </a:xfrm>
          <a:prstGeom prst="rect">
            <a:avLst/>
          </a:prstGeom>
          <a:noFill/>
        </p:spPr>
        <p:txBody>
          <a:bodyPr wrap="square">
            <a:spAutoFit/>
          </a:bodyPr>
          <a:lstStyle/>
          <a:p>
            <a:r>
              <a:rPr lang="en-IN" dirty="0">
                <a:hlinkClick r:id="rId2"/>
              </a:rPr>
              <a:t>https://github.com/Azure-Samples/contoso-creative-writer</a:t>
            </a:r>
            <a:r>
              <a:rPr lang="en-IN" dirty="0"/>
              <a:t> </a:t>
            </a:r>
          </a:p>
        </p:txBody>
      </p:sp>
      <p:pic>
        <p:nvPicPr>
          <p:cNvPr id="6" name="Picture 5">
            <a:extLst>
              <a:ext uri="{FF2B5EF4-FFF2-40B4-BE49-F238E27FC236}">
                <a16:creationId xmlns:a16="http://schemas.microsoft.com/office/drawing/2014/main" id="{4F73C6E7-A6A6-4647-73F7-EDB445AE06DE}"/>
              </a:ext>
            </a:extLst>
          </p:cNvPr>
          <p:cNvPicPr>
            <a:picLocks noChangeAspect="1"/>
          </p:cNvPicPr>
          <p:nvPr/>
        </p:nvPicPr>
        <p:blipFill>
          <a:blip r:embed="rId3"/>
          <a:stretch>
            <a:fillRect/>
          </a:stretch>
        </p:blipFill>
        <p:spPr>
          <a:xfrm>
            <a:off x="5001598" y="1550307"/>
            <a:ext cx="6951925" cy="4205915"/>
          </a:xfrm>
          <a:prstGeom prst="rect">
            <a:avLst/>
          </a:prstGeom>
        </p:spPr>
      </p:pic>
    </p:spTree>
    <p:extLst>
      <p:ext uri="{BB962C8B-B14F-4D97-AF65-F5344CB8AC3E}">
        <p14:creationId xmlns:p14="http://schemas.microsoft.com/office/powerpoint/2010/main" val="3068340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FBEC5-A91B-D138-0715-108C729E4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9CE3F-528E-3E7F-17A1-922E9EDF9E59}"/>
              </a:ext>
            </a:extLst>
          </p:cNvPr>
          <p:cNvSpPr>
            <a:spLocks noGrp="1"/>
          </p:cNvSpPr>
          <p:nvPr>
            <p:ph type="title"/>
          </p:nvPr>
        </p:nvSpPr>
        <p:spPr>
          <a:xfrm>
            <a:off x="418475" y="365125"/>
            <a:ext cx="10515600" cy="676691"/>
          </a:xfrm>
        </p:spPr>
        <p:txBody>
          <a:bodyPr>
            <a:normAutofit fontScale="90000"/>
          </a:bodyPr>
          <a:lstStyle/>
          <a:p>
            <a:r>
              <a:rPr lang="en-US" b="1" dirty="0"/>
              <a:t>Contoso Chat: Retail RAG Copilot </a:t>
            </a:r>
            <a:endParaRPr lang="en-IN" dirty="0"/>
          </a:p>
        </p:txBody>
      </p:sp>
      <p:sp>
        <p:nvSpPr>
          <p:cNvPr id="3" name="Content Placeholder 2">
            <a:extLst>
              <a:ext uri="{FF2B5EF4-FFF2-40B4-BE49-F238E27FC236}">
                <a16:creationId xmlns:a16="http://schemas.microsoft.com/office/drawing/2014/main" id="{41F01057-979E-EFD6-C768-08E631D3EF24}"/>
              </a:ext>
            </a:extLst>
          </p:cNvPr>
          <p:cNvSpPr>
            <a:spLocks noGrp="1"/>
          </p:cNvSpPr>
          <p:nvPr>
            <p:ph idx="1"/>
          </p:nvPr>
        </p:nvSpPr>
        <p:spPr>
          <a:xfrm>
            <a:off x="351019" y="1253331"/>
            <a:ext cx="4513289" cy="4847666"/>
          </a:xfrm>
        </p:spPr>
        <p:txBody>
          <a:bodyPr>
            <a:normAutofit/>
          </a:bodyPr>
          <a:lstStyle/>
          <a:p>
            <a:r>
              <a:rPr lang="en-US" sz="1600" i="1" dirty="0"/>
              <a:t>Contoso Outdoor</a:t>
            </a:r>
            <a:r>
              <a:rPr lang="en-US" sz="1600" dirty="0"/>
              <a:t> is an online retailer specializing in hiking and camping equipment for outdoor enthusiasts. </a:t>
            </a:r>
          </a:p>
          <a:p>
            <a:r>
              <a:rPr lang="en-US" sz="1600" dirty="0"/>
              <a:t>The website offers an extensive catalog of products - resulting in customers needing product information and recommendations to assist them in making relevant purchases.</a:t>
            </a:r>
          </a:p>
          <a:p>
            <a:r>
              <a:rPr lang="en-US" sz="1600" dirty="0"/>
              <a:t>This sample implements </a:t>
            </a:r>
            <a:r>
              <a:rPr lang="en-US" sz="1600" i="1" dirty="0"/>
              <a:t>Contoso Chat</a:t>
            </a:r>
            <a:r>
              <a:rPr lang="en-US" sz="1600" dirty="0"/>
              <a:t> - a retail copilot solution for Contoso Outdoor that uses a </a:t>
            </a:r>
            <a:r>
              <a:rPr lang="en-US" sz="1600" i="1" dirty="0"/>
              <a:t>retrieval augmented generation</a:t>
            </a:r>
            <a:r>
              <a:rPr lang="en-US" sz="1600" dirty="0"/>
              <a:t> design pattern to ground chatbot responses in the retailer's product and customer data. </a:t>
            </a:r>
          </a:p>
          <a:p>
            <a:r>
              <a:rPr lang="en-US" sz="1600" dirty="0"/>
              <a:t>Customers can ask questions from the website in natural language, and get relevant responses with potential recommendations based on their purchase history - with responsible AI practices to ensure response quality and safety.</a:t>
            </a:r>
            <a:endParaRPr lang="en-IN" sz="1600" dirty="0"/>
          </a:p>
        </p:txBody>
      </p:sp>
      <p:sp>
        <p:nvSpPr>
          <p:cNvPr id="7" name="TextBox 6">
            <a:extLst>
              <a:ext uri="{FF2B5EF4-FFF2-40B4-BE49-F238E27FC236}">
                <a16:creationId xmlns:a16="http://schemas.microsoft.com/office/drawing/2014/main" id="{38D08E4A-6E8D-44A6-8A5A-1B768AE65142}"/>
              </a:ext>
            </a:extLst>
          </p:cNvPr>
          <p:cNvSpPr txBox="1"/>
          <p:nvPr/>
        </p:nvSpPr>
        <p:spPr>
          <a:xfrm>
            <a:off x="418475" y="6381185"/>
            <a:ext cx="8059086" cy="369332"/>
          </a:xfrm>
          <a:prstGeom prst="rect">
            <a:avLst/>
          </a:prstGeom>
          <a:noFill/>
        </p:spPr>
        <p:txBody>
          <a:bodyPr wrap="square">
            <a:spAutoFit/>
          </a:bodyPr>
          <a:lstStyle/>
          <a:p>
            <a:r>
              <a:rPr lang="en-IN" dirty="0">
                <a:hlinkClick r:id="rId2"/>
              </a:rPr>
              <a:t>https://github.com/Azure-Samples/contoso-chat</a:t>
            </a:r>
            <a:r>
              <a:rPr lang="en-IN" dirty="0"/>
              <a:t> </a:t>
            </a:r>
          </a:p>
        </p:txBody>
      </p:sp>
      <p:pic>
        <p:nvPicPr>
          <p:cNvPr id="5" name="Picture 4">
            <a:extLst>
              <a:ext uri="{FF2B5EF4-FFF2-40B4-BE49-F238E27FC236}">
                <a16:creationId xmlns:a16="http://schemas.microsoft.com/office/drawing/2014/main" id="{C8B38B29-2BFD-92F7-4A7D-EEFEBB062073}"/>
              </a:ext>
            </a:extLst>
          </p:cNvPr>
          <p:cNvPicPr>
            <a:picLocks noChangeAspect="1"/>
          </p:cNvPicPr>
          <p:nvPr/>
        </p:nvPicPr>
        <p:blipFill>
          <a:blip r:embed="rId3"/>
          <a:stretch>
            <a:fillRect/>
          </a:stretch>
        </p:blipFill>
        <p:spPr>
          <a:xfrm>
            <a:off x="4946819" y="1332472"/>
            <a:ext cx="7061483" cy="4272197"/>
          </a:xfrm>
          <a:prstGeom prst="rect">
            <a:avLst/>
          </a:prstGeom>
        </p:spPr>
      </p:pic>
    </p:spTree>
    <p:extLst>
      <p:ext uri="{BB962C8B-B14F-4D97-AF65-F5344CB8AC3E}">
        <p14:creationId xmlns:p14="http://schemas.microsoft.com/office/powerpoint/2010/main" val="1080006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684</TotalTime>
  <Words>4057</Words>
  <Application>Microsoft Office PowerPoint</Application>
  <PresentationFormat>Widescreen</PresentationFormat>
  <Paragraphs>770</Paragraphs>
  <Slides>41</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Microsoft JhengHei</vt:lpstr>
      <vt:lpstr>Aptos</vt:lpstr>
      <vt:lpstr>Aptos Display</vt:lpstr>
      <vt:lpstr>Arial</vt:lpstr>
      <vt:lpstr>Calibri (Headings)</vt:lpstr>
      <vt:lpstr>Nokia Pure Headline Light</vt:lpstr>
      <vt:lpstr>Nokia Pure Text Light</vt:lpstr>
      <vt:lpstr>Noto Sans</vt:lpstr>
      <vt:lpstr>Office Theme</vt:lpstr>
      <vt:lpstr>GenAI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Agentic AI Design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GenAI Application Pattern</vt:lpstr>
      <vt:lpstr>GenAI Application Pattern</vt:lpstr>
      <vt:lpstr>GenAI Application Pattern</vt:lpstr>
      <vt:lpstr>NLP2SQL</vt:lpstr>
      <vt:lpstr>Generative AI for Marketing Using Google Cloud</vt:lpstr>
      <vt:lpstr>Multi-agent AI system in Google Cloud</vt:lpstr>
      <vt:lpstr>Azure Agents Travel Assistant</vt:lpstr>
      <vt:lpstr>Creative Writing Assistant: Working with Agents</vt:lpstr>
      <vt:lpstr>Contoso Chat: Retail RAG Copilot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Anshu Pandey</dc:creator>
  <cp:lastModifiedBy>Anshu Pandey</cp:lastModifiedBy>
  <cp:revision>19</cp:revision>
  <dcterms:created xsi:type="dcterms:W3CDTF">2025-06-27T17:10:49Z</dcterms:created>
  <dcterms:modified xsi:type="dcterms:W3CDTF">2025-11-27T10:09:12Z</dcterms:modified>
</cp:coreProperties>
</file>